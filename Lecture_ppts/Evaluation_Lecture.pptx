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3"/>
  </p:notesMasterIdLst>
  <p:sldIdLst>
    <p:sldId id="256" r:id="rId5"/>
    <p:sldId id="257" r:id="rId6"/>
    <p:sldId id="282" r:id="rId7"/>
    <p:sldId id="284" r:id="rId8"/>
    <p:sldId id="283" r:id="rId9"/>
    <p:sldId id="285" r:id="rId10"/>
    <p:sldId id="286" r:id="rId11"/>
    <p:sldId id="260" r:id="rId12"/>
    <p:sldId id="265" r:id="rId13"/>
    <p:sldId id="261" r:id="rId14"/>
    <p:sldId id="267" r:id="rId15"/>
    <p:sldId id="266" r:id="rId16"/>
    <p:sldId id="268" r:id="rId17"/>
    <p:sldId id="274" r:id="rId18"/>
    <p:sldId id="269" r:id="rId19"/>
    <p:sldId id="270" r:id="rId20"/>
    <p:sldId id="271" r:id="rId21"/>
    <p:sldId id="272" r:id="rId22"/>
    <p:sldId id="273" r:id="rId23"/>
    <p:sldId id="276" r:id="rId24"/>
    <p:sldId id="277" r:id="rId25"/>
    <p:sldId id="278" r:id="rId26"/>
    <p:sldId id="279" r:id="rId27"/>
    <p:sldId id="262" r:id="rId28"/>
    <p:sldId id="264" r:id="rId29"/>
    <p:sldId id="287" r:id="rId30"/>
    <p:sldId id="280" r:id="rId31"/>
    <p:sldId id="28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35"/>
  </p:normalViewPr>
  <p:slideViewPr>
    <p:cSldViewPr snapToGrid="0">
      <p:cViewPr>
        <p:scale>
          <a:sx n="92" d="100"/>
          <a:sy n="92" d="100"/>
        </p:scale>
        <p:origin x="65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209AB-CE13-044F-8E06-B2C9AA580BB2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5FB911-8C40-0744-863F-098B7E0F5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93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83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5CD73-A936-3525-D168-7736C3BC2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10D98-56AC-2479-AACB-7073FDDA2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DF3B7-3A64-41E1-8594-FFD2907E3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D4B12-1383-AD42-92AD-77DF7C3AFF50}" type="datetime1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61BBD-4401-485F-190D-A98E3BF6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AE45C-1BD0-2BD9-078C-EF7ABB5A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32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orful spectrum of equalizer&#10;&#10;Description automatically generated">
            <a:extLst>
              <a:ext uri="{FF2B5EF4-FFF2-40B4-BE49-F238E27FC236}">
                <a16:creationId xmlns:a16="http://schemas.microsoft.com/office/drawing/2014/main" id="{7737A7BC-A701-C931-78B0-710547DEAE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t="4385" b="48947"/>
          <a:stretch/>
        </p:blipFill>
        <p:spPr>
          <a:xfrm>
            <a:off x="0" y="0"/>
            <a:ext cx="12192000" cy="164623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81A9918-6A8E-071E-1832-2B1BE0CB5515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00F202-A2B5-1F52-B239-EFF9F4486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DDB86-D379-F460-FE0C-0E7815A50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6A0D3-3893-74C2-9FC4-AE58A8A1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176963"/>
            <a:ext cx="7010400" cy="68103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algn="l"/>
            <a:r>
              <a:rPr lang="en-US" dirty="0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4B2DC-3883-01BA-4B44-3C940F911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7479" y="6279119"/>
            <a:ext cx="1020921" cy="442356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6A096487-9F84-9248-ABAD-35D09817155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A black and white logo&#10;&#10;Description automatically generated">
            <a:extLst>
              <a:ext uri="{FF2B5EF4-FFF2-40B4-BE49-F238E27FC236}">
                <a16:creationId xmlns:a16="http://schemas.microsoft.com/office/drawing/2014/main" id="{1AEFDCCA-5818-25F6-C79D-B13258DB2C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784" y="6106002"/>
            <a:ext cx="2588895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3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0284B-1505-059C-4E86-07470FF33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6643A-91BA-C205-AB5C-9D56A8998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1716C-8BE7-4144-6640-E2469CFC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02F25-D426-C543-9B23-205D2299CECD}" type="datetime1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9F8DF-AAFD-A424-EC7B-281EAAD21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5A4B5-89A5-8CBC-3476-A4C57613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0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E8BB3-28A3-A7FC-B2CE-79FEAC78C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0496-02E4-0845-BAD0-DDB3A1F9E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CC4EF-4ED9-A2CB-A367-3B5205894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7E1ABE-7B07-90DD-30B9-616BE312D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9AE0-DD93-284C-9C9F-51936DBCE396}" type="datetime1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7496C-916B-4D94-1656-B7239D33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00B8C-5FBF-978F-5CD6-D9988E251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8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8422-2E90-E698-F3A2-53287F84F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45A94-F9A9-EC9C-AB5C-DF1B14C94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06938-0A3E-50E1-DF08-A745EFF24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181DAD-9171-E93D-5F7D-F34851FCE0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DC279B-A01E-F93C-71E9-0A42CC2D3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31DA52-7302-B5F8-3F44-11A8BC0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3AFD-D178-EE41-80F7-DC6EDDFDB254}" type="datetime1">
              <a:rPr lang="en-US" smtClean="0"/>
              <a:t>9/17/25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6ECA9-46C1-1831-B789-BF1F9741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8F16D8-0C07-732E-C0A9-3F3C37B15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E0184-B174-6828-E23E-B03B4CEF6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D9154B-F6A4-86EC-7FCE-E0618A17D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60B4-C6F2-2746-AEAE-93CD670CBEEA}" type="datetime1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8C3F6-1749-E4B2-64DE-84B3B35D7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A66B3-4ECA-C278-30AB-571D57D7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4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797711-2F89-5898-C20A-5FF8FCF66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F044-B807-1649-8A83-2DAF1C345290}" type="datetime1">
              <a:rPr lang="en-US" smtClean="0"/>
              <a:t>9/17/25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8DF91B-B0ED-8C83-B58E-8ACAFDEE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2AB8B-FD07-CC0B-6221-CA08F063A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69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152C1-78E6-E979-1D0C-2D9F6F1F6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EC336-6F0C-056C-9588-21DBE72BE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2CB36E-E619-E817-6BAC-AA1BB8AAF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451BE-61C8-6F6D-0F0F-00CFBF6A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10E8-FEC3-224C-BEC8-D2B494C4B665}" type="datetime1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33603-AE57-7A85-2C95-9D4DD5027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C3055-F56A-4230-8427-F22E26204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02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AF2F2-8C7A-54DB-E738-440EE6029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8082D-C588-0A24-3B48-DBE339C95E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A2C9B-7E14-CAAB-B99C-E907D6CD5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F2796-E8DA-A43E-85D0-494781417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F3156-90CC-C346-A118-874197777E80}" type="datetime1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66EA5-3707-C2FC-828E-19CAC30C3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F18BA-543F-0585-BD77-A6D1CB71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59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B4AAA-DDEE-931C-D5BD-BF2617106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19534-BF98-74C0-9009-7C9F7591F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085AF-DD00-8B1E-835A-B675164F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26CA-4F64-3446-A1E2-D20833F95A9C}" type="datetime1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E58AC-AA8D-30FE-7162-B5B21D881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E5B78-4F8D-4D67-991F-37FD16E9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9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39D641-EE3D-8A52-801C-7D5B60B1B3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962E2-E03E-856E-8782-FEA095CBB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B5918-BEC0-4F6D-EE90-89DE996C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FEDB-3B76-0A4D-848C-0B586EEDAA33}" type="datetime1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BB72E-005F-53D0-B94E-0A947CC5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F72FB-9AEC-5A4F-6157-85584CB17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16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EF7DE5-201F-F2C6-0C14-75F496734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CDAD3-AD4F-06B8-9148-92661282A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66133-D25A-B5EC-7530-BDA51BEBD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63B22-8BEB-9B48-8AD9-ED6DDFA1D91D}" type="datetime1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C4EE8-903A-E548-4A2D-F025F61F4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045F9-9087-2E0E-C9EC-58AA46F1D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79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hyperlink" Target="https://www.researchgate.net/publication/224363462_Automatic_Chord_Detection_Incorporating_Beat_and_Key_Detection?_tp=eyJjb250ZXh0Ijp7ImZpcnN0UGFnZSI6Il9kaXJlY3QiLCJwYWdlIjoicHVibGljYXRpb24ifX0" TargetMode="External"/><Relationship Id="rId4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hyperlink" Target="https://www.researchgate.net/publication/224363462_Automatic_Chord_Detection_Incorporating_Beat_and_Key_Detection?_tp=eyJjb250ZXh0Ijp7ImZpcnN0UGFnZSI6Il9kaXJlY3QiLCJwYWdlIjoicHVibGljYXRpb24ifX0" TargetMode="External"/><Relationship Id="rId4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usicir.org/mirex/wiki/2025:Previous_Tasks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olorful spectrum of equalizer&#10;&#10;Description automatically generated">
            <a:extLst>
              <a:ext uri="{FF2B5EF4-FFF2-40B4-BE49-F238E27FC236}">
                <a16:creationId xmlns:a16="http://schemas.microsoft.com/office/drawing/2014/main" id="{18654B00-653E-11D2-07C9-93786F65F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05912"/>
            <a:ext cx="12192000" cy="28209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C16661-6C75-1D2A-5269-D4A880F41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090399" cy="1993113"/>
          </a:xfrm>
        </p:spPr>
        <p:txBody>
          <a:bodyPr/>
          <a:lstStyle/>
          <a:p>
            <a:pPr algn="l"/>
            <a:r>
              <a:rPr lang="en-US" dirty="0">
                <a:latin typeface="Century Gothic" panose="020B0502020202020204" pitchFamily="34" charset="0"/>
              </a:rPr>
              <a:t>  Computational Music Analysis:      </a:t>
            </a:r>
            <a:br>
              <a:rPr lang="en-US" dirty="0">
                <a:latin typeface="Century Gothic" panose="020B0502020202020204" pitchFamily="34" charset="0"/>
              </a:rPr>
            </a:br>
            <a:r>
              <a:rPr lang="en-US" dirty="0">
                <a:latin typeface="Century Gothic" panose="020B0502020202020204" pitchFamily="34" charset="0"/>
              </a:rPr>
              <a:t>  Audio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2C9D1-C445-DADC-1023-1FDAD6607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4209" y="1351971"/>
            <a:ext cx="9144000" cy="53954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entury Gothic" panose="020B0502020202020204" pitchFamily="34" charset="0"/>
              </a:rPr>
              <a:t>A.K.A. “Audio Content Analysis”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1D9156-A9F0-C927-E33D-E700556DFC22}"/>
              </a:ext>
            </a:extLst>
          </p:cNvPr>
          <p:cNvSpPr txBox="1"/>
          <p:nvPr/>
        </p:nvSpPr>
        <p:spPr>
          <a:xfrm>
            <a:off x="326720" y="5742252"/>
            <a:ext cx="81419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Century Gothic" panose="020B0502020202020204" pitchFamily="34" charset="0"/>
              </a:rPr>
              <a:t>Claire Arthur</a:t>
            </a:r>
          </a:p>
          <a:p>
            <a:r>
              <a:rPr lang="en-US" sz="2800" dirty="0">
                <a:solidFill>
                  <a:srgbClr val="002060"/>
                </a:solidFill>
                <a:latin typeface="Century Gothic" panose="020B0502020202020204" pitchFamily="34" charset="0"/>
              </a:rPr>
              <a:t>Noël Alben</a:t>
            </a:r>
          </a:p>
        </p:txBody>
      </p:sp>
      <p:pic>
        <p:nvPicPr>
          <p:cNvPr id="6" name="Picture 5" descr="A logo on a black background&#10;&#10;Description automatically generated">
            <a:extLst>
              <a:ext uri="{FF2B5EF4-FFF2-40B4-BE49-F238E27FC236}">
                <a16:creationId xmlns:a16="http://schemas.microsoft.com/office/drawing/2014/main" id="{C08F9358-A231-F7BB-9BEB-4ECB615E5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3176" y="5742252"/>
            <a:ext cx="3168824" cy="10073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4F8731-5FB0-751B-5AB2-6FF696F33B69}"/>
              </a:ext>
            </a:extLst>
          </p:cNvPr>
          <p:cNvSpPr txBox="1"/>
          <p:nvPr/>
        </p:nvSpPr>
        <p:spPr>
          <a:xfrm>
            <a:off x="377521" y="2222278"/>
            <a:ext cx="571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122948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58BA4-5254-6A4D-D484-FFCD35D15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BE87B-0373-C75A-0E73-EC45A3462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Class Activity MFCC</a:t>
            </a:r>
          </a:p>
          <a:p>
            <a:r>
              <a:rPr lang="en-US" dirty="0"/>
              <a:t>Review Of Assignment F0 Detection</a:t>
            </a:r>
          </a:p>
          <a:p>
            <a:r>
              <a:rPr lang="en-US" dirty="0"/>
              <a:t>Evaluation Of Pitch Detection Algorithm</a:t>
            </a:r>
          </a:p>
          <a:p>
            <a:r>
              <a:rPr lang="en-US" dirty="0"/>
              <a:t>Evaluation strategies and the world of MIREX</a:t>
            </a:r>
          </a:p>
          <a:p>
            <a:r>
              <a:rPr lang="en-US" dirty="0"/>
              <a:t>Fall 2025 Project Expectations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55B3F-06BE-F84B-5FA9-19D35B256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684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C557C-F9C7-B5AC-11B7-62C4FF6F0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C8DC8-AC0D-D0CB-5A87-6F2EC7DE3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 Of Assignment F0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6BE38-C98E-7FC2-1E63-654DDC1C5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Some Key Observations</a:t>
            </a:r>
          </a:p>
          <a:p>
            <a:pPr marL="514350" indent="-514350">
              <a:buAutoNum type="arabicPeriod"/>
            </a:pPr>
            <a:r>
              <a:rPr lang="en-US" dirty="0"/>
              <a:t>Not checking for edge cases in user input parameters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Window size too large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Lack of normalization using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acf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[0]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Varied implementations without the use of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np.correlate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Peak Detection and Thresholding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BA09B-8034-2BD2-2DF4-F532934D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145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97AED-5EA3-F9A3-BE4C-F5E79154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11515-7C15-80AC-2F2B-4110B425C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 Of Assignment F0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7B410-5549-0719-F2BE-CDED179A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Some Key Observations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Not checking for edge cases in user input parameters </a:t>
            </a:r>
          </a:p>
          <a:p>
            <a:pPr marL="514350" indent="-514350">
              <a:buAutoNum type="arabicPeriod"/>
            </a:pPr>
            <a:r>
              <a:rPr lang="en-US" dirty="0"/>
              <a:t>Window size too large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Lack of normalization using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acf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[0]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Varied implementations without the use of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np.correlate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Peak Detection and Thresholding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B4FDE-16DD-A6F8-4A11-3929A00A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179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3AC38-0704-0A49-35CC-35F867666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1122-8350-E6D1-11E4-9913BB66B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 Of Assignment F0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62804-6334-A75E-16D7-86F7D071A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Some Key Observations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Not checking for edge cases in user input parameters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Window size too large </a:t>
            </a:r>
          </a:p>
          <a:p>
            <a:pPr marL="514350" indent="-514350">
              <a:buAutoNum type="arabicPeriod"/>
            </a:pPr>
            <a:r>
              <a:rPr lang="en-US" dirty="0"/>
              <a:t>Lack of normalization using </a:t>
            </a:r>
            <a:r>
              <a:rPr lang="en-US" dirty="0" err="1"/>
              <a:t>acf</a:t>
            </a:r>
            <a:r>
              <a:rPr lang="en-US" dirty="0"/>
              <a:t>[0]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Varied implementations without the use of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np.correlate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Peak Detection and Thresholding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ED10D-5A95-38E6-048C-4EED8380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481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DF6E0-6D76-A4D0-B7B5-61F1F4DFE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92D1B-C1EA-0781-3710-20101896D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 Of Assignment F0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A9118-DCAF-8250-2E38-2D289912E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Some Key Observations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Not checking for edge cases in user input parameters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Window size too large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Lack of normalization using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acf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[0]</a:t>
            </a:r>
          </a:p>
          <a:p>
            <a:pPr marL="514350" indent="-514350">
              <a:buAutoNum type="arabicPeriod"/>
            </a:pPr>
            <a:r>
              <a:rPr lang="en-US" dirty="0"/>
              <a:t>Varied implementations without the use of </a:t>
            </a:r>
            <a:r>
              <a:rPr lang="en-US" dirty="0" err="1"/>
              <a:t>np.correlate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Peak Detection and Thresholding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9E569-8E61-C41C-1744-4126A1AEC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800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9DAE3-9034-710A-36A5-6A7BD0C33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3B3F7-FA82-C705-D23A-E1A25A742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 Of Assignment F0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68544-9D94-DA58-6C2E-18C9309C5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Some Key Observations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Not checking for edge cases in user input parameters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Window size too large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Lack of normalization using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acf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[0]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Varied implementations without the use of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np.correlate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dirty="0"/>
              <a:t>Peak Detection and Thresholding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5F8FE-C9A2-214A-8E81-8ED369397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887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DC679-00FD-FD3A-FE6E-AF36459E8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99658-7F29-60DD-DF85-9C8D60EA7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 Of Assignment F0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ADC9-4758-0D81-3777-331248246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End to End System Design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A3176-9D11-3905-AAC8-66EA95B6B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8</a:t>
            </a:fld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7669A5-14E3-D1D5-4613-572D6E008FAD}"/>
              </a:ext>
            </a:extLst>
          </p:cNvPr>
          <p:cNvSpPr/>
          <p:nvPr/>
        </p:nvSpPr>
        <p:spPr>
          <a:xfrm>
            <a:off x="6096000" y="2956421"/>
            <a:ext cx="2038715" cy="16471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C387ED-F04F-170B-53F3-73428ECBBDDD}"/>
              </a:ext>
            </a:extLst>
          </p:cNvPr>
          <p:cNvSpPr/>
          <p:nvPr/>
        </p:nvSpPr>
        <p:spPr>
          <a:xfrm>
            <a:off x="8562674" y="2859026"/>
            <a:ext cx="1187461" cy="20626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3E91D-19C1-C3BC-AF5F-8ADF001EF680}"/>
              </a:ext>
            </a:extLst>
          </p:cNvPr>
          <p:cNvSpPr/>
          <p:nvPr/>
        </p:nvSpPr>
        <p:spPr>
          <a:xfrm>
            <a:off x="4697402" y="3155452"/>
            <a:ext cx="965534" cy="12851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B3A37D-4E8E-F753-9723-F822DD264B74}"/>
              </a:ext>
            </a:extLst>
          </p:cNvPr>
          <p:cNvSpPr/>
          <p:nvPr/>
        </p:nvSpPr>
        <p:spPr>
          <a:xfrm>
            <a:off x="8673638" y="2956421"/>
            <a:ext cx="965534" cy="326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f0[0]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05165B-E54F-7968-1FFD-4A62B3C8DFA3}"/>
              </a:ext>
            </a:extLst>
          </p:cNvPr>
          <p:cNvSpPr/>
          <p:nvPr/>
        </p:nvSpPr>
        <p:spPr>
          <a:xfrm>
            <a:off x="8665462" y="3362834"/>
            <a:ext cx="965534" cy="326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f0[1]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24D7AE-2FB9-5050-2A50-A27BFD69658F}"/>
              </a:ext>
            </a:extLst>
          </p:cNvPr>
          <p:cNvSpPr/>
          <p:nvPr/>
        </p:nvSpPr>
        <p:spPr>
          <a:xfrm>
            <a:off x="8665462" y="3798003"/>
            <a:ext cx="965534" cy="326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f0[2]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4924D8-3F12-FCE7-434D-4A0B60FE4168}"/>
              </a:ext>
            </a:extLst>
          </p:cNvPr>
          <p:cNvSpPr/>
          <p:nvPr/>
        </p:nvSpPr>
        <p:spPr>
          <a:xfrm>
            <a:off x="8665462" y="4517466"/>
            <a:ext cx="965534" cy="326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f0[n]</a:t>
            </a:r>
          </a:p>
        </p:txBody>
      </p:sp>
      <p:pic>
        <p:nvPicPr>
          <p:cNvPr id="12" name="Picture 11" descr="A graph showing a number of objects&#10;&#10;AI-generated content may be incorrect.">
            <a:extLst>
              <a:ext uri="{FF2B5EF4-FFF2-40B4-BE49-F238E27FC236}">
                <a16:creationId xmlns:a16="http://schemas.microsoft.com/office/drawing/2014/main" id="{907A667D-D8B4-BDE1-0724-9EA4AE57D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187" y="3171983"/>
            <a:ext cx="2863242" cy="1431621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CA3936C-C8DB-EF8A-08F8-F3627754CC94}"/>
              </a:ext>
            </a:extLst>
          </p:cNvPr>
          <p:cNvCxnSpPr/>
          <p:nvPr/>
        </p:nvCxnSpPr>
        <p:spPr>
          <a:xfrm>
            <a:off x="4398429" y="3767597"/>
            <a:ext cx="2989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5822574-C734-C658-8FCC-1A22BF8A090F}"/>
              </a:ext>
            </a:extLst>
          </p:cNvPr>
          <p:cNvSpPr txBox="1"/>
          <p:nvPr/>
        </p:nvSpPr>
        <p:spPr>
          <a:xfrm>
            <a:off x="4697402" y="3626183"/>
            <a:ext cx="14029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block_audio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ECB50D-3D32-993F-D90F-04A55A325A3D}"/>
              </a:ext>
            </a:extLst>
          </p:cNvPr>
          <p:cNvSpPr/>
          <p:nvPr/>
        </p:nvSpPr>
        <p:spPr>
          <a:xfrm>
            <a:off x="6187898" y="3495377"/>
            <a:ext cx="1747274" cy="3260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7563A41-C948-7308-F821-59C2BEFCDD05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7061535" y="3821476"/>
            <a:ext cx="0" cy="195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7EC5764-2C03-547F-92E3-F1CAF5F79106}"/>
              </a:ext>
            </a:extLst>
          </p:cNvPr>
          <p:cNvSpPr/>
          <p:nvPr/>
        </p:nvSpPr>
        <p:spPr>
          <a:xfrm>
            <a:off x="6187898" y="4016665"/>
            <a:ext cx="1747274" cy="3260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46F4F3-F2E3-B7D3-8229-5009C646F221}"/>
              </a:ext>
            </a:extLst>
          </p:cNvPr>
          <p:cNvSpPr txBox="1"/>
          <p:nvPr/>
        </p:nvSpPr>
        <p:spPr>
          <a:xfrm>
            <a:off x="6518260" y="3527621"/>
            <a:ext cx="11941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autocorrelation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38C397-A7A3-2683-EF7D-98037BABF7BC}"/>
              </a:ext>
            </a:extLst>
          </p:cNvPr>
          <p:cNvSpPr txBox="1"/>
          <p:nvPr/>
        </p:nvSpPr>
        <p:spPr>
          <a:xfrm>
            <a:off x="6624570" y="4042407"/>
            <a:ext cx="11941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peak_picking</a:t>
            </a:r>
            <a:endParaRPr lang="en-US" sz="11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223CAF-BB34-6D6C-0B78-A68162122EF1}"/>
              </a:ext>
            </a:extLst>
          </p:cNvPr>
          <p:cNvSpPr txBox="1"/>
          <p:nvPr/>
        </p:nvSpPr>
        <p:spPr>
          <a:xfrm>
            <a:off x="6096000" y="3011771"/>
            <a:ext cx="11941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For every block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4197BA7-7DE8-8D81-A4F7-6864EDC84A61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5662936" y="3756988"/>
            <a:ext cx="437414" cy="1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1210C76D-4A8F-64D0-AB65-BCB3AAA96406}"/>
              </a:ext>
            </a:extLst>
          </p:cNvPr>
          <p:cNvSpPr/>
          <p:nvPr/>
        </p:nvSpPr>
        <p:spPr>
          <a:xfrm flipV="1">
            <a:off x="8673638" y="4170703"/>
            <a:ext cx="45719" cy="5763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6B1724B-036F-1940-4D80-9C256DD5EE10}"/>
              </a:ext>
            </a:extLst>
          </p:cNvPr>
          <p:cNvSpPr/>
          <p:nvPr/>
        </p:nvSpPr>
        <p:spPr>
          <a:xfrm flipV="1">
            <a:off x="8673638" y="4262040"/>
            <a:ext cx="45719" cy="5763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3F490BA-A0EE-618D-A178-A8DEFA787E3B}"/>
              </a:ext>
            </a:extLst>
          </p:cNvPr>
          <p:cNvSpPr/>
          <p:nvPr/>
        </p:nvSpPr>
        <p:spPr>
          <a:xfrm flipV="1">
            <a:off x="8673638" y="4353377"/>
            <a:ext cx="45719" cy="5763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6C88C9B-C78C-0D2E-1466-463AF0CB360E}"/>
              </a:ext>
            </a:extLst>
          </p:cNvPr>
          <p:cNvSpPr/>
          <p:nvPr/>
        </p:nvSpPr>
        <p:spPr>
          <a:xfrm flipV="1">
            <a:off x="8673638" y="4433274"/>
            <a:ext cx="45719" cy="5763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C854251-A9B8-91EB-D0B4-C975E815D50A}"/>
              </a:ext>
            </a:extLst>
          </p:cNvPr>
          <p:cNvCxnSpPr>
            <a:cxnSpLocks/>
          </p:cNvCxnSpPr>
          <p:nvPr/>
        </p:nvCxnSpPr>
        <p:spPr>
          <a:xfrm flipV="1">
            <a:off x="8130365" y="3787885"/>
            <a:ext cx="437414" cy="1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714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0433E-2E5C-609E-3BE5-BD09E23A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6CA4A-027B-DAEB-0D8B-4893916E1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 Of Assignment F0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89053-8D01-34B5-1F6C-DA6C6032E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End to End System Design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0DFDC-964F-D839-6D05-D0A357E3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9</a:t>
            </a:fld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646D1C-2B5F-1B24-0809-15487B003933}"/>
              </a:ext>
            </a:extLst>
          </p:cNvPr>
          <p:cNvSpPr/>
          <p:nvPr/>
        </p:nvSpPr>
        <p:spPr>
          <a:xfrm>
            <a:off x="4767262" y="2956421"/>
            <a:ext cx="2038715" cy="16471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B6FAF8-7958-1025-C68E-9BA1A02E7707}"/>
              </a:ext>
            </a:extLst>
          </p:cNvPr>
          <p:cNvSpPr/>
          <p:nvPr/>
        </p:nvSpPr>
        <p:spPr>
          <a:xfrm>
            <a:off x="7233936" y="2859026"/>
            <a:ext cx="1187461" cy="20626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1A02F7-C4EA-3750-E7E0-BBAEE24B953C}"/>
              </a:ext>
            </a:extLst>
          </p:cNvPr>
          <p:cNvSpPr/>
          <p:nvPr/>
        </p:nvSpPr>
        <p:spPr>
          <a:xfrm>
            <a:off x="3368664" y="3155452"/>
            <a:ext cx="965534" cy="12851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B31F23-132D-BBCD-79D0-554CE6C84DFA}"/>
              </a:ext>
            </a:extLst>
          </p:cNvPr>
          <p:cNvSpPr/>
          <p:nvPr/>
        </p:nvSpPr>
        <p:spPr>
          <a:xfrm>
            <a:off x="7344900" y="2956421"/>
            <a:ext cx="965534" cy="326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f0[0]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F6AE47-2379-57E1-6FF3-5BDC3F98E666}"/>
              </a:ext>
            </a:extLst>
          </p:cNvPr>
          <p:cNvSpPr/>
          <p:nvPr/>
        </p:nvSpPr>
        <p:spPr>
          <a:xfrm>
            <a:off x="7336724" y="3362834"/>
            <a:ext cx="965534" cy="326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f0[1]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7E0FF6-5753-887F-69DC-75DE74E9E231}"/>
              </a:ext>
            </a:extLst>
          </p:cNvPr>
          <p:cNvSpPr/>
          <p:nvPr/>
        </p:nvSpPr>
        <p:spPr>
          <a:xfrm>
            <a:off x="7336724" y="3798003"/>
            <a:ext cx="965534" cy="326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f0[2]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701E98-9B39-3728-202F-8233281DC29E}"/>
              </a:ext>
            </a:extLst>
          </p:cNvPr>
          <p:cNvSpPr/>
          <p:nvPr/>
        </p:nvSpPr>
        <p:spPr>
          <a:xfrm>
            <a:off x="7336724" y="4517466"/>
            <a:ext cx="965534" cy="326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f0[n]</a:t>
            </a:r>
          </a:p>
        </p:txBody>
      </p:sp>
      <p:pic>
        <p:nvPicPr>
          <p:cNvPr id="12" name="Picture 11" descr="A graph showing a number of objects&#10;&#10;AI-generated content may be incorrect.">
            <a:extLst>
              <a:ext uri="{FF2B5EF4-FFF2-40B4-BE49-F238E27FC236}">
                <a16:creationId xmlns:a16="http://schemas.microsoft.com/office/drawing/2014/main" id="{FBDEC916-843A-E589-95F3-1ADE8D669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49" y="3171983"/>
            <a:ext cx="2863242" cy="1431621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D6BCB6A-9729-1510-1C56-6CE33D7FC556}"/>
              </a:ext>
            </a:extLst>
          </p:cNvPr>
          <p:cNvCxnSpPr/>
          <p:nvPr/>
        </p:nvCxnSpPr>
        <p:spPr>
          <a:xfrm>
            <a:off x="3069691" y="3767597"/>
            <a:ext cx="2989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3B6B665-E252-BD7C-FE60-207679EE1822}"/>
              </a:ext>
            </a:extLst>
          </p:cNvPr>
          <p:cNvSpPr txBox="1"/>
          <p:nvPr/>
        </p:nvSpPr>
        <p:spPr>
          <a:xfrm>
            <a:off x="3368664" y="3626183"/>
            <a:ext cx="14029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block_audio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E64F52-15D6-EC9D-5A10-EB88347F8ACC}"/>
              </a:ext>
            </a:extLst>
          </p:cNvPr>
          <p:cNvSpPr/>
          <p:nvPr/>
        </p:nvSpPr>
        <p:spPr>
          <a:xfrm>
            <a:off x="4859160" y="3495377"/>
            <a:ext cx="1747274" cy="3260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583404C-4332-1C11-3FBB-9C2437B6C1FD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5732797" y="3821476"/>
            <a:ext cx="0" cy="195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DC46809-FC54-229A-0586-AAE95CD4081E}"/>
              </a:ext>
            </a:extLst>
          </p:cNvPr>
          <p:cNvSpPr/>
          <p:nvPr/>
        </p:nvSpPr>
        <p:spPr>
          <a:xfrm>
            <a:off x="4859160" y="4016665"/>
            <a:ext cx="1747274" cy="3260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0E1438-8528-977E-72B1-D29C07073587}"/>
              </a:ext>
            </a:extLst>
          </p:cNvPr>
          <p:cNvSpPr txBox="1"/>
          <p:nvPr/>
        </p:nvSpPr>
        <p:spPr>
          <a:xfrm>
            <a:off x="5189522" y="3527621"/>
            <a:ext cx="11941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autocorrelation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815AC0-BDEC-3221-17E8-DE67FF55F989}"/>
              </a:ext>
            </a:extLst>
          </p:cNvPr>
          <p:cNvSpPr txBox="1"/>
          <p:nvPr/>
        </p:nvSpPr>
        <p:spPr>
          <a:xfrm>
            <a:off x="5295832" y="4042407"/>
            <a:ext cx="11941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peak_picking</a:t>
            </a:r>
            <a:endParaRPr lang="en-US" sz="11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84A9BD-54BA-B2CB-C89A-D288860678F9}"/>
              </a:ext>
            </a:extLst>
          </p:cNvPr>
          <p:cNvSpPr txBox="1"/>
          <p:nvPr/>
        </p:nvSpPr>
        <p:spPr>
          <a:xfrm>
            <a:off x="4767262" y="3011771"/>
            <a:ext cx="11941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For every block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ED64463-56DC-E7C9-EB0A-A3C4EA101A1C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4334198" y="3756988"/>
            <a:ext cx="437414" cy="1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7F1C0B7F-8D7B-9AA0-E004-D879183DCF4B}"/>
              </a:ext>
            </a:extLst>
          </p:cNvPr>
          <p:cNvSpPr/>
          <p:nvPr/>
        </p:nvSpPr>
        <p:spPr>
          <a:xfrm flipV="1">
            <a:off x="7344900" y="4170703"/>
            <a:ext cx="45719" cy="5763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7A9C991-252F-106B-E737-933A557408CB}"/>
              </a:ext>
            </a:extLst>
          </p:cNvPr>
          <p:cNvSpPr/>
          <p:nvPr/>
        </p:nvSpPr>
        <p:spPr>
          <a:xfrm flipV="1">
            <a:off x="7344900" y="4262040"/>
            <a:ext cx="45719" cy="5763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19DA9AC-B84F-8D17-EACD-951624891A5A}"/>
              </a:ext>
            </a:extLst>
          </p:cNvPr>
          <p:cNvSpPr/>
          <p:nvPr/>
        </p:nvSpPr>
        <p:spPr>
          <a:xfrm flipV="1">
            <a:off x="7344900" y="4353377"/>
            <a:ext cx="45719" cy="5763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4B42EF3-AA27-7A17-A98F-BD7200DFE4E1}"/>
              </a:ext>
            </a:extLst>
          </p:cNvPr>
          <p:cNvSpPr/>
          <p:nvPr/>
        </p:nvSpPr>
        <p:spPr>
          <a:xfrm flipV="1">
            <a:off x="7344900" y="4433274"/>
            <a:ext cx="45719" cy="5763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12D4FC9-EE6F-53E8-618E-B9B33660793A}"/>
              </a:ext>
            </a:extLst>
          </p:cNvPr>
          <p:cNvCxnSpPr>
            <a:cxnSpLocks/>
          </p:cNvCxnSpPr>
          <p:nvPr/>
        </p:nvCxnSpPr>
        <p:spPr>
          <a:xfrm flipV="1">
            <a:off x="6801627" y="3787885"/>
            <a:ext cx="437414" cy="1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graph showing a graph of a graph&#10;&#10;AI-generated content may be incorrect.">
            <a:extLst>
              <a:ext uri="{FF2B5EF4-FFF2-40B4-BE49-F238E27FC236}">
                <a16:creationId xmlns:a16="http://schemas.microsoft.com/office/drawing/2014/main" id="{C0CF8417-6854-EE8E-F068-0AC895F73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914" y="3096344"/>
            <a:ext cx="3504620" cy="140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64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1D849-1A82-EAE0-6073-6A28C8FDB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1DC38-4F21-24FF-2414-24AE7F7C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 Of Assignment F0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BFE10-3E0B-6D20-4E14-A0C74F207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System Design Requirements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Needs to be robust to various input signals</a:t>
            </a:r>
          </a:p>
          <a:p>
            <a:r>
              <a:rPr lang="en-US" dirty="0"/>
              <a:t>Able to pick up wide range of frequencies </a:t>
            </a:r>
          </a:p>
          <a:p>
            <a:r>
              <a:rPr lang="en-US" dirty="0"/>
              <a:t>Low sensitivity to noise and spurious amplitude changes </a:t>
            </a:r>
          </a:p>
          <a:p>
            <a:r>
              <a:rPr lang="en-US" dirty="0"/>
              <a:t>Real time system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6A9B9-B59E-58E0-43C6-90836045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531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01324-BBD6-4887-662E-759508B4F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1AF18-F773-4F13-156D-7DE3D05E5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 Of Assignment F0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CDD8F-A8E9-CD24-6E9C-B8C1188B8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End to End System Design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3AD70-3704-191A-FC8D-556AFCFB7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11</a:t>
            </a:fld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045314-A855-4878-8EA2-17F8BED24A63}"/>
              </a:ext>
            </a:extLst>
          </p:cNvPr>
          <p:cNvSpPr/>
          <p:nvPr/>
        </p:nvSpPr>
        <p:spPr>
          <a:xfrm>
            <a:off x="4767262" y="2956421"/>
            <a:ext cx="2038715" cy="16471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3D7A1E-040E-8E1E-B98F-FAF98801EE33}"/>
              </a:ext>
            </a:extLst>
          </p:cNvPr>
          <p:cNvSpPr/>
          <p:nvPr/>
        </p:nvSpPr>
        <p:spPr>
          <a:xfrm>
            <a:off x="7233936" y="2859026"/>
            <a:ext cx="1187461" cy="20626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47CA67-0656-0624-1153-D9E50E69CC06}"/>
              </a:ext>
            </a:extLst>
          </p:cNvPr>
          <p:cNvSpPr/>
          <p:nvPr/>
        </p:nvSpPr>
        <p:spPr>
          <a:xfrm>
            <a:off x="3368664" y="3155452"/>
            <a:ext cx="965534" cy="12851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84AEA-BE33-0441-B395-E4396FF2C738}"/>
              </a:ext>
            </a:extLst>
          </p:cNvPr>
          <p:cNvSpPr/>
          <p:nvPr/>
        </p:nvSpPr>
        <p:spPr>
          <a:xfrm>
            <a:off x="7344900" y="2956421"/>
            <a:ext cx="965534" cy="326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f0[0]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2DABA7-FA75-0B7A-692C-91719A01811E}"/>
              </a:ext>
            </a:extLst>
          </p:cNvPr>
          <p:cNvSpPr/>
          <p:nvPr/>
        </p:nvSpPr>
        <p:spPr>
          <a:xfrm>
            <a:off x="7336724" y="3362834"/>
            <a:ext cx="965534" cy="326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f0[1]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71768-8926-73A8-60AC-B61E868F6674}"/>
              </a:ext>
            </a:extLst>
          </p:cNvPr>
          <p:cNvSpPr/>
          <p:nvPr/>
        </p:nvSpPr>
        <p:spPr>
          <a:xfrm>
            <a:off x="7336724" y="3798003"/>
            <a:ext cx="965534" cy="326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f0[2]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4C80D3-2F3A-851C-E4AB-385D177240A2}"/>
              </a:ext>
            </a:extLst>
          </p:cNvPr>
          <p:cNvSpPr/>
          <p:nvPr/>
        </p:nvSpPr>
        <p:spPr>
          <a:xfrm>
            <a:off x="7336724" y="4517466"/>
            <a:ext cx="965534" cy="3260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f0[n]</a:t>
            </a:r>
          </a:p>
        </p:txBody>
      </p:sp>
      <p:pic>
        <p:nvPicPr>
          <p:cNvPr id="12" name="Picture 11" descr="A graph showing a number of objects&#10;&#10;AI-generated content may be incorrect.">
            <a:extLst>
              <a:ext uri="{FF2B5EF4-FFF2-40B4-BE49-F238E27FC236}">
                <a16:creationId xmlns:a16="http://schemas.microsoft.com/office/drawing/2014/main" id="{8762EC07-0964-DD8B-156A-E9D8AB2EB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49" y="3171983"/>
            <a:ext cx="2863242" cy="1431621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6B0963-9486-5837-ECFC-A64394934FA4}"/>
              </a:ext>
            </a:extLst>
          </p:cNvPr>
          <p:cNvCxnSpPr/>
          <p:nvPr/>
        </p:nvCxnSpPr>
        <p:spPr>
          <a:xfrm>
            <a:off x="3069691" y="3767597"/>
            <a:ext cx="2989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24AF659-4521-BAAB-89FE-EA111EC75992}"/>
              </a:ext>
            </a:extLst>
          </p:cNvPr>
          <p:cNvSpPr txBox="1"/>
          <p:nvPr/>
        </p:nvSpPr>
        <p:spPr>
          <a:xfrm>
            <a:off x="3368664" y="3626183"/>
            <a:ext cx="14029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FF0000"/>
                </a:solidFill>
              </a:rPr>
              <a:t>block_audio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1FA4C4-56EA-BB9E-9AEF-21C239AAB972}"/>
              </a:ext>
            </a:extLst>
          </p:cNvPr>
          <p:cNvSpPr/>
          <p:nvPr/>
        </p:nvSpPr>
        <p:spPr>
          <a:xfrm>
            <a:off x="4859160" y="3495377"/>
            <a:ext cx="1747274" cy="3260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C788E1D-5C49-74CA-EF19-AF946ED2E0C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5732797" y="3821476"/>
            <a:ext cx="0" cy="195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96B415F-E4B4-9B4D-FCE1-FE56E1CDFD96}"/>
              </a:ext>
            </a:extLst>
          </p:cNvPr>
          <p:cNvSpPr/>
          <p:nvPr/>
        </p:nvSpPr>
        <p:spPr>
          <a:xfrm>
            <a:off x="4859160" y="4016665"/>
            <a:ext cx="1747274" cy="3260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E14764-C40B-3BD7-F0D8-A8CB50B32E48}"/>
              </a:ext>
            </a:extLst>
          </p:cNvPr>
          <p:cNvSpPr txBox="1"/>
          <p:nvPr/>
        </p:nvSpPr>
        <p:spPr>
          <a:xfrm>
            <a:off x="5189522" y="3527621"/>
            <a:ext cx="11941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autocorrelation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2D1B27-2FE3-4D02-4A74-A37AF2E76E02}"/>
              </a:ext>
            </a:extLst>
          </p:cNvPr>
          <p:cNvSpPr txBox="1"/>
          <p:nvPr/>
        </p:nvSpPr>
        <p:spPr>
          <a:xfrm>
            <a:off x="5295832" y="4042407"/>
            <a:ext cx="11941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FF0000"/>
                </a:solidFill>
              </a:rPr>
              <a:t>peak_picking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F107ED-63AA-C967-496F-889F5950029E}"/>
              </a:ext>
            </a:extLst>
          </p:cNvPr>
          <p:cNvSpPr txBox="1"/>
          <p:nvPr/>
        </p:nvSpPr>
        <p:spPr>
          <a:xfrm>
            <a:off x="4767262" y="3011771"/>
            <a:ext cx="11941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For every block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E29692-535F-EA78-C03C-3A67B85FB0D4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4334198" y="3756988"/>
            <a:ext cx="437414" cy="1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3BFC4A57-3603-094A-DA26-D67F41BACC13}"/>
              </a:ext>
            </a:extLst>
          </p:cNvPr>
          <p:cNvSpPr/>
          <p:nvPr/>
        </p:nvSpPr>
        <p:spPr>
          <a:xfrm flipV="1">
            <a:off x="7344900" y="4170703"/>
            <a:ext cx="45719" cy="5763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C900BFD-C45C-3688-E44A-300D6DB40802}"/>
              </a:ext>
            </a:extLst>
          </p:cNvPr>
          <p:cNvSpPr/>
          <p:nvPr/>
        </p:nvSpPr>
        <p:spPr>
          <a:xfrm flipV="1">
            <a:off x="7344900" y="4262040"/>
            <a:ext cx="45719" cy="5763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C65EC0E-B34B-8320-BE25-17E64AF675BF}"/>
              </a:ext>
            </a:extLst>
          </p:cNvPr>
          <p:cNvSpPr/>
          <p:nvPr/>
        </p:nvSpPr>
        <p:spPr>
          <a:xfrm flipV="1">
            <a:off x="7344900" y="4353377"/>
            <a:ext cx="45719" cy="5763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EB1306F-9FFC-8071-9A39-3A8754AA6338}"/>
              </a:ext>
            </a:extLst>
          </p:cNvPr>
          <p:cNvSpPr/>
          <p:nvPr/>
        </p:nvSpPr>
        <p:spPr>
          <a:xfrm flipV="1">
            <a:off x="7344900" y="4433274"/>
            <a:ext cx="45719" cy="5763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2D8EFB7-6339-B6BA-84DD-19842D8182E6}"/>
              </a:ext>
            </a:extLst>
          </p:cNvPr>
          <p:cNvCxnSpPr>
            <a:cxnSpLocks/>
          </p:cNvCxnSpPr>
          <p:nvPr/>
        </p:nvCxnSpPr>
        <p:spPr>
          <a:xfrm flipV="1">
            <a:off x="6801627" y="3787885"/>
            <a:ext cx="437414" cy="1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graph showing a graph of a graph&#10;&#10;AI-generated content may be incorrect.">
            <a:extLst>
              <a:ext uri="{FF2B5EF4-FFF2-40B4-BE49-F238E27FC236}">
                <a16:creationId xmlns:a16="http://schemas.microsoft.com/office/drawing/2014/main" id="{E48D4543-CBE6-519F-FACE-C059D3B70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914" y="3096344"/>
            <a:ext cx="3504620" cy="14018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502B75-DA0E-A5F8-EF08-02B4786DFCEC}"/>
              </a:ext>
            </a:extLst>
          </p:cNvPr>
          <p:cNvSpPr txBox="1"/>
          <p:nvPr/>
        </p:nvSpPr>
        <p:spPr>
          <a:xfrm>
            <a:off x="6479822" y="2178756"/>
            <a:ext cx="1568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Points of error</a:t>
            </a:r>
          </a:p>
        </p:txBody>
      </p:sp>
    </p:spTree>
    <p:extLst>
      <p:ext uri="{BB962C8B-B14F-4D97-AF65-F5344CB8AC3E}">
        <p14:creationId xmlns:p14="http://schemas.microsoft.com/office/powerpoint/2010/main" val="163120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304A2-74E5-9014-F64B-92B7B1416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8EC1B-403E-D57D-3500-CD4A4AD4C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 Of Assignment F0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D75B9-B3EC-CD4C-593D-9B31F48DA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12</a:t>
            </a:fld>
            <a:endParaRPr lang="en-US" dirty="0"/>
          </a:p>
        </p:txBody>
      </p:sp>
      <p:pic>
        <p:nvPicPr>
          <p:cNvPr id="8" name="Content Placeholder 7" descr="A diagram of a computer flowchart&#10;&#10;AI-generated content may be incorrect.">
            <a:extLst>
              <a:ext uri="{FF2B5EF4-FFF2-40B4-BE49-F238E27FC236}">
                <a16:creationId xmlns:a16="http://schemas.microsoft.com/office/drawing/2014/main" id="{28692070-8583-3DC0-A838-E06053A389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" y="1806118"/>
            <a:ext cx="4257675" cy="2551038"/>
          </a:xfrm>
        </p:spPr>
      </p:pic>
      <p:pic>
        <p:nvPicPr>
          <p:cNvPr id="10" name="Picture 9" descr="A diagram of a graph&#10;&#10;AI-generated content may be incorrect.">
            <a:extLst>
              <a:ext uri="{FF2B5EF4-FFF2-40B4-BE49-F238E27FC236}">
                <a16:creationId xmlns:a16="http://schemas.microsoft.com/office/drawing/2014/main" id="{37781808-0A68-D5E9-F143-2043A9C36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240" y="1733636"/>
            <a:ext cx="6734174" cy="2016447"/>
          </a:xfrm>
          <a:prstGeom prst="rect">
            <a:avLst/>
          </a:prstGeom>
        </p:spPr>
      </p:pic>
      <p:pic>
        <p:nvPicPr>
          <p:cNvPr id="12" name="Picture 11" descr="A diagram of a flowchart&#10;&#10;AI-generated content may be incorrect.">
            <a:extLst>
              <a:ext uri="{FF2B5EF4-FFF2-40B4-BE49-F238E27FC236}">
                <a16:creationId xmlns:a16="http://schemas.microsoft.com/office/drawing/2014/main" id="{9ECFCCC0-E044-4D42-CFD0-7EE334E17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616" y="3894725"/>
            <a:ext cx="1634384" cy="20164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73A968-0E49-7B82-868A-978CECEA4CDE}"/>
              </a:ext>
            </a:extLst>
          </p:cNvPr>
          <p:cNvSpPr txBox="1"/>
          <p:nvPr/>
        </p:nvSpPr>
        <p:spPr>
          <a:xfrm>
            <a:off x="4309215" y="5871149"/>
            <a:ext cx="1990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i="0" u="none" strike="noStrike" dirty="0">
                <a:effectLst/>
                <a:latin typeface="Manrope Var"/>
                <a:hlinkClick r:id="rId5"/>
              </a:rPr>
              <a:t>Automatic Chord Detection Incorporating Beat and Key Detection</a:t>
            </a:r>
            <a:endParaRPr lang="en-US" sz="900" dirty="0"/>
          </a:p>
        </p:txBody>
      </p:sp>
      <p:pic>
        <p:nvPicPr>
          <p:cNvPr id="16" name="Picture 15" descr="A diagram of a flowchart&#10;&#10;AI-generated content may be incorrect.">
            <a:extLst>
              <a:ext uri="{FF2B5EF4-FFF2-40B4-BE49-F238E27FC236}">
                <a16:creationId xmlns:a16="http://schemas.microsoft.com/office/drawing/2014/main" id="{61992195-F529-80B3-8EA2-6FB8BBFCD4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9941" y="3736827"/>
            <a:ext cx="4843038" cy="217434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B778133-B3B5-E6B5-8BAD-05D3F9464C55}"/>
              </a:ext>
            </a:extLst>
          </p:cNvPr>
          <p:cNvSpPr txBox="1"/>
          <p:nvPr/>
        </p:nvSpPr>
        <p:spPr>
          <a:xfrm>
            <a:off x="6597296" y="5876444"/>
            <a:ext cx="4220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Thiago, Noel, Rhythm Fall 21 ACA Project</a:t>
            </a:r>
          </a:p>
        </p:txBody>
      </p:sp>
    </p:spTree>
    <p:extLst>
      <p:ext uri="{BB962C8B-B14F-4D97-AF65-F5344CB8AC3E}">
        <p14:creationId xmlns:p14="http://schemas.microsoft.com/office/powerpoint/2010/main" val="2203844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1EDA2-554F-B107-73BB-004B29D63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9DE32-2BAB-4831-05EF-38D2D2504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 Of Assignment F0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DAC94-E0D9-F1D9-FF06-97A38D748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13</a:t>
            </a:fld>
            <a:endParaRPr lang="en-US" dirty="0"/>
          </a:p>
        </p:txBody>
      </p:sp>
      <p:pic>
        <p:nvPicPr>
          <p:cNvPr id="8" name="Content Placeholder 7" descr="A diagram of a computer flowchart&#10;&#10;AI-generated content may be incorrect.">
            <a:extLst>
              <a:ext uri="{FF2B5EF4-FFF2-40B4-BE49-F238E27FC236}">
                <a16:creationId xmlns:a16="http://schemas.microsoft.com/office/drawing/2014/main" id="{FD16D9F3-42E3-D768-8BA6-8EF18DE308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" y="1806118"/>
            <a:ext cx="4257675" cy="2551038"/>
          </a:xfrm>
        </p:spPr>
      </p:pic>
      <p:pic>
        <p:nvPicPr>
          <p:cNvPr id="10" name="Picture 9" descr="A diagram of a graph&#10;&#10;AI-generated content may be incorrect.">
            <a:extLst>
              <a:ext uri="{FF2B5EF4-FFF2-40B4-BE49-F238E27FC236}">
                <a16:creationId xmlns:a16="http://schemas.microsoft.com/office/drawing/2014/main" id="{418802E7-31C6-3E8C-1163-1718BAD59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240" y="1733636"/>
            <a:ext cx="6734174" cy="2016447"/>
          </a:xfrm>
          <a:prstGeom prst="rect">
            <a:avLst/>
          </a:prstGeom>
        </p:spPr>
      </p:pic>
      <p:pic>
        <p:nvPicPr>
          <p:cNvPr id="12" name="Picture 11" descr="A diagram of a flowchart&#10;&#10;AI-generated content may be incorrect.">
            <a:extLst>
              <a:ext uri="{FF2B5EF4-FFF2-40B4-BE49-F238E27FC236}">
                <a16:creationId xmlns:a16="http://schemas.microsoft.com/office/drawing/2014/main" id="{499A5607-79AE-BD81-6AAE-9A04CC7D4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616" y="3894725"/>
            <a:ext cx="1634384" cy="20164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386B2E-2C1C-E355-07A4-213CA7E982C1}"/>
              </a:ext>
            </a:extLst>
          </p:cNvPr>
          <p:cNvSpPr txBox="1"/>
          <p:nvPr/>
        </p:nvSpPr>
        <p:spPr>
          <a:xfrm>
            <a:off x="4309215" y="5871149"/>
            <a:ext cx="1990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i="0" u="none" strike="noStrike" dirty="0">
                <a:effectLst/>
                <a:latin typeface="Manrope Var"/>
                <a:hlinkClick r:id="rId5"/>
              </a:rPr>
              <a:t>Automatic Chord Detection Incorporating Beat and Key Detection</a:t>
            </a:r>
            <a:endParaRPr lang="en-US" sz="900" dirty="0"/>
          </a:p>
        </p:txBody>
      </p:sp>
      <p:pic>
        <p:nvPicPr>
          <p:cNvPr id="16" name="Picture 15" descr="A diagram of a flowchart&#10;&#10;AI-generated content may be incorrect.">
            <a:extLst>
              <a:ext uri="{FF2B5EF4-FFF2-40B4-BE49-F238E27FC236}">
                <a16:creationId xmlns:a16="http://schemas.microsoft.com/office/drawing/2014/main" id="{7A3DB294-0818-777A-BA38-F03B929834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9941" y="3736827"/>
            <a:ext cx="4843038" cy="217434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B298E64-3BCE-9242-077F-E86B43A554C7}"/>
              </a:ext>
            </a:extLst>
          </p:cNvPr>
          <p:cNvSpPr txBox="1"/>
          <p:nvPr/>
        </p:nvSpPr>
        <p:spPr>
          <a:xfrm>
            <a:off x="6597296" y="5876444"/>
            <a:ext cx="4220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Thiago, Noel, Rhythm Fall 21 ACA Project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6493EF-C56E-527D-B777-9EE414D8F1A1}"/>
              </a:ext>
            </a:extLst>
          </p:cNvPr>
          <p:cNvSpPr/>
          <p:nvPr/>
        </p:nvSpPr>
        <p:spPr>
          <a:xfrm>
            <a:off x="2275840" y="2045547"/>
            <a:ext cx="345440" cy="2302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604D47-E48E-9388-D53B-3B8175761CEA}"/>
              </a:ext>
            </a:extLst>
          </p:cNvPr>
          <p:cNvSpPr/>
          <p:nvPr/>
        </p:nvSpPr>
        <p:spPr>
          <a:xfrm>
            <a:off x="6555598" y="2828775"/>
            <a:ext cx="1361440" cy="252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AB7E61-4B66-2724-0952-CD85317CAB5A}"/>
              </a:ext>
            </a:extLst>
          </p:cNvPr>
          <p:cNvSpPr/>
          <p:nvPr/>
        </p:nvSpPr>
        <p:spPr>
          <a:xfrm>
            <a:off x="5088151" y="4447504"/>
            <a:ext cx="607798" cy="2938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4605E7-3F35-2DFF-EE6E-8ECFC226C523}"/>
              </a:ext>
            </a:extLst>
          </p:cNvPr>
          <p:cNvSpPr/>
          <p:nvPr/>
        </p:nvSpPr>
        <p:spPr>
          <a:xfrm>
            <a:off x="8784695" y="4862064"/>
            <a:ext cx="447358" cy="2302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07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9FD45-94DA-52F4-6A7E-923A9DA87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35690-8745-AD6D-1623-969C4EA9F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7" y="271992"/>
            <a:ext cx="10515600" cy="1325563"/>
          </a:xfrm>
        </p:spPr>
        <p:txBody>
          <a:bodyPr/>
          <a:lstStyle/>
          <a:p>
            <a:r>
              <a:rPr lang="en-US" b="1" dirty="0"/>
              <a:t>Evaluation Of Pitch Tracking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3CE04-63C1-9B89-F700-DB471C8D1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F70D8C-F562-DDE3-BE86-802E4BD70FFD}"/>
              </a:ext>
            </a:extLst>
          </p:cNvPr>
          <p:cNvSpPr txBox="1"/>
          <p:nvPr/>
        </p:nvSpPr>
        <p:spPr>
          <a:xfrm>
            <a:off x="835378" y="1911147"/>
            <a:ext cx="1111955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Planning a systematic evaluation of pitch detection systems</a:t>
            </a:r>
          </a:p>
          <a:p>
            <a:endParaRPr lang="en-US" dirty="0"/>
          </a:p>
          <a:p>
            <a:r>
              <a:rPr lang="en-US" b="1" dirty="0"/>
              <a:t>Goal of evaluation: Compare system predicted pitch with ground truth pitch</a:t>
            </a:r>
          </a:p>
          <a:p>
            <a:endParaRPr lang="en-US" b="1" dirty="0"/>
          </a:p>
          <a:p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544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9FC4-0532-D79B-927D-FB6516529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1B536-C8B4-3F48-DBC1-076AB02D3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7" y="271992"/>
            <a:ext cx="10515600" cy="1325563"/>
          </a:xfrm>
        </p:spPr>
        <p:txBody>
          <a:bodyPr/>
          <a:lstStyle/>
          <a:p>
            <a:r>
              <a:rPr lang="en-US" b="1" dirty="0"/>
              <a:t>Evaluation Of Pitch Tracking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102D7-85FF-D828-B47B-CD92ECE00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B18A73-B162-FD05-C27F-9211555CCDCB}"/>
              </a:ext>
            </a:extLst>
          </p:cNvPr>
          <p:cNvSpPr txBox="1"/>
          <p:nvPr/>
        </p:nvSpPr>
        <p:spPr>
          <a:xfrm>
            <a:off x="835378" y="1911147"/>
            <a:ext cx="1111955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Planning a systematic evaluation of pitch detection systems</a:t>
            </a:r>
          </a:p>
          <a:p>
            <a:endParaRPr lang="en-US" dirty="0"/>
          </a:p>
          <a:p>
            <a:r>
              <a:rPr lang="en-US" b="1" dirty="0"/>
              <a:t>Goal of evaluation: Compare system predicted pitch with ground truth pitch</a:t>
            </a:r>
          </a:p>
          <a:p>
            <a:endParaRPr lang="en-US" b="1" dirty="0"/>
          </a:p>
          <a:p>
            <a:r>
              <a:rPr lang="en-US" dirty="0"/>
              <a:t>First Determine the Pitch Detection Task</a:t>
            </a:r>
          </a:p>
          <a:p>
            <a:endParaRPr lang="en-US" i="1" dirty="0"/>
          </a:p>
          <a:p>
            <a:r>
              <a:rPr lang="en-US" i="1" dirty="0"/>
              <a:t>• pitch of individual notes in a monophonic melody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29153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B291A-F468-9BE5-F54D-CE46AE91A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7C80-5683-37DE-816D-95236204C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7" y="271992"/>
            <a:ext cx="10515600" cy="1325563"/>
          </a:xfrm>
        </p:spPr>
        <p:txBody>
          <a:bodyPr/>
          <a:lstStyle/>
          <a:p>
            <a:r>
              <a:rPr lang="en-US" b="1" dirty="0"/>
              <a:t>Evaluation Of Pitch Tracking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5AF8-0187-7763-5CB5-26620811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AF5E32-BD36-E845-5F26-CDE5D9244365}"/>
              </a:ext>
            </a:extLst>
          </p:cNvPr>
          <p:cNvSpPr txBox="1"/>
          <p:nvPr/>
        </p:nvSpPr>
        <p:spPr>
          <a:xfrm>
            <a:off x="835378" y="1911147"/>
            <a:ext cx="1111955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Planning a systematic evaluation of pitch detection systems</a:t>
            </a:r>
          </a:p>
          <a:p>
            <a:endParaRPr lang="en-US" dirty="0"/>
          </a:p>
          <a:p>
            <a:r>
              <a:rPr lang="en-US" b="1" dirty="0"/>
              <a:t>Goal of evaluation: Compare system predicted pitch with ground truth pitch</a:t>
            </a:r>
          </a:p>
          <a:p>
            <a:endParaRPr lang="en-US" b="1" dirty="0"/>
          </a:p>
          <a:p>
            <a:r>
              <a:rPr lang="en-US" dirty="0"/>
              <a:t>How do you annotate the F0 data for the ground truth?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5869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A4CCB-65A8-9DBA-0DB5-4C0687A99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7941-E3C1-9396-96EF-1AED6FE16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7" y="271992"/>
            <a:ext cx="10515600" cy="1325563"/>
          </a:xfrm>
        </p:spPr>
        <p:txBody>
          <a:bodyPr/>
          <a:lstStyle/>
          <a:p>
            <a:r>
              <a:rPr lang="en-US" b="1" dirty="0"/>
              <a:t>Evaluation Of Pitch Tracking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00C44-B4E6-C805-EFA8-3D8EDBBE0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F5C9A0-E8A1-D88A-33AD-7EB8A35C7BFC}"/>
              </a:ext>
            </a:extLst>
          </p:cNvPr>
          <p:cNvSpPr txBox="1"/>
          <p:nvPr/>
        </p:nvSpPr>
        <p:spPr>
          <a:xfrm>
            <a:off x="835378" y="1911147"/>
            <a:ext cx="1111955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Planning a systematic evaluation of pitch detection systems</a:t>
            </a:r>
          </a:p>
          <a:p>
            <a:endParaRPr lang="en-US" dirty="0"/>
          </a:p>
          <a:p>
            <a:r>
              <a:rPr lang="en-US" b="1" dirty="0"/>
              <a:t>Goal of evaluation: Compare system predicted pitch with ground truth pitch</a:t>
            </a:r>
          </a:p>
          <a:p>
            <a:endParaRPr lang="en-US" b="1" dirty="0"/>
          </a:p>
          <a:p>
            <a:r>
              <a:rPr lang="en-US" dirty="0"/>
              <a:t>How do you annotate the F0 data for the ground truth?</a:t>
            </a:r>
          </a:p>
          <a:p>
            <a:endParaRPr lang="en-US" dirty="0"/>
          </a:p>
          <a:p>
            <a:r>
              <a:rPr lang="en-US" i="1" dirty="0"/>
              <a:t>Pitch Discretization</a:t>
            </a:r>
            <a:endParaRPr lang="en-US" dirty="0"/>
          </a:p>
          <a:p>
            <a:r>
              <a:rPr lang="en-US" i="1" dirty="0"/>
              <a:t>	• (MIDI/score) pitch of individual notes</a:t>
            </a:r>
            <a:endParaRPr lang="en-US" dirty="0"/>
          </a:p>
          <a:p>
            <a:r>
              <a:rPr lang="en-US" i="1" dirty="0"/>
              <a:t>	• F0</a:t>
            </a:r>
            <a:endParaRPr lang="en-US" dirty="0"/>
          </a:p>
          <a:p>
            <a:r>
              <a:rPr lang="en-US" i="1" dirty="0"/>
              <a:t>Time Discretization</a:t>
            </a:r>
            <a:endParaRPr lang="en-US" dirty="0"/>
          </a:p>
          <a:p>
            <a:r>
              <a:rPr lang="en-US" i="1" dirty="0"/>
              <a:t>	• start and stop time of note</a:t>
            </a:r>
            <a:endParaRPr lang="en-US" dirty="0"/>
          </a:p>
          <a:p>
            <a:r>
              <a:rPr lang="en-US" i="1" dirty="0"/>
              <a:t>	• equidistant time stamps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1821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5EDC0-6650-BFB2-16AA-2B695D6B1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BE5A8-0B01-1660-3BAC-0533EDCC2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7" y="271992"/>
            <a:ext cx="10515600" cy="1325563"/>
          </a:xfrm>
        </p:spPr>
        <p:txBody>
          <a:bodyPr/>
          <a:lstStyle/>
          <a:p>
            <a:r>
              <a:rPr lang="en-US" b="1" dirty="0"/>
              <a:t>Evaluation Of Pitch Tracking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F4B9E-C0CF-EFB6-B831-398A769C0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32B082-7229-7157-0E07-5BAD95426EB5}"/>
              </a:ext>
            </a:extLst>
          </p:cNvPr>
          <p:cNvSpPr txBox="1"/>
          <p:nvPr/>
        </p:nvSpPr>
        <p:spPr>
          <a:xfrm>
            <a:off x="835378" y="1911147"/>
            <a:ext cx="1111955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Planning a systematic evaluation of pitch detection systems</a:t>
            </a:r>
          </a:p>
          <a:p>
            <a:endParaRPr lang="en-US" dirty="0"/>
          </a:p>
          <a:p>
            <a:r>
              <a:rPr lang="en-US" b="1" dirty="0"/>
              <a:t>Goal of evaluation: Compare system predicted pitch with ground truth pitch</a:t>
            </a:r>
          </a:p>
          <a:p>
            <a:endParaRPr lang="en-US" b="1" dirty="0"/>
          </a:p>
          <a:p>
            <a:r>
              <a:rPr lang="en-US" dirty="0"/>
              <a:t>What metrics will you calculate in this scenario?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1904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C4FCE-3F32-A976-D9D4-73D02F448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9E76A-8519-0EC3-DBAE-713A27CB6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7" y="271992"/>
            <a:ext cx="10515600" cy="1325563"/>
          </a:xfrm>
        </p:spPr>
        <p:txBody>
          <a:bodyPr/>
          <a:lstStyle/>
          <a:p>
            <a:r>
              <a:rPr lang="en-US" b="1" dirty="0"/>
              <a:t>Evaluation Of Pitch Tracking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6DCBE-2DCE-1B39-4841-D0205083D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82B60D-5676-5B15-04E4-EE681F9AF4AE}"/>
              </a:ext>
            </a:extLst>
          </p:cNvPr>
          <p:cNvSpPr txBox="1"/>
          <p:nvPr/>
        </p:nvSpPr>
        <p:spPr>
          <a:xfrm>
            <a:off x="835378" y="1911147"/>
            <a:ext cx="1111955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Planning a systematic evaluation of pitch detection systems</a:t>
            </a:r>
          </a:p>
          <a:p>
            <a:endParaRPr lang="en-US" dirty="0"/>
          </a:p>
          <a:p>
            <a:r>
              <a:rPr lang="en-US" b="1" dirty="0"/>
              <a:t>Goal of evaluation: Compare system predicted pitch with ground truth pitch</a:t>
            </a:r>
          </a:p>
          <a:p>
            <a:endParaRPr lang="en-US" b="1" dirty="0"/>
          </a:p>
          <a:p>
            <a:r>
              <a:rPr lang="en-US" dirty="0"/>
              <a:t>What metrics will you calculate in this scenario?</a:t>
            </a:r>
          </a:p>
          <a:p>
            <a:endParaRPr lang="en-US" dirty="0"/>
          </a:p>
          <a:p>
            <a:r>
              <a:rPr lang="en-US" b="1" dirty="0"/>
              <a:t>Raw Pitch Accuracy (RPA)</a:t>
            </a:r>
          </a:p>
          <a:p>
            <a:r>
              <a:rPr lang="en-US" b="1" dirty="0"/>
              <a:t>What it measures</a:t>
            </a:r>
            <a:r>
              <a:rPr lang="en-US" dirty="0"/>
              <a:t>: how often your system’s estimated F0 </a:t>
            </a:r>
            <a:r>
              <a:rPr lang="en-US" b="1" dirty="0"/>
              <a:t>exactly matches</a:t>
            </a:r>
            <a:r>
              <a:rPr lang="en-US" dirty="0"/>
              <a:t> the reference F0 (within a tolerance).</a:t>
            </a:r>
          </a:p>
          <a:p>
            <a:endParaRPr lang="en-US" dirty="0"/>
          </a:p>
          <a:p>
            <a:r>
              <a:rPr lang="en-US" b="1" dirty="0"/>
              <a:t>Raw Chroma Accuracy (RCA)</a:t>
            </a:r>
          </a:p>
          <a:p>
            <a:r>
              <a:rPr lang="en-US" b="1" dirty="0"/>
              <a:t>What it measures</a:t>
            </a:r>
            <a:r>
              <a:rPr lang="en-US" dirty="0"/>
              <a:t>: how often your system’s estimated F0 is correct </a:t>
            </a:r>
            <a:r>
              <a:rPr lang="en-US" b="1" dirty="0"/>
              <a:t>up to octave equivalence</a:t>
            </a:r>
            <a:r>
              <a:rPr lang="en-US" dirty="0"/>
              <a:t>. If system detects A3 but the ground truth is A4. (within a tolerance)</a:t>
            </a:r>
          </a:p>
          <a:p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9089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6714D-5443-F3C6-9E8C-EBF7D770B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096A5-E7A5-F655-15C2-89BDF1D4B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7" y="271992"/>
            <a:ext cx="10515600" cy="1325563"/>
          </a:xfrm>
        </p:spPr>
        <p:txBody>
          <a:bodyPr/>
          <a:lstStyle/>
          <a:p>
            <a:r>
              <a:rPr lang="en-US" b="1" dirty="0"/>
              <a:t>Evaluation Of Pitch Tracking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98915-6831-693F-301C-99F907841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1034D8-7D55-FAA1-0181-D331AC6F968C}"/>
              </a:ext>
            </a:extLst>
          </p:cNvPr>
          <p:cNvSpPr txBox="1"/>
          <p:nvPr/>
        </p:nvSpPr>
        <p:spPr>
          <a:xfrm>
            <a:off x="835378" y="1911147"/>
            <a:ext cx="1111955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Planning a systematic evaluation of pitch detection systems</a:t>
            </a:r>
          </a:p>
          <a:p>
            <a:endParaRPr lang="en-US" dirty="0"/>
          </a:p>
          <a:p>
            <a:r>
              <a:rPr lang="en-US" b="1" dirty="0"/>
              <a:t>Goal of evaluation: Compare system predicted pitch with ground truth pitch</a:t>
            </a:r>
          </a:p>
          <a:p>
            <a:endParaRPr lang="en-US" b="1" dirty="0"/>
          </a:p>
          <a:p>
            <a:r>
              <a:rPr lang="en-US" dirty="0"/>
              <a:t>What metrics will you calculate in this scenario?</a:t>
            </a:r>
          </a:p>
          <a:p>
            <a:endParaRPr lang="en-US" dirty="0"/>
          </a:p>
          <a:p>
            <a:r>
              <a:rPr lang="en-US" b="1" dirty="0"/>
              <a:t>Raw Pitch Accuracy (RPA)</a:t>
            </a:r>
          </a:p>
          <a:p>
            <a:endParaRPr lang="en-US" dirty="0"/>
          </a:p>
          <a:p>
            <a:r>
              <a:rPr lang="en-US" b="1" dirty="0"/>
              <a:t> </a:t>
            </a:r>
          </a:p>
        </p:txBody>
      </p:sp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2FFD25AE-3073-6D0D-3FC9-433523E7E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356" y="4350130"/>
            <a:ext cx="4634089" cy="165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610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73B5D-6F04-1819-99E0-66BB3F33A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25933-FB80-6FB5-491D-574061F2E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7" y="271992"/>
            <a:ext cx="10515600" cy="1325563"/>
          </a:xfrm>
        </p:spPr>
        <p:txBody>
          <a:bodyPr/>
          <a:lstStyle/>
          <a:p>
            <a:r>
              <a:rPr lang="en-US" b="1" dirty="0"/>
              <a:t>Evaluation Of Pitch Tracking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A1FFE-801B-A025-A4DD-73631EA6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69DEF3-A38A-91BF-C0AB-43672B4DF5A3}"/>
              </a:ext>
            </a:extLst>
          </p:cNvPr>
          <p:cNvSpPr txBox="1"/>
          <p:nvPr/>
        </p:nvSpPr>
        <p:spPr>
          <a:xfrm>
            <a:off x="835378" y="1911147"/>
            <a:ext cx="1111955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Planning a systematic evaluation of pitch detection systems</a:t>
            </a:r>
          </a:p>
          <a:p>
            <a:endParaRPr lang="en-US" dirty="0"/>
          </a:p>
          <a:p>
            <a:r>
              <a:rPr lang="en-US" b="1" dirty="0"/>
              <a:t>Goal of evaluation: Compare system predicted pitch with ground truth pitch</a:t>
            </a:r>
          </a:p>
          <a:p>
            <a:endParaRPr lang="en-US" b="1" dirty="0"/>
          </a:p>
          <a:p>
            <a:r>
              <a:rPr lang="en-US" dirty="0"/>
              <a:t>What metrics will you calculate in this scenario?</a:t>
            </a:r>
          </a:p>
          <a:p>
            <a:endParaRPr lang="en-US" dirty="0"/>
          </a:p>
          <a:p>
            <a:r>
              <a:rPr lang="en-US" b="1" dirty="0"/>
              <a:t>Raw Chroma Accuracy (RCA)</a:t>
            </a:r>
          </a:p>
          <a:p>
            <a:endParaRPr lang="en-US" dirty="0"/>
          </a:p>
          <a:p>
            <a:r>
              <a:rPr lang="en-US" b="1" dirty="0"/>
              <a:t> </a:t>
            </a:r>
          </a:p>
        </p:txBody>
      </p:sp>
      <p:pic>
        <p:nvPicPr>
          <p:cNvPr id="7" name="Picture 6" descr="A black and white text&#10;&#10;AI-generated content may be incorrect.">
            <a:extLst>
              <a:ext uri="{FF2B5EF4-FFF2-40B4-BE49-F238E27FC236}">
                <a16:creationId xmlns:a16="http://schemas.microsoft.com/office/drawing/2014/main" id="{9F17B2C6-2FAE-1F55-FD0D-E20119948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978" y="4191795"/>
            <a:ext cx="7772400" cy="179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143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3DCCA-B118-ED64-50AD-272D0188B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F4AEF-5753-6AB5-5E1D-5E062263B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7" y="271992"/>
            <a:ext cx="10515600" cy="1325563"/>
          </a:xfrm>
        </p:spPr>
        <p:txBody>
          <a:bodyPr/>
          <a:lstStyle/>
          <a:p>
            <a:r>
              <a:rPr lang="en-US" b="1" dirty="0"/>
              <a:t>Evaluation Of Pitch Tracking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05B6B-22CB-F893-582D-5D4840A17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B1C1FA-CB44-7F75-5E8C-5552EF1B39A2}"/>
              </a:ext>
            </a:extLst>
          </p:cNvPr>
          <p:cNvSpPr txBox="1"/>
          <p:nvPr/>
        </p:nvSpPr>
        <p:spPr>
          <a:xfrm>
            <a:off x="536222" y="1978881"/>
            <a:ext cx="1111955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Practical Workflow for a rule-based system </a:t>
            </a:r>
          </a:p>
          <a:p>
            <a:endParaRPr lang="en-US" sz="3200" dirty="0"/>
          </a:p>
          <a:p>
            <a:pPr marL="342900" indent="-342900">
              <a:buAutoNum type="arabicPeriod"/>
            </a:pPr>
            <a:r>
              <a:rPr lang="en-US" sz="2400" dirty="0"/>
              <a:t>Find an annotated dataset</a:t>
            </a:r>
          </a:p>
          <a:p>
            <a:pPr marL="342900" indent="-342900">
              <a:buAutoNum type="arabicPeriod"/>
            </a:pPr>
            <a:r>
              <a:rPr lang="en-US" sz="2400" dirty="0"/>
              <a:t>Divide the dataset </a:t>
            </a:r>
          </a:p>
          <a:p>
            <a:pPr lvl="1"/>
            <a:r>
              <a:rPr lang="en-US" sz="2400" dirty="0"/>
              <a:t>a. Development Set (pick files that will help you tweak parameters, test and debug)</a:t>
            </a:r>
          </a:p>
          <a:p>
            <a:pPr lvl="1"/>
            <a:r>
              <a:rPr lang="en-US" sz="2400" dirty="0"/>
              <a:t>b. Test Set (unseen data to report metrics) </a:t>
            </a:r>
          </a:p>
          <a:p>
            <a:pPr marL="342900" indent="-342900">
              <a:buFontTx/>
              <a:buAutoNum type="arabicPeriod"/>
            </a:pPr>
            <a:r>
              <a:rPr lang="en-US" sz="2400" dirty="0"/>
              <a:t>Understand the conventions and data structure of your dataset</a:t>
            </a:r>
          </a:p>
          <a:p>
            <a:pPr marL="342900" indent="-342900">
              <a:buFontTx/>
              <a:buAutoNum type="arabicPeriod"/>
            </a:pPr>
            <a:r>
              <a:rPr lang="en-US" sz="2400" dirty="0"/>
              <a:t>Ensure your system output data structure is in line with the data structure of the dataset</a:t>
            </a:r>
          </a:p>
          <a:p>
            <a:r>
              <a:rPr lang="en-US" sz="32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10537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788C1-7D9D-5DF5-5007-739D8303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A269-68A9-85D3-D7D9-551901496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Pair up with your assignment partner, move and sit next to them</a:t>
            </a:r>
          </a:p>
          <a:p>
            <a:r>
              <a:rPr lang="en-US" dirty="0"/>
              <a:t>Download the files from Files/Activities/</a:t>
            </a:r>
            <a:r>
              <a:rPr lang="en-US" dirty="0" err="1"/>
              <a:t>Evalutaion_Annotation</a:t>
            </a:r>
            <a:endParaRPr lang="en-US" dirty="0"/>
          </a:p>
          <a:p>
            <a:r>
              <a:rPr lang="en-US" dirty="0"/>
              <a:t>Create your own Annotated F0 dataset </a:t>
            </a:r>
          </a:p>
          <a:p>
            <a:pPr lvl="1"/>
            <a:r>
              <a:rPr lang="en-US" dirty="0"/>
              <a:t>Come up with your own annotation format; </a:t>
            </a:r>
          </a:p>
          <a:p>
            <a:pPr lvl="1"/>
            <a:r>
              <a:rPr lang="en-US" dirty="0"/>
              <a:t>for </a:t>
            </a:r>
            <a:r>
              <a:rPr lang="en-US" dirty="0" err="1"/>
              <a:t>eg</a:t>
            </a:r>
            <a:r>
              <a:rPr lang="en-US" dirty="0"/>
              <a:t>: [onset time, duration, f0]</a:t>
            </a:r>
          </a:p>
          <a:p>
            <a:r>
              <a:rPr lang="en-US" dirty="0"/>
              <a:t>Write pseudocode for how you would generate metrics with your autocorrelation assignment</a:t>
            </a:r>
          </a:p>
          <a:p>
            <a:r>
              <a:rPr lang="en-US" dirty="0"/>
              <a:t>What changes will you bring to your system/ output of your current code?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AB9E7-DF15-7AFC-C996-958A63230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7251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7767A-550B-A95D-55DE-4A8948253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F5DF7-D403-51AD-CE26-61939F1F7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System Design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 Several musical applications need F0 estimation, such as automatic score transcription or real-time interactive systems, but here again the imperfect reliability of available methods is an obstacle.” </a:t>
            </a:r>
            <a:r>
              <a:rPr lang="en-US" sz="1600" dirty="0"/>
              <a:t>[YIN, a fundamental frequency estimator for speech and music]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39E0C-1A47-5C53-023D-12348F749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E88D4-12FE-C0BD-813D-91DB667C037E}"/>
              </a:ext>
            </a:extLst>
          </p:cNvPr>
          <p:cNvSpPr txBox="1"/>
          <p:nvPr/>
        </p:nvSpPr>
        <p:spPr>
          <a:xfrm>
            <a:off x="2073349" y="2732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41BDFD-A7CE-F471-EB03-134E28BB93CE}"/>
              </a:ext>
            </a:extLst>
          </p:cNvPr>
          <p:cNvSpPr txBox="1">
            <a:spLocks/>
          </p:cNvSpPr>
          <p:nvPr/>
        </p:nvSpPr>
        <p:spPr>
          <a:xfrm>
            <a:off x="838200" y="29075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b="1" dirty="0"/>
              <a:t>Evaluation Of Pitch Tracking Systems</a:t>
            </a:r>
          </a:p>
        </p:txBody>
      </p:sp>
    </p:spTree>
    <p:extLst>
      <p:ext uri="{BB962C8B-B14F-4D97-AF65-F5344CB8AC3E}">
        <p14:creationId xmlns:p14="http://schemas.microsoft.com/office/powerpoint/2010/main" val="2574139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C402E-2B89-E9BA-964F-103DACD4D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643CE-7EA6-A86E-299F-B608E6827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97A71B-5D23-C11F-B160-B9068E50B50B}"/>
              </a:ext>
            </a:extLst>
          </p:cNvPr>
          <p:cNvSpPr txBox="1"/>
          <p:nvPr/>
        </p:nvSpPr>
        <p:spPr>
          <a:xfrm>
            <a:off x="2073349" y="2732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Content Placeholder 8" descr="A diagram of a speech&#10;&#10;AI-generated content may be incorrect.">
            <a:extLst>
              <a:ext uri="{FF2B5EF4-FFF2-40B4-BE49-F238E27FC236}">
                <a16:creationId xmlns:a16="http://schemas.microsoft.com/office/drawing/2014/main" id="{7B9C7349-B0CD-E8AA-B3EA-00A3EF1647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2531" y="1790699"/>
            <a:ext cx="4044604" cy="4351338"/>
          </a:xfrm>
        </p:spPr>
      </p:pic>
      <p:pic>
        <p:nvPicPr>
          <p:cNvPr id="11" name="Picture 10" descr="A diagram of a sound wave&#10;&#10;AI-generated content may be incorrect.">
            <a:extLst>
              <a:ext uri="{FF2B5EF4-FFF2-40B4-BE49-F238E27FC236}">
                <a16:creationId xmlns:a16="http://schemas.microsoft.com/office/drawing/2014/main" id="{A51FB0EE-76EA-CD85-B303-68F31ACE1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863" y="1690688"/>
            <a:ext cx="4748137" cy="4161947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A4022188-78E4-BD7F-7653-61DE40B9B09D}"/>
              </a:ext>
            </a:extLst>
          </p:cNvPr>
          <p:cNvSpPr txBox="1">
            <a:spLocks/>
          </p:cNvSpPr>
          <p:nvPr/>
        </p:nvSpPr>
        <p:spPr>
          <a:xfrm>
            <a:off x="838200" y="29075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b="1" dirty="0"/>
              <a:t>Evaluation Of Pitch Tracking Systems</a:t>
            </a:r>
          </a:p>
        </p:txBody>
      </p:sp>
    </p:spTree>
    <p:extLst>
      <p:ext uri="{BB962C8B-B14F-4D97-AF65-F5344CB8AC3E}">
        <p14:creationId xmlns:p14="http://schemas.microsoft.com/office/powerpoint/2010/main" val="1790532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B0173-A845-E5D6-753F-3A5F20999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AA97F-A47F-9BB5-98FE-CE99592A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CB70E-4F46-1562-BDD5-8442ECF282AB}"/>
              </a:ext>
            </a:extLst>
          </p:cNvPr>
          <p:cNvSpPr txBox="1"/>
          <p:nvPr/>
        </p:nvSpPr>
        <p:spPr>
          <a:xfrm>
            <a:off x="2073349" y="2732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44D079A-B71E-B55A-F9DE-53D5BE744CE0}"/>
              </a:ext>
            </a:extLst>
          </p:cNvPr>
          <p:cNvSpPr txBox="1">
            <a:spLocks/>
          </p:cNvSpPr>
          <p:nvPr/>
        </p:nvSpPr>
        <p:spPr>
          <a:xfrm>
            <a:off x="838200" y="29075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b="1" dirty="0"/>
              <a:t>Evaluation Of Pitch Tracking Systems</a:t>
            </a:r>
          </a:p>
          <a:p>
            <a:r>
              <a:rPr lang="en-US" sz="1600" b="1" dirty="0"/>
              <a:t>Tracking performance improvements: Ablation Study</a:t>
            </a:r>
          </a:p>
        </p:txBody>
      </p:sp>
      <p:pic>
        <p:nvPicPr>
          <p:cNvPr id="7" name="Content Placeholder 6" descr="A screenshot of a test&#10;&#10;AI-generated content may be incorrect.">
            <a:extLst>
              <a:ext uri="{FF2B5EF4-FFF2-40B4-BE49-F238E27FC236}">
                <a16:creationId xmlns:a16="http://schemas.microsoft.com/office/drawing/2014/main" id="{0D5C9EF5-5739-62E2-5B98-90C2911714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566" y="1616315"/>
            <a:ext cx="6880849" cy="4410412"/>
          </a:xfrm>
        </p:spPr>
      </p:pic>
      <p:pic>
        <p:nvPicPr>
          <p:cNvPr id="10" name="Picture 9" descr="A graph of error rate and window size&#10;&#10;AI-generated content may be incorrect.">
            <a:extLst>
              <a:ext uri="{FF2B5EF4-FFF2-40B4-BE49-F238E27FC236}">
                <a16:creationId xmlns:a16="http://schemas.microsoft.com/office/drawing/2014/main" id="{2FC14018-F0FE-E7D9-7692-F182692ED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110" y="1754875"/>
            <a:ext cx="3872995" cy="439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59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4BFEF-940C-7B82-0C0F-E261A83EA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20A66-6343-B50A-84EA-CCBB00862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Fall 2025 Project Expectations &amp; Outcomes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E6E0F-DA33-6EC4-2032-BAEA1F291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85CA3A-F870-58EC-A600-9FAE0CA00C34}"/>
              </a:ext>
            </a:extLst>
          </p:cNvPr>
          <p:cNvSpPr txBox="1"/>
          <p:nvPr/>
        </p:nvSpPr>
        <p:spPr>
          <a:xfrm>
            <a:off x="2073349" y="2732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C9872-7F3D-17C2-8022-07D4106D8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27781"/>
            <a:ext cx="12321915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Pick a relevant MIREX task from: </a:t>
            </a:r>
            <a:r>
              <a:rPr lang="en-US" sz="2400" dirty="0">
                <a:hlinkClick r:id="rId2" tooltip="https://www.music-ir.org/mirex/wiki/2025:previous_tasks"/>
              </a:rPr>
              <a:t>https://www.musicir.org/mirex/wiki/2025:Previous_Tasks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Need to design and submit a packaged system that automatically accepts (audio input) and extracts/ performs the chosen task</a:t>
            </a:r>
          </a:p>
          <a:p>
            <a:r>
              <a:rPr lang="en-US" sz="2400" dirty="0"/>
              <a:t>Design and develop evaluation methodologies to score the performance of their system</a:t>
            </a:r>
          </a:p>
          <a:p>
            <a:pPr lvl="1"/>
            <a:r>
              <a:rPr lang="en-US" sz="2000" dirty="0"/>
              <a:t>using the annotated ground truth data provided in the MIREX task description.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Write a submit a paper describing the task</a:t>
            </a:r>
          </a:p>
          <a:p>
            <a:pPr lvl="1"/>
            <a:r>
              <a:rPr lang="en-US" sz="2000" dirty="0"/>
              <a:t>Paper contains relevant literature survey in support of the current state of the art for the task</a:t>
            </a:r>
          </a:p>
          <a:p>
            <a:pPr lvl="1"/>
            <a:r>
              <a:rPr lang="en-US" sz="2000" dirty="0"/>
              <a:t>describe your methodology and system</a:t>
            </a:r>
          </a:p>
          <a:p>
            <a:pPr lvl="1"/>
            <a:r>
              <a:rPr lang="en-US" sz="2000" dirty="0"/>
              <a:t>evaluation designed</a:t>
            </a:r>
          </a:p>
          <a:p>
            <a:pPr lvl="1"/>
            <a:r>
              <a:rPr lang="en-US" sz="2000" dirty="0"/>
              <a:t> the particular metrics derived from the task.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851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684CA-6E79-3A36-E9E1-107A3D63F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E139-6650-F948-B385-D12C3FE5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Fall 2025 Project Expectations &amp; Outcomes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C183C-CFFE-34B1-E95E-3DB7F0173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5CF10B-F8DA-AE1F-8052-0D66B0131BBA}"/>
              </a:ext>
            </a:extLst>
          </p:cNvPr>
          <p:cNvSpPr txBox="1"/>
          <p:nvPr/>
        </p:nvSpPr>
        <p:spPr>
          <a:xfrm>
            <a:off x="2073349" y="2732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E67768-091E-39AA-BD7D-6E8FC605D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27781"/>
            <a:ext cx="12321915" cy="4351338"/>
          </a:xfrm>
        </p:spPr>
        <p:txBody>
          <a:bodyPr>
            <a:normAutofit/>
          </a:bodyPr>
          <a:lstStyle/>
          <a:p>
            <a:r>
              <a:rPr lang="en-US" dirty="0"/>
              <a:t>Requirements</a:t>
            </a:r>
          </a:p>
          <a:p>
            <a:pPr lvl="1"/>
            <a:r>
              <a:rPr lang="en-US" dirty="0"/>
              <a:t>The task needs to be an Audio Based Task, we have the power to veto any project idea </a:t>
            </a:r>
          </a:p>
          <a:p>
            <a:pPr lvl="1"/>
            <a:r>
              <a:rPr lang="en-US" dirty="0"/>
              <a:t>There are limited slots at a first come first serve basis for each task, so the earlier you form groups and decide on a task you get your pick</a:t>
            </a:r>
          </a:p>
          <a:p>
            <a:pPr lvl="1"/>
            <a:r>
              <a:rPr lang="en-US" dirty="0"/>
              <a:t>Students are allowed to use any library, code resources found online even AI, we expect thoroughness in understanding of the task at hand and attention to detail to the evaluation</a:t>
            </a:r>
          </a:p>
        </p:txBody>
      </p:sp>
    </p:spTree>
    <p:extLst>
      <p:ext uri="{BB962C8B-B14F-4D97-AF65-F5344CB8AC3E}">
        <p14:creationId xmlns:p14="http://schemas.microsoft.com/office/powerpoint/2010/main" val="1384175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_symbolic_audio" id="{A9474E27-5F1C-CC4D-940A-6E6E225D7E8F}" vid="{64BFA1BE-9B83-8F4F-89F2-EDE9A139FD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3768A1BC7A9C42861D0CC70843CDBA" ma:contentTypeVersion="10" ma:contentTypeDescription="Create a new document." ma:contentTypeScope="" ma:versionID="72c13479c3d8946c76e3292577a76652">
  <xsd:schema xmlns:xsd="http://www.w3.org/2001/XMLSchema" xmlns:xs="http://www.w3.org/2001/XMLSchema" xmlns:p="http://schemas.microsoft.com/office/2006/metadata/properties" xmlns:ns2="a471c273-33e5-4b0d-b9cc-d9b6330ca405" xmlns:ns3="dd3d566f-9fef-45f4-8127-a2b16b1f23e9" targetNamespace="http://schemas.microsoft.com/office/2006/metadata/properties" ma:root="true" ma:fieldsID="ae77b615c5b855a9c8aae40fb715882f" ns2:_="" ns3:_="">
    <xsd:import namespace="a471c273-33e5-4b0d-b9cc-d9b6330ca405"/>
    <xsd:import namespace="dd3d566f-9fef-45f4-8127-a2b16b1f23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71c273-33e5-4b0d-b9cc-d9b6330ca4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c2506c3-735d-4e70-aa79-204d06275b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3d566f-9fef-45f4-8127-a2b16b1f23e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cf4f890-be8a-4cfc-8b20-d2e191234cc1}" ma:internalName="TaxCatchAll" ma:showField="CatchAllData" ma:web="dd3d566f-9fef-45f4-8127-a2b16b1f23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3d566f-9fef-45f4-8127-a2b16b1f23e9" xsi:nil="true"/>
    <lcf76f155ced4ddcb4097134ff3c332f xmlns="a471c273-33e5-4b0d-b9cc-d9b6330ca40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B932F7C-1677-4D96-9ADF-310D4A6341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2D221A-3963-4612-8A65-AA82A1B73F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71c273-33e5-4b0d-b9cc-d9b6330ca405"/>
    <ds:schemaRef ds:uri="dd3d566f-9fef-45f4-8127-a2b16b1f23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4DB9A43-DB0B-4F19-8E3A-6775C112A4EB}">
  <ds:schemaRefs>
    <ds:schemaRef ds:uri="http://purl.org/dc/dcmitype/"/>
    <ds:schemaRef ds:uri="a471c273-33e5-4b0d-b9cc-d9b6330ca405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dd3d566f-9fef-45f4-8127-a2b16b1f23e9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680</TotalTime>
  <Words>1274</Words>
  <Application>Microsoft Macintosh PowerPoint</Application>
  <PresentationFormat>Widescreen</PresentationFormat>
  <Paragraphs>245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Century Gothic</vt:lpstr>
      <vt:lpstr>Manrope Var</vt:lpstr>
      <vt:lpstr>Office Theme</vt:lpstr>
      <vt:lpstr>  Computational Music Analysis:         Audio</vt:lpstr>
      <vt:lpstr>Agenda</vt:lpstr>
      <vt:lpstr>Review Of Assignment F0 Detection</vt:lpstr>
      <vt:lpstr>Review Of Assignment F0 Detection</vt:lpstr>
      <vt:lpstr>Review Of Assignment F0 Detection</vt:lpstr>
      <vt:lpstr>Review Of Assignment F0 Detection</vt:lpstr>
      <vt:lpstr>Review Of Assignment F0 Detection</vt:lpstr>
      <vt:lpstr>Review Of Assignment F0 Detection</vt:lpstr>
      <vt:lpstr>Review Of Assignment F0 Detection</vt:lpstr>
      <vt:lpstr>Review Of Assignment F0 Detection</vt:lpstr>
      <vt:lpstr>Review Of Assignment F0 Detection</vt:lpstr>
      <vt:lpstr>Review Of Assignment F0 Detection</vt:lpstr>
      <vt:lpstr>Review Of Assignment F0 Detection</vt:lpstr>
      <vt:lpstr>Evaluation Of Pitch Tracking Systems</vt:lpstr>
      <vt:lpstr>Evaluation Of Pitch Tracking Systems</vt:lpstr>
      <vt:lpstr>Evaluation Of Pitch Tracking Systems</vt:lpstr>
      <vt:lpstr>Evaluation Of Pitch Tracking Systems</vt:lpstr>
      <vt:lpstr>Evaluation Of Pitch Tracking Systems</vt:lpstr>
      <vt:lpstr>Evaluation Of Pitch Tracking Systems</vt:lpstr>
      <vt:lpstr>Evaluation Of Pitch Tracking Systems</vt:lpstr>
      <vt:lpstr>Evaluation Of Pitch Tracking Systems</vt:lpstr>
      <vt:lpstr>Evaluation Of Pitch Tracking Systems</vt:lpstr>
      <vt:lpstr>Activity</vt:lpstr>
      <vt:lpstr>PowerPoint Presentation</vt:lpstr>
      <vt:lpstr>PowerPoint Presentation</vt:lpstr>
      <vt:lpstr>PowerPoint Presentation</vt:lpstr>
      <vt:lpstr>Fall 2025 Project Expectations &amp; Outcomes</vt:lpstr>
      <vt:lpstr>Fall 2025 Project Expectations &amp;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Alben, Noel</dc:creator>
  <cp:lastModifiedBy>Alben, Noel</cp:lastModifiedBy>
  <cp:revision>2</cp:revision>
  <dcterms:created xsi:type="dcterms:W3CDTF">2025-09-18T01:20:35Z</dcterms:created>
  <dcterms:modified xsi:type="dcterms:W3CDTF">2025-09-18T12:40:48Z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0x010100F23768A1BC7A9C42861D0CC70843CDBA</vt:lpwstr>
  </property>
</Properties>
</file>