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71" r:id="rId15"/>
    <p:sldId id="267" r:id="rId16"/>
    <p:sldId id="269" r:id="rId17"/>
    <p:sldId id="272" r:id="rId18"/>
    <p:sldId id="273" r:id="rId19"/>
    <p:sldId id="274" r:id="rId20"/>
    <p:sldId id="275" r:id="rId21"/>
    <p:sldId id="270" r:id="rId22"/>
    <p:sldId id="276" r:id="rId23"/>
    <p:sldId id="277" r:id="rId24"/>
    <p:sldId id="268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564"/>
  </p:normalViewPr>
  <p:slideViewPr>
    <p:cSldViewPr snapToGrid="0">
      <p:cViewPr varScale="1">
        <p:scale>
          <a:sx n="104" d="100"/>
          <a:sy n="104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209AB-CE13-044F-8E06-B2C9AA580BB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FB911-8C40-0744-863F-098B7E0F5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CD73-A936-3525-D168-7736C3BC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10D98-56AC-2479-AACB-7073FDDA2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F3B7-3A64-41E1-8594-FFD2907E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B12-1383-AD42-92AD-77DF7C3AFF50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1BBD-4401-485F-190D-A98E3BF6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AE45C-1BD0-2BD9-078C-EF7ABB5A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3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7737A7BC-A701-C931-78B0-710547DE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t="4385" b="48947"/>
          <a:stretch/>
        </p:blipFill>
        <p:spPr>
          <a:xfrm>
            <a:off x="0" y="0"/>
            <a:ext cx="12192000" cy="16462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1A9918-6A8E-071E-1832-2B1BE0CB5515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0F202-A2B5-1F52-B239-EFF9F448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DB86-D379-F460-FE0C-0E7815A50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A0D3-3893-74C2-9FC4-AE58A8A1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76963"/>
            <a:ext cx="7010400" cy="68103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r>
              <a:rPr lang="en-US" dirty="0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4B2DC-3883-01BA-4B44-3C940F91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479" y="6279119"/>
            <a:ext cx="1020921" cy="442356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6A096487-9F84-9248-ABAD-35D09817155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1AEFDCCA-5818-25F6-C79D-B13258DB2C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784" y="6106002"/>
            <a:ext cx="2588895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284B-1505-059C-4E86-07470FF3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6643A-91BA-C205-AB5C-9D56A8998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716C-8BE7-4144-6640-E2469CFC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02F25-D426-C543-9B23-205D2299CECD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F8DF-AAFD-A424-EC7B-281EAAD2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A4B5-89A5-8CBC-3476-A4C57613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8BB3-28A3-A7FC-B2CE-79FEAC78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0496-02E4-0845-BAD0-DDB3A1F9E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C4EF-4ED9-A2CB-A367-3B5205894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E1ABE-7B07-90DD-30B9-616BE312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9AE0-DD93-284C-9C9F-51936DBCE396}" type="datetime1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7496C-916B-4D94-1656-B7239D33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0B8C-5FBF-978F-5CD6-D9988E25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422-2E90-E698-F3A2-53287F84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45A94-F9A9-EC9C-AB5C-DF1B14C94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06938-0A3E-50E1-DF08-A745EFF2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81DAD-9171-E93D-5F7D-F34851FCE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C279B-A01E-F93C-71E9-0A42CC2D3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1DA52-7302-B5F8-3F44-11A8BC0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3AFD-D178-EE41-80F7-DC6EDDFDB254}" type="datetime1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6ECA9-46C1-1831-B789-BF1F974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8F16D8-0C07-732E-C0A9-3F3C37B1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0184-B174-6828-E23E-B03B4CEF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154B-F6A4-86EC-7FCE-E0618A17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60B4-C6F2-2746-AEAE-93CD670CBEEA}" type="datetime1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8C3F6-1749-E4B2-64DE-84B3B35D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A66B3-4ECA-C278-30AB-571D57D7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4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97711-2F89-5898-C20A-5FF8FCF6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F044-B807-1649-8A83-2DAF1C345290}" type="datetime1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DF91B-B0ED-8C83-B58E-8ACAFDEE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2AB8B-FD07-CC0B-6221-CA08F063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6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2C1-78E6-E979-1D0C-2D9F6F1F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EC336-6F0C-056C-9588-21DBE72B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CB36E-E619-E817-6BAC-AA1BB8AAF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51BE-61C8-6F6D-0F0F-00CFBF6A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10E8-FEC3-224C-BEC8-D2B494C4B665}" type="datetime1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3603-AE57-7A85-2C95-9D4DD502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C3055-F56A-4230-8427-F22E2620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F2F2-8C7A-54DB-E738-440EE602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8082D-C588-0A24-3B48-DBE339C95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A2C9B-7E14-CAAB-B99C-E907D6CD5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F2796-E8DA-A43E-85D0-49478141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F3156-90CC-C346-A118-874197777E80}" type="datetime1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66EA5-3707-C2FC-828E-19CAC30C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F18BA-543F-0585-BD77-A6D1CB7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5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4AAA-DDEE-931C-D5BD-BF261710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19534-BF98-74C0-9009-7C9F7591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85AF-DD00-8B1E-835A-B675164F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26CA-4F64-3446-A1E2-D20833F95A9C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58AC-AA8D-30FE-7162-B5B21D88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5B78-4F8D-4D67-991F-37FD16E9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9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9D641-EE3D-8A52-801C-7D5B60B1B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962E2-E03E-856E-8782-FEA095CB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B5918-BEC0-4F6D-EE90-89DE996C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FEDB-3B76-0A4D-848C-0B586EEDAA33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B72E-005F-53D0-B94E-0A947CC5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72FB-9AEC-5A4F-6157-85584CB1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1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F7DE5-201F-F2C6-0C14-75F49673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CDAD3-AD4F-06B8-9148-92661282A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6133-D25A-B5EC-7530-BDA51BEBD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63B22-8BEB-9B48-8AD9-ED6DDFA1D91D}" type="datetime1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4EE8-903A-E548-4A2D-F025F61F4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45F9-9087-2E0E-C9EC-58AA46F1D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ZHQObOWTQDPD3MizzM2xVFitgF8hE_ab" TargetMode="External"/><Relationship Id="rId2" Type="http://schemas.openxmlformats.org/officeDocument/2006/relationships/hyperlink" Target="https://sites.gatech.edu/mfml-fall-2023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vanderlei.github.io/jupyter-guide-to-linear-algebra/Planar_Transformations.html" TargetMode="External"/><Relationship Id="rId4" Type="http://schemas.openxmlformats.org/officeDocument/2006/relationships/hyperlink" Target="https://www.audiolabs-erlangen.de/media/pages/fau/professor/mueller/publications/3e4cd56cfb-1560756948/2019_LopezSerranoDOM_NMF_DAFx.pd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limneguzellan.net/en/purrier-series-meow-and-making-images-speak/" TargetMode="External"/><Relationship Id="rId2" Type="http://schemas.openxmlformats.org/officeDocument/2006/relationships/hyperlink" Target="https://www.myfourierepicycles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audiolabs-erlangen.de/media/pages/resources/aps-w23/papers/7ef50065d9-1663763115/2010_FitzGerald_HarmonicPercussiveSep_DAFx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sprelated.com/freebooks/filters/Matrix_Filter_Representations.html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umpy.org/doc/2.3/reference/generated/numpy.linalg.eig.html" TargetMode="External"/><Relationship Id="rId4" Type="http://schemas.openxmlformats.org/officeDocument/2006/relationships/hyperlink" Target="https://www.youtube.com/watch?v=fAxHlLK3Oyk&amp;list=RDfAxHlLK3Oyk&amp;start_radio=1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18654B00-653E-11D2-07C9-93786F65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5912"/>
            <a:ext cx="12192000" cy="28209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16661-6C75-1D2A-5269-D4A880F4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090399" cy="1993113"/>
          </a:xfrm>
        </p:spPr>
        <p:txBody>
          <a:bodyPr/>
          <a:lstStyle/>
          <a:p>
            <a:pPr algn="l"/>
            <a:r>
              <a:rPr lang="en-US" dirty="0">
                <a:latin typeface="Century Gothic" panose="020B0502020202020204" pitchFamily="34" charset="0"/>
              </a:rPr>
              <a:t>  Computational Music Analysis:      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dirty="0">
                <a:latin typeface="Century Gothic" panose="020B0502020202020204" pitchFamily="34" charset="0"/>
              </a:rPr>
              <a:t>  Audio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2C9D1-C445-DADC-1023-1FDAD6607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4209" y="1351971"/>
            <a:ext cx="9144000" cy="5395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 Gothic" panose="020B0502020202020204" pitchFamily="34" charset="0"/>
              </a:rPr>
              <a:t>A.K.A. “Audio Content Analysis”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D9156-A9F0-C927-E33D-E700556DFC22}"/>
              </a:ext>
            </a:extLst>
          </p:cNvPr>
          <p:cNvSpPr txBox="1"/>
          <p:nvPr/>
        </p:nvSpPr>
        <p:spPr>
          <a:xfrm>
            <a:off x="326720" y="5742252"/>
            <a:ext cx="8141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Claire Arthur</a:t>
            </a:r>
          </a:p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Noël Alben</a:t>
            </a: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C08F9358-A231-F7BB-9BEB-4ECB615E5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176" y="5742252"/>
            <a:ext cx="3168824" cy="10073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4F8731-5FB0-751B-5AB2-6FF696F33B69}"/>
              </a:ext>
            </a:extLst>
          </p:cNvPr>
          <p:cNvSpPr txBox="1"/>
          <p:nvPr/>
        </p:nvSpPr>
        <p:spPr>
          <a:xfrm>
            <a:off x="377521" y="2222278"/>
            <a:ext cx="571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Linear Algebra Primer</a:t>
            </a:r>
          </a:p>
        </p:txBody>
      </p:sp>
    </p:spTree>
    <p:extLst>
      <p:ext uri="{BB962C8B-B14F-4D97-AF65-F5344CB8AC3E}">
        <p14:creationId xmlns:p14="http://schemas.microsoft.com/office/powerpoint/2010/main" val="12294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8BA4-5254-6A4D-D484-FFCD35D1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E87B-0373-C75A-0E73-EC45A346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Vectors</a:t>
            </a:r>
          </a:p>
          <a:p>
            <a:pPr lvl="1"/>
            <a:r>
              <a:rPr lang="en-US" dirty="0"/>
              <a:t>Vector Operations </a:t>
            </a:r>
          </a:p>
          <a:p>
            <a:pPr lvl="1"/>
            <a:r>
              <a:rPr lang="en-US" dirty="0"/>
              <a:t>Basis vectors, Linear Independence </a:t>
            </a:r>
          </a:p>
          <a:p>
            <a:r>
              <a:rPr lang="en-US" dirty="0"/>
              <a:t>Matrices</a:t>
            </a:r>
          </a:p>
          <a:p>
            <a:pPr lvl="1"/>
            <a:r>
              <a:rPr lang="en-US" dirty="0"/>
              <a:t>Matrix Operations </a:t>
            </a:r>
          </a:p>
          <a:p>
            <a:pPr lvl="1"/>
            <a:r>
              <a:rPr lang="en-US" dirty="0"/>
              <a:t>Matrix Factorization</a:t>
            </a:r>
          </a:p>
          <a:p>
            <a:r>
              <a:rPr lang="en-US" dirty="0"/>
              <a:t>Eigen Values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55B3F-06BE-F84B-5FA9-19D35B25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103F-FD11-D619-8210-2F8299FD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</p:spTree>
    <p:extLst>
      <p:ext uri="{BB962C8B-B14F-4D97-AF65-F5344CB8AC3E}">
        <p14:creationId xmlns:p14="http://schemas.microsoft.com/office/powerpoint/2010/main" val="744684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8A49-F9CA-E2F3-BF2E-32A7A07A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E094-6D48-683E-76C3-3F274B9A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834E8-4490-A11A-5C6A-0B0D4479B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Vectors</a:t>
            </a:r>
          </a:p>
          <a:p>
            <a:pPr lvl="1"/>
            <a:r>
              <a:rPr lang="en-US" dirty="0"/>
              <a:t>Vector Operations </a:t>
            </a:r>
          </a:p>
          <a:p>
            <a:pPr lvl="1"/>
            <a:r>
              <a:rPr lang="en-US" dirty="0"/>
              <a:t>Basis vectors, Linear Independence</a:t>
            </a:r>
          </a:p>
          <a:p>
            <a:r>
              <a:rPr lang="en-US" dirty="0"/>
              <a:t>Matrices</a:t>
            </a:r>
          </a:p>
          <a:p>
            <a:pPr lvl="1"/>
            <a:r>
              <a:rPr lang="en-US" dirty="0"/>
              <a:t>Matrix Operations </a:t>
            </a:r>
          </a:p>
          <a:p>
            <a:pPr lvl="1"/>
            <a:r>
              <a:rPr lang="en-US" dirty="0"/>
              <a:t>Matrix Factorization</a:t>
            </a:r>
          </a:p>
          <a:p>
            <a:r>
              <a:rPr lang="en-US" dirty="0"/>
              <a:t>Eigen Values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8517A-5880-7296-15F4-9072DE15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DE596-6C3C-744F-C843-9D42A3E5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C32AB-F16D-0A63-1B1F-B84FC1AF69C3}"/>
              </a:ext>
            </a:extLst>
          </p:cNvPr>
          <p:cNvSpPr txBox="1"/>
          <p:nvPr/>
        </p:nvSpPr>
        <p:spPr>
          <a:xfrm>
            <a:off x="6772939" y="1998921"/>
            <a:ext cx="51886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lecture is derived from multiple sources and meant to give a quick &amp; terse overview of some fundamental mathematical concepts that will be helpful moving forward.</a:t>
            </a:r>
          </a:p>
          <a:p>
            <a:br>
              <a:rPr lang="en-US" dirty="0"/>
            </a:br>
            <a:r>
              <a:rPr lang="en-US" dirty="0"/>
              <a:t>1. </a:t>
            </a:r>
            <a:r>
              <a:rPr lang="en-US" dirty="0">
                <a:hlinkClick r:id="rId2"/>
              </a:rPr>
              <a:t>https://sites.gatech.edu/mfml-fall-2023/</a:t>
            </a:r>
            <a:endParaRPr lang="en-US" dirty="0"/>
          </a:p>
          <a:p>
            <a:r>
              <a:rPr lang="en-US" dirty="0"/>
              <a:t>2.</a:t>
            </a:r>
            <a:r>
              <a:rPr lang="en-US" dirty="0">
                <a:hlinkClick r:id="rId3"/>
              </a:rPr>
              <a:t>https://www.youtube.com/playlist?list=PLZHQObOWTQDPD3MizzM2xVFitgF8hE_ab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>
                <a:hlinkClick r:id="rId4"/>
              </a:rPr>
              <a:t>https://www.audiolabs-erlangen.de/media/pages/fau/professor/mueller/publications/3e4cd56cfb-1560756948/2019_LopezSerranoDOM_NMF_DAFx.pdf</a:t>
            </a:r>
            <a:endParaRPr lang="en-US" dirty="0"/>
          </a:p>
          <a:p>
            <a:r>
              <a:rPr lang="en-US" dirty="0"/>
              <a:t>4. </a:t>
            </a:r>
            <a:r>
              <a:rPr lang="en-US" dirty="0">
                <a:hlinkClick r:id="rId5"/>
              </a:rPr>
              <a:t>https://bvanderlei.github.io/jupyter-guide-to-linear-algebra/Planar_Transformations.html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0058C49-5022-31A2-F9A8-5CB17D83AD2C}"/>
              </a:ext>
            </a:extLst>
          </p:cNvPr>
          <p:cNvSpPr txBox="1">
            <a:spLocks/>
          </p:cNvSpPr>
          <p:nvPr/>
        </p:nvSpPr>
        <p:spPr>
          <a:xfrm>
            <a:off x="838200" y="6176963"/>
            <a:ext cx="7010400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Topic: Linear Algebra Primer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950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27DD-A795-18A3-ADD0-877B55761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A2B6-05D1-103F-703C-7A8F39C5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E5EA0-3568-D27B-8D68-12512B3DB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4113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B6226-DAE9-E8A1-AC3E-7CDEB8F2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96654-DBF5-9548-612A-CDD973208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14759E-8396-A0FC-6DBF-6269C8010B91}"/>
              </a:ext>
            </a:extLst>
          </p:cNvPr>
          <p:cNvSpPr txBox="1">
            <a:spLocks/>
          </p:cNvSpPr>
          <p:nvPr/>
        </p:nvSpPr>
        <p:spPr>
          <a:xfrm>
            <a:off x="685800" y="20337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EA6702-9E82-2E1C-D2B0-F63E9FC4B924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41473-02EE-AD27-A589-372D0D9D1C20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55D3C4F3-B748-206C-923A-FF27F7E1B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60" y="1883196"/>
            <a:ext cx="9850279" cy="3957411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A47C713-F464-E27F-8259-2FBE0C025335}"/>
              </a:ext>
            </a:extLst>
          </p:cNvPr>
          <p:cNvSpPr txBox="1">
            <a:spLocks/>
          </p:cNvSpPr>
          <p:nvPr/>
        </p:nvSpPr>
        <p:spPr>
          <a:xfrm>
            <a:off x="838200" y="6176963"/>
            <a:ext cx="7010400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Topic: Linear Algebra Primer</a:t>
            </a:r>
          </a:p>
        </p:txBody>
      </p:sp>
    </p:spTree>
    <p:extLst>
      <p:ext uri="{BB962C8B-B14F-4D97-AF65-F5344CB8AC3E}">
        <p14:creationId xmlns:p14="http://schemas.microsoft.com/office/powerpoint/2010/main" val="29865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7A99-EDB7-0355-DDCE-7D011096D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64A3-78BB-502B-B68D-07285CCB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C3742-5B26-407B-F52A-97FA051CA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4113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Audio Analogy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AE08E-6EAE-5F55-EFBE-46B79D7E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24BAB-4603-3B1F-DC74-6F70DBAF4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A284A8-E59B-0894-8CD9-90E0A2C26539}"/>
              </a:ext>
            </a:extLst>
          </p:cNvPr>
          <p:cNvSpPr txBox="1">
            <a:spLocks/>
          </p:cNvSpPr>
          <p:nvPr/>
        </p:nvSpPr>
        <p:spPr>
          <a:xfrm>
            <a:off x="685800" y="20337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1FF6B7-3068-3077-D92A-A87282F7DEA9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7211A-6024-540C-EA88-8331D60DC251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83B52F-3566-081A-3622-EA8B97CC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44" y="5041103"/>
            <a:ext cx="7807363" cy="494724"/>
          </a:xfrm>
          <a:prstGeom prst="rect">
            <a:avLst/>
          </a:prstGeom>
        </p:spPr>
      </p:pic>
      <p:pic>
        <p:nvPicPr>
          <p:cNvPr id="15" name="Picture 14" descr="A blue and white graph&#10;&#10;AI-generated content may be incorrect.">
            <a:extLst>
              <a:ext uri="{FF2B5EF4-FFF2-40B4-BE49-F238E27FC236}">
                <a16:creationId xmlns:a16="http://schemas.microsoft.com/office/drawing/2014/main" id="{1DEAC35E-2410-74DB-6DC2-85B278383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44" y="2363676"/>
            <a:ext cx="3410155" cy="2427759"/>
          </a:xfrm>
          <a:prstGeom prst="rect">
            <a:avLst/>
          </a:prstGeom>
        </p:spPr>
      </p:pic>
      <p:pic>
        <p:nvPicPr>
          <p:cNvPr id="17" name="Picture 16" descr="A number and mathematical symbols&#10;&#10;AI-generated content may be incorrect.">
            <a:extLst>
              <a:ext uri="{FF2B5EF4-FFF2-40B4-BE49-F238E27FC236}">
                <a16:creationId xmlns:a16="http://schemas.microsoft.com/office/drawing/2014/main" id="{D2F8BC59-7205-9EC5-AEBB-5ECD778AF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243" y="2946241"/>
            <a:ext cx="5641708" cy="11080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0E62EA-0D9E-6CF5-2CD7-2440D0BABFC7}"/>
              </a:ext>
            </a:extLst>
          </p:cNvPr>
          <p:cNvSpPr txBox="1"/>
          <p:nvPr/>
        </p:nvSpPr>
        <p:spPr>
          <a:xfrm>
            <a:off x="5137125" y="2582178"/>
            <a:ext cx="658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sample is a scaled value of a discrete point on the time axis</a:t>
            </a:r>
          </a:p>
        </p:txBody>
      </p:sp>
    </p:spTree>
    <p:extLst>
      <p:ext uri="{BB962C8B-B14F-4D97-AF65-F5344CB8AC3E}">
        <p14:creationId xmlns:p14="http://schemas.microsoft.com/office/powerpoint/2010/main" val="184817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FFF5-5782-6C4F-3090-E260B3F4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F8BA-CBF1-EF6E-6049-E271E54D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F6328-1856-6CE0-2D95-A026A70E9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4113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C6E6C-938B-7B00-D673-027C7007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CD374-FF40-8717-F0E4-80D5E053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D4439EB-830F-CF77-8837-7DC695FFC5EB}"/>
              </a:ext>
            </a:extLst>
          </p:cNvPr>
          <p:cNvSpPr txBox="1">
            <a:spLocks/>
          </p:cNvSpPr>
          <p:nvPr/>
        </p:nvSpPr>
        <p:spPr>
          <a:xfrm>
            <a:off x="685800" y="20337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879CC-1CD8-BFAD-82D3-204443E40FEC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77052C-171B-3BBE-DA8E-6035BB3B1D76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5A81E69B-791A-66ED-F4DE-E6C6FE95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67" y="2177670"/>
            <a:ext cx="10952933" cy="20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8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695A-47BE-13B5-114F-8EF669C9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3F5B-FFCB-9E89-43F7-44C3116C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2196A-B4DD-DE60-FE54-E6318EB50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4113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Audio Analogy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FA833-FD57-FB39-8778-372D09B2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E88A8-B163-5EA8-D437-65244600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C94CF7-44BC-1F55-CC1B-E15FCD4DB6AF}"/>
              </a:ext>
            </a:extLst>
          </p:cNvPr>
          <p:cNvSpPr txBox="1">
            <a:spLocks/>
          </p:cNvSpPr>
          <p:nvPr/>
        </p:nvSpPr>
        <p:spPr>
          <a:xfrm>
            <a:off x="685800" y="20337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30B3C-2B87-763A-8879-5B41F6002027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3D851-DFE4-A820-352F-0FB4BEA563DC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5" name="Picture 14" descr="A blue and white graph&#10;&#10;AI-generated content may be incorrect.">
            <a:extLst>
              <a:ext uri="{FF2B5EF4-FFF2-40B4-BE49-F238E27FC236}">
                <a16:creationId xmlns:a16="http://schemas.microsoft.com/office/drawing/2014/main" id="{8E9077EC-2E34-A454-41EE-A363A7612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5" y="2323562"/>
            <a:ext cx="3410155" cy="2427759"/>
          </a:xfrm>
          <a:prstGeom prst="rect">
            <a:avLst/>
          </a:prstGeom>
        </p:spPr>
      </p:pic>
      <p:pic>
        <p:nvPicPr>
          <p:cNvPr id="8" name="Picture 7" descr="A blue and white graph&#10;&#10;AI-generated content may be incorrect.">
            <a:extLst>
              <a:ext uri="{FF2B5EF4-FFF2-40B4-BE49-F238E27FC236}">
                <a16:creationId xmlns:a16="http://schemas.microsoft.com/office/drawing/2014/main" id="{90A98B7C-7E0B-D007-7D45-2A1E8A17B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677" y="2261619"/>
            <a:ext cx="3586591" cy="2596392"/>
          </a:xfrm>
          <a:prstGeom prst="rect">
            <a:avLst/>
          </a:prstGeom>
        </p:spPr>
      </p:pic>
      <p:pic>
        <p:nvPicPr>
          <p:cNvPr id="13" name="Picture 12" descr="A blue and white graph&#10;&#10;AI-generated content may be incorrect.">
            <a:extLst>
              <a:ext uri="{FF2B5EF4-FFF2-40B4-BE49-F238E27FC236}">
                <a16:creationId xmlns:a16="http://schemas.microsoft.com/office/drawing/2014/main" id="{1D0B9D8F-8469-3A62-2039-D1482D2B5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77" y="2366684"/>
            <a:ext cx="3517429" cy="242775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D8F99E-A728-A67E-B6B6-6228D72D7AAD}"/>
                  </a:ext>
                </a:extLst>
              </p:cNvPr>
              <p:cNvSpPr txBox="1"/>
              <p:nvPr/>
            </p:nvSpPr>
            <p:spPr>
              <a:xfrm>
                <a:off x="1305202" y="2118140"/>
                <a:ext cx="908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D8F99E-A728-A67E-B6B6-6228D72D7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202" y="2118140"/>
                <a:ext cx="908197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78E3BE-7129-549C-217A-C8AA78F97569}"/>
                  </a:ext>
                </a:extLst>
              </p:cNvPr>
              <p:cNvSpPr txBox="1"/>
              <p:nvPr/>
            </p:nvSpPr>
            <p:spPr>
              <a:xfrm>
                <a:off x="4683026" y="2078527"/>
                <a:ext cx="908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78E3BE-7129-549C-217A-C8AA78F97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026" y="2078527"/>
                <a:ext cx="908197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AB4352-7CAC-E650-5107-1ED8D906BF1A}"/>
                  </a:ext>
                </a:extLst>
              </p:cNvPr>
              <p:cNvSpPr txBox="1"/>
              <p:nvPr/>
            </p:nvSpPr>
            <p:spPr>
              <a:xfrm>
                <a:off x="7958792" y="2020852"/>
                <a:ext cx="1084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0.2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AB4352-7CAC-E650-5107-1ED8D906B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792" y="2020852"/>
                <a:ext cx="1084528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ED73BD3-0952-DA0E-9EA2-1C6A03A9A4D5}"/>
              </a:ext>
            </a:extLst>
          </p:cNvPr>
          <p:cNvSpPr txBox="1"/>
          <p:nvPr/>
        </p:nvSpPr>
        <p:spPr>
          <a:xfrm>
            <a:off x="376453" y="4866942"/>
            <a:ext cx="46776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Performing linear operations on audio vectors</a:t>
            </a:r>
          </a:p>
          <a:p>
            <a:endParaRPr lang="en-US" dirty="0"/>
          </a:p>
          <a:p>
            <a:r>
              <a:rPr lang="en-US" dirty="0"/>
              <a:t>Scaling the values of the audio signals</a:t>
            </a:r>
          </a:p>
          <a:p>
            <a:r>
              <a:rPr lang="en-US" dirty="0"/>
              <a:t>Adding the audio signals linearly</a:t>
            </a:r>
          </a:p>
        </p:txBody>
      </p:sp>
    </p:spTree>
    <p:extLst>
      <p:ext uri="{BB962C8B-B14F-4D97-AF65-F5344CB8AC3E}">
        <p14:creationId xmlns:p14="http://schemas.microsoft.com/office/powerpoint/2010/main" val="71369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39008-C592-01E9-7A30-DE4E059D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B5E55-C760-687F-BF59-FC5F814A6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7E30C-F96B-2884-876E-3F3DCD1E4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4113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Audio Analogy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CA1C-FCB5-0539-4FFE-20FE4ED3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D2345-B80B-B498-9F01-05D22FC87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02960C-7004-86F3-134B-CC1397908148}"/>
              </a:ext>
            </a:extLst>
          </p:cNvPr>
          <p:cNvSpPr txBox="1">
            <a:spLocks/>
          </p:cNvSpPr>
          <p:nvPr/>
        </p:nvSpPr>
        <p:spPr>
          <a:xfrm>
            <a:off x="685800" y="20337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85EC98-73AE-22DD-D0E7-AEB71526A469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28246-F805-000A-F4CA-0D742FDFCCCE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B672DE-9908-7113-DE72-AA0368F12FB6}"/>
                  </a:ext>
                </a:extLst>
              </p:cNvPr>
              <p:cNvSpPr txBox="1"/>
              <p:nvPr/>
            </p:nvSpPr>
            <p:spPr>
              <a:xfrm>
                <a:off x="685799" y="2623689"/>
                <a:ext cx="43550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1*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data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2*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data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3*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data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B672DE-9908-7113-DE72-AA0368F12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2623689"/>
                <a:ext cx="4355043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22B3F5E-8404-22D0-AA8F-63DC8EF4383E}"/>
              </a:ext>
            </a:extLst>
          </p:cNvPr>
          <p:cNvSpPr txBox="1"/>
          <p:nvPr/>
        </p:nvSpPr>
        <p:spPr>
          <a:xfrm>
            <a:off x="558800" y="3232432"/>
            <a:ext cx="46776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Performing linear operations on audio vectors</a:t>
            </a:r>
          </a:p>
          <a:p>
            <a:endParaRPr lang="en-US" dirty="0"/>
          </a:p>
          <a:p>
            <a:r>
              <a:rPr lang="en-US" dirty="0"/>
              <a:t>Scaling the values of the audio signals</a:t>
            </a:r>
          </a:p>
          <a:p>
            <a:r>
              <a:rPr lang="en-US" dirty="0"/>
              <a:t>Adding the audio signals linearly</a:t>
            </a:r>
          </a:p>
        </p:txBody>
      </p:sp>
      <p:pic>
        <p:nvPicPr>
          <p:cNvPr id="11" name="Picture 10" descr="A blue and white graph&#10;&#10;AI-generated content may be incorrect.">
            <a:extLst>
              <a:ext uri="{FF2B5EF4-FFF2-40B4-BE49-F238E27FC236}">
                <a16:creationId xmlns:a16="http://schemas.microsoft.com/office/drawing/2014/main" id="{7844C2C1-09DC-ADFE-18F0-195198048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398" y="1834356"/>
            <a:ext cx="5611447" cy="387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70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8667-A409-7280-EF5B-45B7F51A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6E7C-621D-FE28-8850-E4D65C0A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697AA-5E64-6ADA-4378-F5E548571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4113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C1C9E-8A62-45A6-3011-46FC4CE7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7FA3C-3358-137C-EAE2-025CAD597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9F0169-2417-99A3-F94B-3A869F98C40D}"/>
              </a:ext>
            </a:extLst>
          </p:cNvPr>
          <p:cNvSpPr txBox="1">
            <a:spLocks/>
          </p:cNvSpPr>
          <p:nvPr/>
        </p:nvSpPr>
        <p:spPr>
          <a:xfrm>
            <a:off x="685800" y="20337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648263-78B5-B3C0-A3BE-AF0A169F9954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A94E55-7205-266D-28A1-4E9A832A00E3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D8AFE3A-BE52-7E69-9BF3-D20D1768D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1" y="2176832"/>
            <a:ext cx="11128975" cy="209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8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F9E5-D654-C323-94D8-FFF91166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CF0C5-7136-6FF1-C570-CE7EC951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F6DD1-9871-15C3-D78A-DF6A4A055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4113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68AE7-D042-23F4-2997-1038C486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C79DD-0E96-0C79-A78D-03DC1F77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089293-4C08-F76F-5DA4-12829EB1C294}"/>
              </a:ext>
            </a:extLst>
          </p:cNvPr>
          <p:cNvSpPr txBox="1">
            <a:spLocks/>
          </p:cNvSpPr>
          <p:nvPr/>
        </p:nvSpPr>
        <p:spPr>
          <a:xfrm>
            <a:off x="104078" y="145301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Discrete Fourier Transform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E3EF9-6650-3DF3-8220-710454328258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7EF908-3493-450D-2AFF-C1D30B2617F2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C1357F02-70BD-AAD1-F696-6FCDB6A15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49371"/>
            <a:ext cx="5098205" cy="20226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088748-0F46-B507-F59D-2AB795F33083}"/>
              </a:ext>
            </a:extLst>
          </p:cNvPr>
          <p:cNvSpPr/>
          <p:nvPr/>
        </p:nvSpPr>
        <p:spPr>
          <a:xfrm>
            <a:off x="4106046" y="3036326"/>
            <a:ext cx="1591461" cy="7853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0000"/>
              </a:highlight>
            </a:endParaRPr>
          </a:p>
        </p:txBody>
      </p:sp>
      <p:pic>
        <p:nvPicPr>
          <p:cNvPr id="13" name="Picture 12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486D5712-13DA-6025-B002-469988865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70" y="4460437"/>
            <a:ext cx="9539416" cy="167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5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A06D-2180-5B48-6925-E6017F5C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Shifting 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D6E01-F1E8-4F91-E534-FDF14D254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https://www.myfourierepicycles.com</a:t>
            </a:r>
            <a:endParaRPr lang="en-US" dirty="0"/>
          </a:p>
          <a:p>
            <a:r>
              <a:rPr lang="en-US" dirty="0">
                <a:hlinkClick r:id="rId3"/>
              </a:rPr>
              <a:t>https://bilimneguzellan.net/en/purrier-series-meow-and-making-images-speak/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F94B8-82AA-50FA-E223-ED05581C3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74B4A-E968-9106-AFF0-81A13C09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380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8676-2125-3AFA-FD4E-33AC4883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9ED5-DD59-82BB-7F8D-0F2FC303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513AC-4F84-A6EA-4FF6-C02376BE4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339" y="1766352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A Matrix is a rectangular array of discrete entries (numbers) with entries arranged in rows or columns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9BBFA-AAC0-BEAB-9506-3A381A8B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AD3DC-5F02-ED3D-7A72-601B3FAF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9EC88A-0E71-40D6-4EDC-895C27172EE3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08FD18-7E1D-0728-5DF3-136F3D545AB1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0076D-D400-C66F-A498-243050C5C832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close-up of a graph&#10;&#10;AI-generated content may be incorrect.">
            <a:extLst>
              <a:ext uri="{FF2B5EF4-FFF2-40B4-BE49-F238E27FC236}">
                <a16:creationId xmlns:a16="http://schemas.microsoft.com/office/drawing/2014/main" id="{E1E5D814-4269-669C-83FF-ED0A1832B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5095"/>
            <a:ext cx="7772400" cy="298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93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D3C0B-7175-5D23-A63B-E5E2A4D9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88E0-F863-5644-53FD-D077F386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8BCF9-9231-4626-8E9E-C9183DFAF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339" y="176635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dirty="0"/>
              <a:t>Scalar Multiplication</a:t>
            </a:r>
          </a:p>
          <a:p>
            <a:pPr lvl="2"/>
            <a:r>
              <a:rPr lang="en-US" dirty="0"/>
              <a:t>Scaling operations 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Linear Combinations</a:t>
            </a:r>
          </a:p>
          <a:p>
            <a:pPr lvl="2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Adding and Subtracting 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Element Wise Multiplication</a:t>
            </a:r>
          </a:p>
          <a:p>
            <a:pPr lvl="2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Frequency Masking of Real Valued Magnitude Spectrogram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Special Matrices</a:t>
            </a:r>
          </a:p>
          <a:p>
            <a:pPr lvl="2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Identity Matrix</a:t>
            </a:r>
          </a:p>
          <a:p>
            <a:pPr lvl="2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Self-Similarity Matrix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Transformations </a:t>
            </a:r>
          </a:p>
          <a:p>
            <a:pPr lvl="2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Rotation</a:t>
            </a:r>
          </a:p>
          <a:p>
            <a:pPr lvl="2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Reflection</a:t>
            </a:r>
          </a:p>
          <a:p>
            <a:pPr lvl="2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Inverting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Matrix Multiplications</a:t>
            </a:r>
          </a:p>
          <a:p>
            <a:pPr lvl="2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Mel-Spectrogram Filter Banks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CB067-118E-FB38-314C-807B2DEB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E3645-6C3F-5EFB-E335-A3AEEC46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5D7790-BDF4-A195-77AD-A998C16C55D8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686D2-00FD-7941-A516-6FBECD181272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298D9-AA6E-1488-D8BE-F85427465CB7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987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36216-F93C-53BB-6B63-66745F95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66025-A6EE-829B-6A7A-38B4005D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93D7F-5E80-11E9-F890-4907C4AB4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339" y="1766352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Scalar Multiplication</a:t>
            </a:r>
          </a:p>
          <a:p>
            <a:pPr lvl="2"/>
            <a:r>
              <a:rPr lang="en-US" dirty="0"/>
              <a:t>Scaling operations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8C078-212D-C831-BC12-7EB47C96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FD0BE-6BD0-9A88-8820-7280A7AE3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49AA02-A16E-417F-3E0B-813D7AA66427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30B9B-478F-6D2C-AF99-0EA1FE25646F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6A793-1C36-99A5-DAE7-D336BB382EE1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3723B97A-EC2A-0B7F-938A-A0D3E07A2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9487"/>
            <a:ext cx="7772400" cy="174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83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F105-2466-D0B7-BB03-B3F53171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7D54-E9E5-A8A1-B11F-5F4B5496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BE4F-FCFD-B61D-3465-1C2A048A0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339" y="1766352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Linear Combinations</a:t>
            </a:r>
          </a:p>
          <a:p>
            <a:pPr lvl="2"/>
            <a:r>
              <a:rPr lang="en-US" dirty="0"/>
              <a:t>Adding and Subtracting </a:t>
            </a:r>
          </a:p>
          <a:p>
            <a:pPr lvl="1"/>
            <a:r>
              <a:rPr lang="en-US" dirty="0"/>
              <a:t>Element Wise Multiplication</a:t>
            </a:r>
          </a:p>
          <a:p>
            <a:pPr lvl="2"/>
            <a:r>
              <a:rPr lang="en-US" dirty="0"/>
              <a:t>Frequency Masking of Real Valued Magnitude Spectrogram</a:t>
            </a:r>
          </a:p>
          <a:p>
            <a:pPr marL="457200" lvl="1" indent="0">
              <a:buNone/>
            </a:pPr>
            <a:r>
              <a:rPr lang="en-US" sz="1200" dirty="0">
                <a:hlinkClick r:id="rId2"/>
              </a:rPr>
              <a:t>https://www.audiolabs-erlangen.de/media/pages/resources/aps-w23/papers/7ef50065d9-1663763115/2010_FitzGerald_HarmonicPercussiveSep_DAFx.pdf</a:t>
            </a:r>
            <a:endParaRPr lang="en-US" sz="1200" dirty="0"/>
          </a:p>
          <a:p>
            <a:pPr marL="457200" lvl="1" indent="0">
              <a:buNone/>
            </a:pPr>
            <a:r>
              <a:rPr lang="en-US" sz="1200" dirty="0"/>
              <a:t>D is your spectrogram matrix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B5316-9FAD-BD0E-15F9-AE2D903B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07649-D610-6C39-90CE-989AC62E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69B968-2250-B248-9F79-2C8AC66F1048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56A16-DE63-2485-B438-38F69F6A126F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91EB1-DED2-E6B6-9228-691A5BB5E74B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CF3CE64-0086-8542-73D6-CD9B4C308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42021"/>
            <a:ext cx="7772400" cy="20441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439999-EE14-017E-35C9-48B94C1501FE}"/>
              </a:ext>
            </a:extLst>
          </p:cNvPr>
          <p:cNvSpPr txBox="1"/>
          <p:nvPr/>
        </p:nvSpPr>
        <p:spPr>
          <a:xfrm>
            <a:off x="8788500" y="5150921"/>
            <a:ext cx="2029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librosa.org</a:t>
            </a:r>
            <a:r>
              <a:rPr lang="en-US" sz="1200" dirty="0"/>
              <a:t>/doc/0.11.0/generated/</a:t>
            </a:r>
            <a:r>
              <a:rPr lang="en-US" sz="1200" dirty="0" err="1"/>
              <a:t>librosa.decompose.hpss.html#librosa.decompose.hpss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8413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1E46-6577-D6B3-FDC4-C45DD623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C962-DD77-7FBA-D054-0D6984FA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86013-5F8E-69BC-9433-D148F4015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339" y="1766352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sz="1600" dirty="0"/>
              <a:t>Linear Combinations</a:t>
            </a:r>
          </a:p>
          <a:p>
            <a:pPr lvl="2"/>
            <a:r>
              <a:rPr lang="en-US" sz="1600" dirty="0"/>
              <a:t>Adding and Subtracting </a:t>
            </a:r>
          </a:p>
          <a:p>
            <a:pPr lvl="1"/>
            <a:r>
              <a:rPr lang="en-US" sz="1600" dirty="0"/>
              <a:t>Element Wise Multiplication</a:t>
            </a:r>
          </a:p>
          <a:p>
            <a:pPr lvl="2"/>
            <a:r>
              <a:rPr lang="en-US" sz="1600" dirty="0"/>
              <a:t>Frequency Masking of Real Valued Magnitude Spectrogram</a:t>
            </a:r>
          </a:p>
          <a:p>
            <a:pPr marL="457200" lvl="1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50A06-03F2-75D3-D07B-B66A868E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8702C-1B41-1ECA-C6F5-B0D42D65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E82651-8B2F-71C6-FAF9-502FA14CF5AC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C364A-20ED-4BA1-9699-F764DCC3B6B0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DA631B-BF94-F421-FA66-6839593BD031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 descr="A collage of different colored lines&#10;&#10;AI-generated content may be incorrect.">
            <a:extLst>
              <a:ext uri="{FF2B5EF4-FFF2-40B4-BE49-F238E27FC236}">
                <a16:creationId xmlns:a16="http://schemas.microsoft.com/office/drawing/2014/main" id="{4313FEF0-B50F-E17F-7F4B-0A5D570B7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3867"/>
            <a:ext cx="5034089" cy="3545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DA3B7F-6C5B-1A1F-03EF-69B30790D8FA}"/>
              </a:ext>
            </a:extLst>
          </p:cNvPr>
          <p:cNvSpPr txBox="1"/>
          <p:nvPr/>
        </p:nvSpPr>
        <p:spPr>
          <a:xfrm>
            <a:off x="6697362" y="3966519"/>
            <a:ext cx="512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Simple Source Separation Using Binary Soft Masks</a:t>
            </a:r>
          </a:p>
        </p:txBody>
      </p:sp>
      <p:pic>
        <p:nvPicPr>
          <p:cNvPr id="14" name="Picture 13" descr="A black and white symbol&#10;&#10;AI-generated content may be incorrect.">
            <a:extLst>
              <a:ext uri="{FF2B5EF4-FFF2-40B4-BE49-F238E27FC236}">
                <a16:creationId xmlns:a16="http://schemas.microsoft.com/office/drawing/2014/main" id="{9BFB0455-3494-D239-543A-93F1CA4A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362" y="3184351"/>
            <a:ext cx="3992334" cy="62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55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90BF-7656-C897-DF42-A63F9AAF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5FE0-EBDE-4DF0-7EE6-7D82525E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97EF-039A-4FB7-1C6B-6EA8DF8A9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339" y="1766352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Special Matrices</a:t>
            </a:r>
          </a:p>
          <a:p>
            <a:pPr lvl="2"/>
            <a:r>
              <a:rPr lang="en-US" dirty="0"/>
              <a:t>Identity Matrix</a:t>
            </a:r>
          </a:p>
          <a:p>
            <a:pPr lvl="2"/>
            <a:r>
              <a:rPr lang="en-US" dirty="0"/>
              <a:t>Self-Similarity Matrix</a:t>
            </a:r>
          </a:p>
          <a:p>
            <a:pPr lvl="3"/>
            <a:r>
              <a:rPr lang="en-US" dirty="0"/>
              <a:t>Using distance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CF3C4-F11B-6607-FA57-80775CE7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3091D-5088-8200-0768-0870A5A4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BBC495-A74A-B704-65D1-1CC3A5BC6FC4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1577B-A002-7B33-367B-083586F80FC2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6E0C7-B48C-E511-CAAF-D298A18B5ED6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blue and black square with black lines&#10;&#10;AI-generated content may be incorrect.">
            <a:extLst>
              <a:ext uri="{FF2B5EF4-FFF2-40B4-BE49-F238E27FC236}">
                <a16:creationId xmlns:a16="http://schemas.microsoft.com/office/drawing/2014/main" id="{8DF8D777-95BA-A1AB-5E4A-4117F69B2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29" y="1678738"/>
            <a:ext cx="4663474" cy="452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33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C6FD6-C793-A3B4-F734-2D5DB38C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D3657-417E-C57F-0034-15973DF4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pic>
        <p:nvPicPr>
          <p:cNvPr id="8" name="Content Placeholder 7" descr="A white sheet with black text and numbers&#10;&#10;AI-generated content may be incorrect.">
            <a:extLst>
              <a:ext uri="{FF2B5EF4-FFF2-40B4-BE49-F238E27FC236}">
                <a16:creationId xmlns:a16="http://schemas.microsoft.com/office/drawing/2014/main" id="{C2431320-7DB3-F8A2-7931-CFFA77A3B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039" y="1766720"/>
            <a:ext cx="3436111" cy="43513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EE5DC-062D-B7CD-57D8-CABC8224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2077D-2D11-3B60-7374-AEE9FA1B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502B5A-41CF-48BE-FFA9-204305348CC6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97EF85-EB19-9F71-D5F8-330B0D4A0945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11551-2C45-90A7-24C1-F21F726C9E8C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DDE0E-20F6-D918-F14C-7E343BD4869F}"/>
              </a:ext>
            </a:extLst>
          </p:cNvPr>
          <p:cNvSpPr txBox="1"/>
          <p:nvPr/>
        </p:nvSpPr>
        <p:spPr>
          <a:xfrm>
            <a:off x="4175176" y="1809234"/>
            <a:ext cx="2769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Identity Matrix </a:t>
            </a:r>
          </a:p>
        </p:txBody>
      </p:sp>
      <p:pic>
        <p:nvPicPr>
          <p:cNvPr id="13" name="Picture 1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814122D-4D70-25A0-B2CA-A7FBEFA2E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882" y="2766844"/>
            <a:ext cx="2489200" cy="584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C2BDE1-FE9D-7C43-A2CC-00616F697098}"/>
              </a:ext>
            </a:extLst>
          </p:cNvPr>
          <p:cNvSpPr txBox="1"/>
          <p:nvPr/>
        </p:nvSpPr>
        <p:spPr>
          <a:xfrm>
            <a:off x="4130563" y="2397512"/>
            <a:ext cx="6735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Matrix Multiplication with identity matrix, leaves matrix unchanged</a:t>
            </a:r>
          </a:p>
        </p:txBody>
      </p:sp>
    </p:spTree>
    <p:extLst>
      <p:ext uri="{BB962C8B-B14F-4D97-AF65-F5344CB8AC3E}">
        <p14:creationId xmlns:p14="http://schemas.microsoft.com/office/powerpoint/2010/main" val="2807359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EE0F-3D2E-EBF6-EB0D-EB548E2F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574D-E4A0-CD63-4B1C-939031B6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BB731-3045-34FA-01D7-166C98344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B5F8D-9305-3822-D07B-9FCDAA636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E275ED-775E-9255-8525-4B2E582B823A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0EC1B-C4EE-816E-3536-D3C3D0E76040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F3A394-CD12-F81E-CD6E-5F8ACFC34B60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0F6F8-DC6C-93A2-DF2E-D098A2FA0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234"/>
            <a:ext cx="9232557" cy="4212239"/>
          </a:xfrm>
        </p:spPr>
        <p:txBody>
          <a:bodyPr/>
          <a:lstStyle/>
          <a:p>
            <a:r>
              <a:rPr lang="en-US" dirty="0"/>
              <a:t>Matrix Multiplication</a:t>
            </a:r>
          </a:p>
        </p:txBody>
      </p:sp>
      <p:pic>
        <p:nvPicPr>
          <p:cNvPr id="15" name="Picture 14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90653C10-1938-8E99-9A36-E8FE20CC8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2299"/>
            <a:ext cx="7772400" cy="44791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848B04-6421-9AE4-907E-D6FE64132DBC}"/>
              </a:ext>
            </a:extLst>
          </p:cNvPr>
          <p:cNvSpPr txBox="1"/>
          <p:nvPr/>
        </p:nvSpPr>
        <p:spPr>
          <a:xfrm>
            <a:off x="8871918" y="2261286"/>
            <a:ext cx="3320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https://www.dsprelated.com/freebooks/filters/Matrix_Filter_Representations.html</a:t>
            </a:r>
            <a:endParaRPr lang="en-US" dirty="0"/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C85999-958F-9ACD-37E9-4689F29BAB6F}"/>
              </a:ext>
            </a:extLst>
          </p:cNvPr>
          <p:cNvSpPr txBox="1"/>
          <p:nvPr/>
        </p:nvSpPr>
        <p:spPr>
          <a:xfrm>
            <a:off x="9128385" y="3312985"/>
            <a:ext cx="179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@ B in NUMPY</a:t>
            </a:r>
          </a:p>
        </p:txBody>
      </p:sp>
      <p:pic>
        <p:nvPicPr>
          <p:cNvPr id="19" name="Picture 18" descr="A group of squares with different colored squares&#10;&#10;AI-generated content may be incorrect.">
            <a:extLst>
              <a:ext uri="{FF2B5EF4-FFF2-40B4-BE49-F238E27FC236}">
                <a16:creationId xmlns:a16="http://schemas.microsoft.com/office/drawing/2014/main" id="{D69078BE-EC18-E689-70BC-040EF1630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609" y="3838666"/>
            <a:ext cx="31750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43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966D6-6BAC-FA65-09D6-5E9F34CA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47A1-B987-F68F-5A75-2B16B318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17950-4576-4AA4-8DE0-1793E2B5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D0F75-DDBC-620D-D8DF-043A1538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6775CB-DC3C-314E-D542-E8F1B4A037F8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E843C-2FE2-1C0F-E106-A3A2164EEF3B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D696C-1449-0BDD-6B82-5EA9237B8F04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4FA23-1A76-DD5A-7107-0A4E6A33D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234"/>
            <a:ext cx="9232557" cy="4212239"/>
          </a:xfrm>
        </p:spPr>
        <p:txBody>
          <a:bodyPr/>
          <a:lstStyle/>
          <a:p>
            <a:r>
              <a:rPr lang="en-US" dirty="0"/>
              <a:t>Matrix Multiplication</a:t>
            </a:r>
          </a:p>
        </p:txBody>
      </p:sp>
      <p:pic>
        <p:nvPicPr>
          <p:cNvPr id="15" name="Picture 14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140B4048-7925-DB74-0FB6-5B3172CF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2299"/>
            <a:ext cx="7772400" cy="44791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7C1D5D-366F-C777-5C0B-BB51EC721B54}"/>
              </a:ext>
            </a:extLst>
          </p:cNvPr>
          <p:cNvSpPr txBox="1"/>
          <p:nvPr/>
        </p:nvSpPr>
        <p:spPr>
          <a:xfrm>
            <a:off x="7848597" y="2392607"/>
            <a:ext cx="3399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Activity, think of Mel Filter banks </a:t>
            </a:r>
          </a:p>
          <a:p>
            <a:r>
              <a:rPr lang="en-US" dirty="0"/>
              <a:t>as a matrix multiplication</a:t>
            </a:r>
          </a:p>
        </p:txBody>
      </p:sp>
      <p:pic>
        <p:nvPicPr>
          <p:cNvPr id="13" name="Picture 1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E067F53-9DB0-1727-1529-BCF23BD75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085831"/>
            <a:ext cx="3867220" cy="166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04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8A7B-C117-7243-EC13-546A28307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222D-C9E1-52CE-C651-C961B469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A8224-F413-3D3C-E65D-AB41FF78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2FDA-5359-D306-569F-F0028189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8D27B8-2099-B9D9-4A42-443DCEB4BCB3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9B58A-8CE0-97DE-4BEA-BA79A2F57765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A2297-A1AC-CF64-8D46-E55825664054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53DE092-C70A-B677-3CC8-C0B3BA88C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58" y="1766351"/>
            <a:ext cx="11283519" cy="20024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11B522-0FFF-F58D-09FC-293B8DADF0E7}"/>
              </a:ext>
            </a:extLst>
          </p:cNvPr>
          <p:cNvSpPr txBox="1"/>
          <p:nvPr/>
        </p:nvSpPr>
        <p:spPr>
          <a:xfrm>
            <a:off x="542329" y="3844473"/>
            <a:ext cx="2429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be represented as</a:t>
            </a:r>
          </a:p>
        </p:txBody>
      </p:sp>
      <p:pic>
        <p:nvPicPr>
          <p:cNvPr id="13" name="Picture 12" descr="A math formula with numbers and a plus&#10;&#10;AI-generated content may be incorrect.">
            <a:extLst>
              <a:ext uri="{FF2B5EF4-FFF2-40B4-BE49-F238E27FC236}">
                <a16:creationId xmlns:a16="http://schemas.microsoft.com/office/drawing/2014/main" id="{B52CBA80-5438-7D0A-4869-5534B2966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29" y="4244687"/>
            <a:ext cx="5888396" cy="185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15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E892F-B758-4FFE-411E-0176993D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5829-9A71-B872-D870-24757D0B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3D938-D324-356F-C92F-FD51DC40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482C1-98B7-6FE1-E514-3B9B5D09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3CCE100-881E-9DE7-E5B7-24A9FD380AB3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Matrix Transformations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C7A73-89CE-3577-BD6C-E0297F2D61AF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339E6-23DF-A924-BD0C-FA09E33D7759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B00E1F4-4357-269D-BC61-7A142C465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07941"/>
            <a:ext cx="7772400" cy="364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98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E90D-2349-4FAD-856E-903871780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B816-850F-D835-385C-BD42B20A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0FCCD-FA61-FD2E-5033-6D016246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3728B-B7E2-EFA5-3B3E-8F467F0D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DD7318-1362-E5E1-9467-1EEB4E7FF441}"/>
              </a:ext>
            </a:extLst>
          </p:cNvPr>
          <p:cNvSpPr txBox="1">
            <a:spLocks/>
          </p:cNvSpPr>
          <p:nvPr/>
        </p:nvSpPr>
        <p:spPr>
          <a:xfrm>
            <a:off x="302339" y="17070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Eigen Vectors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2B716-B10C-7FE0-186C-BDA68DE04882}"/>
              </a:ext>
            </a:extLst>
          </p:cNvPr>
          <p:cNvSpPr txBox="1"/>
          <p:nvPr/>
        </p:nvSpPr>
        <p:spPr>
          <a:xfrm>
            <a:off x="2018371" y="23975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08C8CD-2BFD-0382-67F4-A3C905590D38}"/>
              </a:ext>
            </a:extLst>
          </p:cNvPr>
          <p:cNvSpPr txBox="1"/>
          <p:nvPr/>
        </p:nvSpPr>
        <p:spPr>
          <a:xfrm>
            <a:off x="1572322" y="22079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D1DC7494-3C27-B657-05C1-C03DB7F99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400667"/>
            <a:ext cx="2992395" cy="1120058"/>
          </a:xfrm>
          <a:prstGeom prst="rect">
            <a:avLst/>
          </a:prstGeom>
        </p:spPr>
      </p:pic>
      <p:pic>
        <p:nvPicPr>
          <p:cNvPr id="12" name="Picture 11" descr="A white and pink letters on a black background&#10;&#10;AI-generated content may be incorrect.">
            <a:extLst>
              <a:ext uri="{FF2B5EF4-FFF2-40B4-BE49-F238E27FC236}">
                <a16:creationId xmlns:a16="http://schemas.microsoft.com/office/drawing/2014/main" id="{380464C8-E018-671D-BB40-01E4A8CE8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487907"/>
            <a:ext cx="5791200" cy="1206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614645-678C-D973-73AF-D8B222C4808A}"/>
              </a:ext>
            </a:extLst>
          </p:cNvPr>
          <p:cNvSpPr txBox="1"/>
          <p:nvPr/>
        </p:nvSpPr>
        <p:spPr>
          <a:xfrm>
            <a:off x="3645243" y="1880908"/>
            <a:ext cx="8712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https://www.youtube.com/watch?v=fAxHlLK3Oyk&amp;list=RDfAxHlLK3Oyk&amp;start_radio=1</a:t>
            </a:r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C8DC2-F2CF-46A9-7F27-39C4F720D764}"/>
              </a:ext>
            </a:extLst>
          </p:cNvPr>
          <p:cNvSpPr txBox="1"/>
          <p:nvPr/>
        </p:nvSpPr>
        <p:spPr>
          <a:xfrm>
            <a:off x="6744643" y="2392607"/>
            <a:ext cx="504176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Useful for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Dimensionality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Modes of vibration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5A12DC-C4BA-EBB2-D134-68D0B9C89170}"/>
              </a:ext>
            </a:extLst>
          </p:cNvPr>
          <p:cNvSpPr txBox="1"/>
          <p:nvPr/>
        </p:nvSpPr>
        <p:spPr>
          <a:xfrm>
            <a:off x="748130" y="5071897"/>
            <a:ext cx="710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https://numpy.org/doc/2.3/reference/generated/numpy.linalg.eig.html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202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2A18F-8064-81DE-272B-69F3953B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1A5B-A2B5-5D69-AC4D-AA7BF62B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ACF10-F497-2262-1FA6-A7D215E90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Vectors</a:t>
            </a:r>
          </a:p>
          <a:p>
            <a:pPr lvl="1"/>
            <a:r>
              <a:rPr lang="en-US" dirty="0"/>
              <a:t>Vector Operations </a:t>
            </a:r>
          </a:p>
          <a:p>
            <a:pPr lvl="1"/>
            <a:r>
              <a:rPr lang="en-US" dirty="0"/>
              <a:t>Basis vectors, Linear Independence </a:t>
            </a:r>
          </a:p>
          <a:p>
            <a:r>
              <a:rPr lang="en-US" dirty="0"/>
              <a:t>Matrices</a:t>
            </a:r>
          </a:p>
          <a:p>
            <a:pPr lvl="1"/>
            <a:r>
              <a:rPr lang="en-US" dirty="0"/>
              <a:t>Matrix Operations </a:t>
            </a:r>
          </a:p>
          <a:p>
            <a:pPr lvl="1"/>
            <a:r>
              <a:rPr lang="en-US" dirty="0"/>
              <a:t>Matrix Factorization</a:t>
            </a:r>
          </a:p>
          <a:p>
            <a:r>
              <a:rPr lang="en-US" dirty="0"/>
              <a:t>Eigen Values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FB7D8-426A-C420-AB03-1235C7C6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CA038-2DEA-8178-8ADE-9571C731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Topic: Linear Algebra Primer</a:t>
            </a:r>
          </a:p>
        </p:txBody>
      </p:sp>
      <p:pic>
        <p:nvPicPr>
          <p:cNvPr id="7" name="Picture 6" descr="A cartoon character in front of a fire&#10;&#10;AI-generated content may be incorrect.">
            <a:extLst>
              <a:ext uri="{FF2B5EF4-FFF2-40B4-BE49-F238E27FC236}">
                <a16:creationId xmlns:a16="http://schemas.microsoft.com/office/drawing/2014/main" id="{6E52B698-9727-CEAD-6317-87D87E64A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763" y="3298031"/>
            <a:ext cx="3900101" cy="264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95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_symbolic_audio" id="{A9474E27-5F1C-CC4D-940A-6E6E225D7E8F}" vid="{64BFA1BE-9B83-8F4F-89F2-EDE9A139FD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3d566f-9fef-45f4-8127-a2b16b1f23e9" xsi:nil="true"/>
    <lcf76f155ced4ddcb4097134ff3c332f xmlns="a471c273-33e5-4b0d-b9cc-d9b6330ca40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768A1BC7A9C42861D0CC70843CDBA" ma:contentTypeVersion="10" ma:contentTypeDescription="Create a new document." ma:contentTypeScope="" ma:versionID="72c13479c3d8946c76e3292577a76652">
  <xsd:schema xmlns:xsd="http://www.w3.org/2001/XMLSchema" xmlns:xs="http://www.w3.org/2001/XMLSchema" xmlns:p="http://schemas.microsoft.com/office/2006/metadata/properties" xmlns:ns2="a471c273-33e5-4b0d-b9cc-d9b6330ca405" xmlns:ns3="dd3d566f-9fef-45f4-8127-a2b16b1f23e9" targetNamespace="http://schemas.microsoft.com/office/2006/metadata/properties" ma:root="true" ma:fieldsID="ae77b615c5b855a9c8aae40fb715882f" ns2:_="" ns3:_="">
    <xsd:import namespace="a471c273-33e5-4b0d-b9cc-d9b6330ca405"/>
    <xsd:import namespace="dd3d566f-9fef-45f4-8127-a2b16b1f23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71c273-33e5-4b0d-b9cc-d9b6330ca4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d566f-9fef-45f4-8127-a2b16b1f23e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cf4f890-be8a-4cfc-8b20-d2e191234cc1}" ma:internalName="TaxCatchAll" ma:showField="CatchAllData" ma:web="dd3d566f-9fef-45f4-8127-a2b16b1f23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B9A43-DB0B-4F19-8E3A-6775C112A4EB}">
  <ds:schemaRefs>
    <ds:schemaRef ds:uri="http://schemas.microsoft.com/office/2006/metadata/properties"/>
    <ds:schemaRef ds:uri="http://schemas.microsoft.com/office/infopath/2007/PartnerControls"/>
    <ds:schemaRef ds:uri="dd3d566f-9fef-45f4-8127-a2b16b1f23e9"/>
    <ds:schemaRef ds:uri="a471c273-33e5-4b0d-b9cc-d9b6330ca405"/>
  </ds:schemaRefs>
</ds:datastoreItem>
</file>

<file path=customXml/itemProps2.xml><?xml version="1.0" encoding="utf-8"?>
<ds:datastoreItem xmlns:ds="http://schemas.openxmlformats.org/officeDocument/2006/customXml" ds:itemID="{EB932F7C-1677-4D96-9ADF-310D4A6341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2D221A-3963-4612-8A65-AA82A1B73F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71c273-33e5-4b0d-b9cc-d9b6330ca405"/>
    <ds:schemaRef ds:uri="dd3d566f-9fef-45f4-8127-a2b16b1f2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7600</TotalTime>
  <Words>706</Words>
  <Application>Microsoft Macintosh PowerPoint</Application>
  <PresentationFormat>Widescreen</PresentationFormat>
  <Paragraphs>173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Century Gothic</vt:lpstr>
      <vt:lpstr>Office Theme</vt:lpstr>
      <vt:lpstr>  Computational Music Analysis:         Audio</vt:lpstr>
      <vt:lpstr>Agenda</vt:lpstr>
      <vt:lpstr>Agenda</vt:lpstr>
      <vt:lpstr>Vectors</vt:lpstr>
      <vt:lpstr>Vectors</vt:lpstr>
      <vt:lpstr>Vectors</vt:lpstr>
      <vt:lpstr>Vectors</vt:lpstr>
      <vt:lpstr>Vectors</vt:lpstr>
      <vt:lpstr>Vectors</vt:lpstr>
      <vt:lpstr>Vectors</vt:lpstr>
      <vt:lpstr>Shifting Basis</vt:lpstr>
      <vt:lpstr>Matrix</vt:lpstr>
      <vt:lpstr>Matrix Operations</vt:lpstr>
      <vt:lpstr>Matrix Operations</vt:lpstr>
      <vt:lpstr>Matrix Operations</vt:lpstr>
      <vt:lpstr>Matrix Operations</vt:lpstr>
      <vt:lpstr>Matrix Operations</vt:lpstr>
      <vt:lpstr>Matrix Operations</vt:lpstr>
      <vt:lpstr>Matrix Operations</vt:lpstr>
      <vt:lpstr>Matrix Operations</vt:lpstr>
      <vt:lpstr>Matrices</vt:lpstr>
      <vt:lpstr>Matrices</vt:lpstr>
      <vt:lpstr>Matrices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Alben, Noel</dc:creator>
  <cp:lastModifiedBy>Alben, Noel</cp:lastModifiedBy>
  <cp:revision>3</cp:revision>
  <dcterms:created xsi:type="dcterms:W3CDTF">2025-09-25T06:03:51Z</dcterms:created>
  <dcterms:modified xsi:type="dcterms:W3CDTF">2025-09-30T12:44:19Z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0x010100F23768A1BC7A9C42861D0CC70843CDBA</vt:lpwstr>
  </property>
</Properties>
</file>