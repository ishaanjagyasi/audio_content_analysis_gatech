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0"/>
  </p:notesMasterIdLst>
  <p:sldIdLst>
    <p:sldId id="256" r:id="rId5"/>
    <p:sldId id="258" r:id="rId6"/>
    <p:sldId id="261" r:id="rId7"/>
    <p:sldId id="262" r:id="rId8"/>
    <p:sldId id="268" r:id="rId9"/>
    <p:sldId id="269" r:id="rId10"/>
    <p:sldId id="270" r:id="rId11"/>
    <p:sldId id="275" r:id="rId12"/>
    <p:sldId id="276" r:id="rId13"/>
    <p:sldId id="277" r:id="rId14"/>
    <p:sldId id="271" r:id="rId15"/>
    <p:sldId id="273" r:id="rId16"/>
    <p:sldId id="272" r:id="rId17"/>
    <p:sldId id="274" r:id="rId18"/>
    <p:sldId id="282" r:id="rId19"/>
    <p:sldId id="278" r:id="rId20"/>
    <p:sldId id="263" r:id="rId21"/>
    <p:sldId id="265" r:id="rId22"/>
    <p:sldId id="266" r:id="rId23"/>
    <p:sldId id="267" r:id="rId24"/>
    <p:sldId id="259" r:id="rId25"/>
    <p:sldId id="260" r:id="rId26"/>
    <p:sldId id="279" r:id="rId27"/>
    <p:sldId id="281" r:id="rId28"/>
    <p:sldId id="28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97" d="100"/>
          <a:sy n="97" d="100"/>
        </p:scale>
        <p:origin x="49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209AB-CE13-044F-8E06-B2C9AA580BB2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5FB911-8C40-0744-863F-098B7E0F5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93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5CD73-A936-3525-D168-7736C3BC2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10D98-56AC-2479-AACB-7073FDDA2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DF3B7-3A64-41E1-8594-FFD2907E3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D4B12-1383-AD42-92AD-77DF7C3AFF50}" type="datetime1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61BBD-4401-485F-190D-A98E3BF6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AE45C-1BD0-2BD9-078C-EF7ABB5A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32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orful spectrum of equalizer&#10;&#10;Description automatically generated">
            <a:extLst>
              <a:ext uri="{FF2B5EF4-FFF2-40B4-BE49-F238E27FC236}">
                <a16:creationId xmlns:a16="http://schemas.microsoft.com/office/drawing/2014/main" id="{7737A7BC-A701-C931-78B0-710547DEAE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t="4385" b="48947"/>
          <a:stretch/>
        </p:blipFill>
        <p:spPr>
          <a:xfrm>
            <a:off x="0" y="0"/>
            <a:ext cx="12192000" cy="164623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81A9918-6A8E-071E-1832-2B1BE0CB5515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00F202-A2B5-1F52-B239-EFF9F4486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DDB86-D379-F460-FE0C-0E7815A50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6A0D3-3893-74C2-9FC4-AE58A8A1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176963"/>
            <a:ext cx="7010400" cy="68103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algn="l"/>
            <a:r>
              <a:rPr lang="en-US" dirty="0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4B2DC-3883-01BA-4B44-3C940F911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7479" y="6279119"/>
            <a:ext cx="1020921" cy="442356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6A096487-9F84-9248-ABAD-35D09817155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 descr="A black and white logo&#10;&#10;Description automatically generated">
            <a:extLst>
              <a:ext uri="{FF2B5EF4-FFF2-40B4-BE49-F238E27FC236}">
                <a16:creationId xmlns:a16="http://schemas.microsoft.com/office/drawing/2014/main" id="{1AEFDCCA-5818-25F6-C79D-B13258DB2C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784" y="6106002"/>
            <a:ext cx="2588895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3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0284B-1505-059C-4E86-07470FF33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6643A-91BA-C205-AB5C-9D56A8998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1716C-8BE7-4144-6640-E2469CFC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02F25-D426-C543-9B23-205D2299CECD}" type="datetime1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9F8DF-AAFD-A424-EC7B-281EAAD21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5A4B5-89A5-8CBC-3476-A4C57613B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0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E8BB3-28A3-A7FC-B2CE-79FEAC78C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0496-02E4-0845-BAD0-DDB3A1F9E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CC4EF-4ED9-A2CB-A367-3B5205894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7E1ABE-7B07-90DD-30B9-616BE312D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9AE0-DD93-284C-9C9F-51936DBCE396}" type="datetime1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7496C-916B-4D94-1656-B7239D33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00B8C-5FBF-978F-5CD6-D9988E251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8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88422-2E90-E698-F3A2-53287F84F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45A94-F9A9-EC9C-AB5C-DF1B14C94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06938-0A3E-50E1-DF08-A745EFF24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181DAD-9171-E93D-5F7D-F34851FCE0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DC279B-A01E-F93C-71E9-0A42CC2D3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31DA52-7302-B5F8-3F44-11A8BC0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3AFD-D178-EE41-80F7-DC6EDDFDB254}" type="datetime1">
              <a:rPr lang="en-US" smtClean="0"/>
              <a:t>10/2/25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6ECA9-46C1-1831-B789-BF1F9741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8F16D8-0C07-732E-C0A9-3F3C37B15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4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E0184-B174-6828-E23E-B03B4CEF6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D9154B-F6A4-86EC-7FCE-E0618A17D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60B4-C6F2-2746-AEAE-93CD670CBEEA}" type="datetime1">
              <a:rPr lang="en-US" smtClean="0"/>
              <a:t>10/2/25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8C3F6-1749-E4B2-64DE-84B3B35D7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A66B3-4ECA-C278-30AB-571D57D79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4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797711-2F89-5898-C20A-5FF8FCF66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F044-B807-1649-8A83-2DAF1C345290}" type="datetime1">
              <a:rPr lang="en-US" smtClean="0"/>
              <a:t>10/2/25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8DF91B-B0ED-8C83-B58E-8ACAFDEE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2AB8B-FD07-CC0B-6221-CA08F063A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69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152C1-78E6-E979-1D0C-2D9F6F1F6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EC336-6F0C-056C-9588-21DBE72BE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2CB36E-E619-E817-6BAC-AA1BB8AAF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451BE-61C8-6F6D-0F0F-00CFBF6A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10E8-FEC3-224C-BEC8-D2B494C4B665}" type="datetime1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33603-AE57-7A85-2C95-9D4DD5027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C3055-F56A-4230-8427-F22E26204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02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AF2F2-8C7A-54DB-E738-440EE6029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8082D-C588-0A24-3B48-DBE339C95E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A2C9B-7E14-CAAB-B99C-E907D6CD5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F2796-E8DA-A43E-85D0-494781417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F3156-90CC-C346-A118-874197777E80}" type="datetime1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66EA5-3707-C2FC-828E-19CAC30C3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F18BA-543F-0585-BD77-A6D1CB716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59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B4AAA-DDEE-931C-D5BD-BF2617106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19534-BF98-74C0-9009-7C9F7591F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085AF-DD00-8B1E-835A-B675164F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26CA-4F64-3446-A1E2-D20833F95A9C}" type="datetime1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E58AC-AA8D-30FE-7162-B5B21D881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E5B78-4F8D-4D67-991F-37FD16E90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9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39D641-EE3D-8A52-801C-7D5B60B1B3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962E2-E03E-856E-8782-FEA095CBB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B5918-BEC0-4F6D-EE90-89DE996CF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9FEDB-3B76-0A4D-848C-0B586EEDAA33}" type="datetime1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BB72E-005F-53D0-B94E-0A947CC5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F72FB-9AEC-5A4F-6157-85584CB17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16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EF7DE5-201F-F2C6-0C14-75F496734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CDAD3-AD4F-06B8-9148-92661282A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66133-D25A-B5EC-7530-BDA51BEBD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B63B22-8BEB-9B48-8AD9-ED6DDFA1D91D}" type="datetime1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C4EE8-903A-E548-4A2D-F025F61F4D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045F9-9087-2E0E-C9EC-58AA46F1D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79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tilde.audio/~/qkfNAvE5ec3ft0wR7MkDq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udiolabs-erlangen.de/resources/MIR/FMP/C6/C6S1_OnsetDetection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atech.instructure.com/courses/487902/users/1527110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atech.instructure.com/courses/487902/users/1419920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tech.instructure.com/courses/487902/users/871872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achine-learning/f1-score-in-machine-learning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tilde.audio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olorful spectrum of equalizer&#10;&#10;Description automatically generated">
            <a:extLst>
              <a:ext uri="{FF2B5EF4-FFF2-40B4-BE49-F238E27FC236}">
                <a16:creationId xmlns:a16="http://schemas.microsoft.com/office/drawing/2014/main" id="{18654B00-653E-11D2-07C9-93786F65F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05912"/>
            <a:ext cx="12192000" cy="28209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C16661-6C75-1D2A-5269-D4A880F41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090399" cy="1993113"/>
          </a:xfrm>
        </p:spPr>
        <p:txBody>
          <a:bodyPr/>
          <a:lstStyle/>
          <a:p>
            <a:pPr algn="l"/>
            <a:r>
              <a:rPr lang="en-US" dirty="0">
                <a:latin typeface="Century Gothic" panose="020B0502020202020204" pitchFamily="34" charset="0"/>
              </a:rPr>
              <a:t>  Computational Music Analysis:      </a:t>
            </a:r>
            <a:br>
              <a:rPr lang="en-US" dirty="0">
                <a:latin typeface="Century Gothic" panose="020B0502020202020204" pitchFamily="34" charset="0"/>
              </a:rPr>
            </a:br>
            <a:r>
              <a:rPr lang="en-US" dirty="0">
                <a:latin typeface="Century Gothic" panose="020B0502020202020204" pitchFamily="34" charset="0"/>
              </a:rPr>
              <a:t>  Audio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22C9D1-C445-DADC-1023-1FDAD6607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4209" y="1351971"/>
            <a:ext cx="9144000" cy="53954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entury Gothic" panose="020B0502020202020204" pitchFamily="34" charset="0"/>
              </a:rPr>
              <a:t>A.K.A. “Audio Content Analysis”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1D9156-A9F0-C927-E33D-E700556DFC22}"/>
              </a:ext>
            </a:extLst>
          </p:cNvPr>
          <p:cNvSpPr txBox="1"/>
          <p:nvPr/>
        </p:nvSpPr>
        <p:spPr>
          <a:xfrm>
            <a:off x="326720" y="5742252"/>
            <a:ext cx="81419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Century Gothic" panose="020B0502020202020204" pitchFamily="34" charset="0"/>
              </a:rPr>
              <a:t>Claire Arthur</a:t>
            </a:r>
          </a:p>
          <a:p>
            <a:r>
              <a:rPr lang="en-US" sz="2800" dirty="0">
                <a:solidFill>
                  <a:srgbClr val="002060"/>
                </a:solidFill>
                <a:latin typeface="Century Gothic" panose="020B0502020202020204" pitchFamily="34" charset="0"/>
              </a:rPr>
              <a:t>Noël Alben</a:t>
            </a:r>
          </a:p>
        </p:txBody>
      </p:sp>
      <p:pic>
        <p:nvPicPr>
          <p:cNvPr id="6" name="Picture 5" descr="A logo on a black background&#10;&#10;Description automatically generated">
            <a:extLst>
              <a:ext uri="{FF2B5EF4-FFF2-40B4-BE49-F238E27FC236}">
                <a16:creationId xmlns:a16="http://schemas.microsoft.com/office/drawing/2014/main" id="{C08F9358-A231-F7BB-9BEB-4ECB615E5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3176" y="5742252"/>
            <a:ext cx="3168824" cy="10073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4F8731-5FB0-751B-5AB2-6FF696F33B69}"/>
              </a:ext>
            </a:extLst>
          </p:cNvPr>
          <p:cNvSpPr txBox="1"/>
          <p:nvPr/>
        </p:nvSpPr>
        <p:spPr>
          <a:xfrm>
            <a:off x="377521" y="2222278"/>
            <a:ext cx="571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Temporal Analysis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2948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E5EE2-FBEA-0F64-03CE-00616E729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53B37-B06E-63AC-AAB6-209015CD8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275DE-F0F1-89E0-7C93-2DF3DB82E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an Onset?</a:t>
            </a:r>
          </a:p>
          <a:p>
            <a:r>
              <a:rPr lang="en-US" dirty="0"/>
              <a:t>Framework for Onset Detection</a:t>
            </a:r>
          </a:p>
          <a:p>
            <a:r>
              <a:rPr lang="en-US" dirty="0"/>
              <a:t>Evaluation Of Onset Detection</a:t>
            </a:r>
          </a:p>
          <a:p>
            <a:r>
              <a:rPr lang="en-US" dirty="0"/>
              <a:t>What is Rhythm?</a:t>
            </a:r>
          </a:p>
          <a:p>
            <a:r>
              <a:rPr lang="en-US" dirty="0"/>
              <a:t>Applications (Downstream Tasks)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3FD22-DE50-9AB7-7267-AE66F1D4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D507A-592E-C431-FEC3-99A0E56B8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48319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2234B-6469-1FE7-A1BA-DF0B03DEA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1D3D6-7072-A8E2-7978-AD6375D2C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Onset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7CD82-22CB-6F6E-3E75-A87B38CCE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725C3-9DE3-FE9D-8BC4-F633BF3F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9F98E-570C-63F8-8F5B-28F197ECD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  <p:pic>
        <p:nvPicPr>
          <p:cNvPr id="8" name="Picture 7" descr="A graph with a red dot&#10;&#10;AI-generated content may be incorrect.">
            <a:extLst>
              <a:ext uri="{FF2B5EF4-FFF2-40B4-BE49-F238E27FC236}">
                <a16:creationId xmlns:a16="http://schemas.microsoft.com/office/drawing/2014/main" id="{6233FDD7-DE33-1204-31EF-215AC0B92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979" y="2102647"/>
            <a:ext cx="7229021" cy="27502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5B106B-8E83-452B-9D75-F2B98503E223}"/>
              </a:ext>
            </a:extLst>
          </p:cNvPr>
          <p:cNvSpPr txBox="1"/>
          <p:nvPr/>
        </p:nvSpPr>
        <p:spPr>
          <a:xfrm>
            <a:off x="86497" y="2310799"/>
            <a:ext cx="519591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b="1" dirty="0"/>
              <a:t>Note Onset Time </a:t>
            </a:r>
            <a:r>
              <a:rPr lang="en-US" dirty="0"/>
              <a:t>(NOT)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/>
              <a:t>moment in time the instrument is triggered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b="1" dirty="0"/>
              <a:t>Acoustic Onset Time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/>
              <a:t>Moment in time of first </a:t>
            </a:r>
            <a:r>
              <a:rPr lang="en-US" i="1" dirty="0"/>
              <a:t>measurable </a:t>
            </a:r>
          </a:p>
          <a:p>
            <a:pPr lvl="1"/>
            <a:r>
              <a:rPr lang="en-US" dirty="0"/>
              <a:t>instrument output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b="1" dirty="0"/>
              <a:t>Perceptual Onset Time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/>
              <a:t>Moment in time the event is perceived by </a:t>
            </a:r>
          </a:p>
          <a:p>
            <a:pPr lvl="1"/>
            <a:r>
              <a:rPr lang="en-US" dirty="0"/>
              <a:t>a listener</a:t>
            </a:r>
          </a:p>
          <a:p>
            <a:pPr marL="742950" lvl="1" indent="-285750">
              <a:buFont typeface="Wingdings" pitchFamily="2" charset="2"/>
              <a:buChar char="§"/>
            </a:pP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058203-EE9E-3BAC-CA84-51690F200388}"/>
              </a:ext>
            </a:extLst>
          </p:cNvPr>
          <p:cNvSpPr txBox="1"/>
          <p:nvPr/>
        </p:nvSpPr>
        <p:spPr>
          <a:xfrm>
            <a:off x="6972482" y="5715298"/>
            <a:ext cx="5610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Lerch, Alexander. </a:t>
            </a:r>
            <a:r>
              <a:rPr lang="en-US" sz="1200" i="1" dirty="0"/>
              <a:t>An introduction to audio content analysis: Music Information Retrieval tasks and applications</a:t>
            </a:r>
            <a:r>
              <a:rPr lang="en-US" sz="1200" dirty="0"/>
              <a:t>. John Wiley &amp; Sons, 2022.</a:t>
            </a:r>
          </a:p>
        </p:txBody>
      </p:sp>
    </p:spTree>
    <p:extLst>
      <p:ext uri="{BB962C8B-B14F-4D97-AF65-F5344CB8AC3E}">
        <p14:creationId xmlns:p14="http://schemas.microsoft.com/office/powerpoint/2010/main" val="3767097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76F97-EB36-4652-B7F4-8AC6ABA5E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16852-1558-F78B-8551-0DBD367B1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Onset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8F644-3E11-D87B-FCB9-68D1D8EB1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09" y="2665884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800" b="1" dirty="0"/>
              <a:t>Types Of Onsets 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/>
              <a:t>Pitched (hummed voice, bowed strings</a:t>
            </a:r>
          </a:p>
          <a:p>
            <a:pPr marL="457200" lvl="1" indent="0">
              <a:buNone/>
            </a:pPr>
            <a:r>
              <a:rPr lang="en-US" sz="1800" dirty="0"/>
              <a:t>wind instruments)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/>
              <a:t>Percussive (drums, handclaps)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/>
              <a:t>Pitched-percussive (piano, guitar)</a:t>
            </a:r>
          </a:p>
          <a:p>
            <a:pPr marL="457200" lvl="1" indent="0">
              <a:buNone/>
            </a:pPr>
            <a:endParaRPr lang="en-US" sz="1400" dirty="0"/>
          </a:p>
          <a:p>
            <a:pPr>
              <a:buFont typeface="Wingdings" pitchFamily="2" charset="2"/>
              <a:buChar char="§"/>
            </a:pPr>
            <a:r>
              <a:rPr lang="en-US" sz="1800" b="1" dirty="0"/>
              <a:t>Challenges</a:t>
            </a:r>
          </a:p>
          <a:p>
            <a:pPr lvl="1">
              <a:buFont typeface="Wingdings" pitchFamily="2" charset="2"/>
              <a:buChar char="§"/>
            </a:pPr>
            <a:r>
              <a:rPr lang="en-US" sz="1400" dirty="0"/>
              <a:t>Characteristics for each vary a lot musically and</a:t>
            </a:r>
          </a:p>
          <a:p>
            <a:pPr marL="457200" lvl="1" indent="0">
              <a:buNone/>
            </a:pPr>
            <a:r>
              <a:rPr lang="en-US" sz="1400" dirty="0"/>
              <a:t> perceptually</a:t>
            </a:r>
          </a:p>
          <a:p>
            <a:pPr lvl="1">
              <a:buFont typeface="Wingdings" pitchFamily="2" charset="2"/>
              <a:buChar char="§"/>
            </a:pPr>
            <a:r>
              <a:rPr lang="en-US" sz="1400" dirty="0"/>
              <a:t>Multiple onsets will occur at the same time</a:t>
            </a:r>
          </a:p>
          <a:p>
            <a:pPr lvl="1">
              <a:buFont typeface="Wingdings" pitchFamily="2" charset="2"/>
              <a:buChar char="§"/>
            </a:pPr>
            <a:r>
              <a:rPr lang="en-US" sz="1400" dirty="0"/>
              <a:t>Effects can obfuscate onsets (vibrato, tremolo, reverb)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A685F-749B-C3A8-9480-C511D7EBD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5317A-7893-5D48-410C-2B0791241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  <p:pic>
        <p:nvPicPr>
          <p:cNvPr id="8" name="Picture 7" descr="A graph with a red dot&#10;&#10;AI-generated content may be incorrect.">
            <a:extLst>
              <a:ext uri="{FF2B5EF4-FFF2-40B4-BE49-F238E27FC236}">
                <a16:creationId xmlns:a16="http://schemas.microsoft.com/office/drawing/2014/main" id="{D9FED4B7-DD12-B515-3AF3-F0AB86B4F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972" y="2342647"/>
            <a:ext cx="6293607" cy="23943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40BFF4-B611-582D-10E9-3B84B155B39A}"/>
              </a:ext>
            </a:extLst>
          </p:cNvPr>
          <p:cNvSpPr txBox="1"/>
          <p:nvPr/>
        </p:nvSpPr>
        <p:spPr>
          <a:xfrm>
            <a:off x="-304743" y="1742483"/>
            <a:ext cx="67097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itchFamily="2" charset="2"/>
              <a:buChar char="§"/>
            </a:pPr>
            <a:r>
              <a:rPr lang="en-US" b="1" dirty="0"/>
              <a:t>Aim</a:t>
            </a:r>
          </a:p>
          <a:p>
            <a:pPr marL="1200150" lvl="2" indent="-285750">
              <a:buFont typeface="Wingdings" pitchFamily="2" charset="2"/>
              <a:buChar char="§"/>
            </a:pPr>
            <a:r>
              <a:rPr lang="en-US" dirty="0"/>
              <a:t>Determine the starting points of all musical events in an audio signal</a:t>
            </a:r>
          </a:p>
          <a:p>
            <a:pPr marL="742950" lvl="1" indent="-285750">
              <a:buFont typeface="Wingdings" pitchFamily="2" charset="2"/>
              <a:buChar char="§"/>
            </a:pP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949E0F-5DAA-7889-E014-09145482075C}"/>
              </a:ext>
            </a:extLst>
          </p:cNvPr>
          <p:cNvSpPr txBox="1"/>
          <p:nvPr/>
        </p:nvSpPr>
        <p:spPr>
          <a:xfrm>
            <a:off x="6096000" y="5650383"/>
            <a:ext cx="5610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Lerch, Alexander. </a:t>
            </a:r>
            <a:r>
              <a:rPr lang="en-US" sz="1200" i="1" dirty="0"/>
              <a:t>An introduction to audio content analysis: Music Information Retrieval tasks and applications</a:t>
            </a:r>
            <a:r>
              <a:rPr lang="en-US" sz="1200" dirty="0"/>
              <a:t>. John Wiley &amp; Sons, 2022.</a:t>
            </a:r>
          </a:p>
        </p:txBody>
      </p:sp>
    </p:spTree>
    <p:extLst>
      <p:ext uri="{BB962C8B-B14F-4D97-AF65-F5344CB8AC3E}">
        <p14:creationId xmlns:p14="http://schemas.microsoft.com/office/powerpoint/2010/main" val="1368192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7B036-4121-3278-AF57-F7D05DDBD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52FF6-DC7D-93F8-4CBA-B47F0CD52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Onset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4CDEA-90C2-178C-E35B-FB06E13A4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CA809-7F43-445C-6D50-1222907C6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  <p:pic>
        <p:nvPicPr>
          <p:cNvPr id="8" name="Picture 7" descr="A graph with a red dot&#10;&#10;AI-generated content may be incorrect.">
            <a:extLst>
              <a:ext uri="{FF2B5EF4-FFF2-40B4-BE49-F238E27FC236}">
                <a16:creationId xmlns:a16="http://schemas.microsoft.com/office/drawing/2014/main" id="{9EAE60C5-24EA-D2F3-6D69-77D844BEF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972" y="2342647"/>
            <a:ext cx="6293607" cy="23943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ABAB19-7124-4BC4-94B6-0E2A550C2DDA}"/>
              </a:ext>
            </a:extLst>
          </p:cNvPr>
          <p:cNvSpPr txBox="1"/>
          <p:nvPr/>
        </p:nvSpPr>
        <p:spPr>
          <a:xfrm>
            <a:off x="6096000" y="5650383"/>
            <a:ext cx="5610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Lerch, Alexander. </a:t>
            </a:r>
            <a:r>
              <a:rPr lang="en-US" sz="1200" i="1" dirty="0"/>
              <a:t>An introduction to audio content analysis: Music Information Retrieval tasks and applications</a:t>
            </a:r>
            <a:r>
              <a:rPr lang="en-US" sz="1200" dirty="0"/>
              <a:t>. John Wiley &amp; Sons, 2022.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F4B5E8-3D7C-0942-E1ED-33CF7F44BEA4}"/>
              </a:ext>
            </a:extLst>
          </p:cNvPr>
          <p:cNvSpPr txBox="1"/>
          <p:nvPr/>
        </p:nvSpPr>
        <p:spPr>
          <a:xfrm>
            <a:off x="321275" y="1785513"/>
            <a:ext cx="52639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Plot and visualize time domain splices of various instrument onsets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Visualize the spectrogram for each splice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audio files are in files&gt;audio&gt;activities&gt;onset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40E4BE-FE94-1BA7-8ED8-561BFA7BD971}"/>
              </a:ext>
            </a:extLst>
          </p:cNvPr>
          <p:cNvSpPr txBox="1"/>
          <p:nvPr/>
        </p:nvSpPr>
        <p:spPr>
          <a:xfrm>
            <a:off x="321275" y="3367323"/>
            <a:ext cx="52861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Template code here</a:t>
            </a:r>
          </a:p>
          <a:p>
            <a:r>
              <a:rPr lang="en-US" dirty="0">
                <a:hlinkClick r:id="rId3"/>
              </a:rPr>
              <a:t>https://app.tilde.audio/~/qkfNAvE5ec3ft0wR7MkDq</a:t>
            </a:r>
            <a:endParaRPr lang="en-US" dirty="0"/>
          </a:p>
          <a:p>
            <a:endParaRPr lang="en-US" dirty="0"/>
          </a:p>
        </p:txBody>
      </p:sp>
      <p:pic>
        <p:nvPicPr>
          <p:cNvPr id="14" name="Picture 13" descr="A close-up of a graph&#10;&#10;AI-generated content may be incorrect.">
            <a:extLst>
              <a:ext uri="{FF2B5EF4-FFF2-40B4-BE49-F238E27FC236}">
                <a16:creationId xmlns:a16="http://schemas.microsoft.com/office/drawing/2014/main" id="{0727A6B3-9821-CC7C-2342-529A4D9A9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152" y="4118136"/>
            <a:ext cx="4336222" cy="194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710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A2C6F-6DD3-2093-1922-6FD902A70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E1E7E-10C1-5066-BE79-26A5456C8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Onset Detection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98766-B92B-D7FA-9FDC-0EE57C4E0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3C6A3-1E54-03F0-B997-01FA131C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ABD0FAB8-F0EB-3445-D75A-158C22390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89438"/>
            <a:ext cx="7772400" cy="16043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B6954B-DBA1-181B-49CD-D363AE73285F}"/>
              </a:ext>
            </a:extLst>
          </p:cNvPr>
          <p:cNvSpPr txBox="1"/>
          <p:nvPr/>
        </p:nvSpPr>
        <p:spPr>
          <a:xfrm>
            <a:off x="319899" y="3991233"/>
            <a:ext cx="115522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First, the signal is converted into a suitable feature representation that better reflects the properties of interest.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Then, a type of derivative operator is applied to the feature sequence and a </a:t>
            </a:r>
            <a:r>
              <a:rPr lang="en-US" b="1" dirty="0"/>
              <a:t>novelty function</a:t>
            </a:r>
            <a:r>
              <a:rPr lang="en-US" dirty="0"/>
              <a:t> is derived.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Finally, a peak-picking algorithm is employed to locate the onset candidates.</a:t>
            </a:r>
          </a:p>
          <a:p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EE0C44-15CF-EC23-6CAD-5FEB3598EB30}"/>
              </a:ext>
            </a:extLst>
          </p:cNvPr>
          <p:cNvSpPr txBox="1"/>
          <p:nvPr/>
        </p:nvSpPr>
        <p:spPr>
          <a:xfrm>
            <a:off x="319899" y="5006896"/>
            <a:ext cx="8938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https://www.audiolabs-erlangen.de/resources/MIR/FMP/C6/C6S1_OnsetDetection.html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572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8534B-7458-481C-34B8-BCEBE3E14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C0299-55FA-53C6-7209-12B9F042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Onset Detection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4E45B-81B1-CFB7-E8AB-504056F9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FF95D-2ECD-9174-8156-28A049D5F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  <p:pic>
        <p:nvPicPr>
          <p:cNvPr id="11" name="Picture 10" descr="A diagram of a process&#10;&#10;AI-generated content may be incorrect.">
            <a:extLst>
              <a:ext uri="{FF2B5EF4-FFF2-40B4-BE49-F238E27FC236}">
                <a16:creationId xmlns:a16="http://schemas.microsoft.com/office/drawing/2014/main" id="{C023016C-2913-52D6-8D5C-DB7CFFCA7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3496"/>
            <a:ext cx="1836663" cy="4040659"/>
          </a:xfrm>
          <a:prstGeom prst="rect">
            <a:avLst/>
          </a:prstGeom>
        </p:spPr>
      </p:pic>
      <p:pic>
        <p:nvPicPr>
          <p:cNvPr id="13" name="Picture 12" descr="A diagram of a sound wave&#10;&#10;AI-generated content may be incorrect.">
            <a:extLst>
              <a:ext uri="{FF2B5EF4-FFF2-40B4-BE49-F238E27FC236}">
                <a16:creationId xmlns:a16="http://schemas.microsoft.com/office/drawing/2014/main" id="{0DCDF877-7A85-38B4-B9F9-AD3247E06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411" y="1690688"/>
            <a:ext cx="4124850" cy="2398613"/>
          </a:xfrm>
          <a:prstGeom prst="rect">
            <a:avLst/>
          </a:prstGeom>
        </p:spPr>
      </p:pic>
      <p:pic>
        <p:nvPicPr>
          <p:cNvPr id="15" name="Picture 14" descr="A graph with orange lines&#10;&#10;AI-generated content may be incorrect.">
            <a:extLst>
              <a:ext uri="{FF2B5EF4-FFF2-40B4-BE49-F238E27FC236}">
                <a16:creationId xmlns:a16="http://schemas.microsoft.com/office/drawing/2014/main" id="{9C447761-A279-42E4-7FEA-2F2EF8543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660" y="2862093"/>
            <a:ext cx="4470914" cy="2258716"/>
          </a:xfrm>
          <a:prstGeom prst="rect">
            <a:avLst/>
          </a:prstGeom>
        </p:spPr>
      </p:pic>
      <p:pic>
        <p:nvPicPr>
          <p:cNvPr id="17" name="Picture 16" descr="A graph of a sound wave&#10;&#10;AI-generated content may be incorrect.">
            <a:extLst>
              <a:ext uri="{FF2B5EF4-FFF2-40B4-BE49-F238E27FC236}">
                <a16:creationId xmlns:a16="http://schemas.microsoft.com/office/drawing/2014/main" id="{0B684E95-2A72-B1C7-CB53-E66BA14D4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033" y="3959099"/>
            <a:ext cx="4390052" cy="221786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760470D-93B6-E861-B12F-95A2C4654CBD}"/>
              </a:ext>
            </a:extLst>
          </p:cNvPr>
          <p:cNvSpPr txBox="1"/>
          <p:nvPr/>
        </p:nvSpPr>
        <p:spPr>
          <a:xfrm>
            <a:off x="2344476" y="5651235"/>
            <a:ext cx="43900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Alben, N. (2023). </a:t>
            </a:r>
            <a:r>
              <a:rPr lang="en-US" sz="1000" i="1" dirty="0"/>
              <a:t>RHYTHM RECREATION STUDY TO INFORM INTELLIGENT RHYTHM PEDAGOGY SYSTEMS </a:t>
            </a:r>
            <a:r>
              <a:rPr lang="en-US" sz="1000" dirty="0"/>
              <a:t>(Master’s Thesis, Georgia Institute of Technology)</a:t>
            </a:r>
          </a:p>
        </p:txBody>
      </p:sp>
    </p:spTree>
    <p:extLst>
      <p:ext uri="{BB962C8B-B14F-4D97-AF65-F5344CB8AC3E}">
        <p14:creationId xmlns:p14="http://schemas.microsoft.com/office/powerpoint/2010/main" val="83176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6FECB-454B-5A3E-6781-5BA862FAF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96E36-D1F1-55AA-AADA-45A25E32C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Onset Detection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819AE-3731-E8FF-F1B4-DC5D346AB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E884-3D69-F801-8B3B-E22679791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57B09E-B47D-AC89-A9E9-C1D4D10E20A3}"/>
              </a:ext>
            </a:extLst>
          </p:cNvPr>
          <p:cNvSpPr txBox="1"/>
          <p:nvPr/>
        </p:nvSpPr>
        <p:spPr>
          <a:xfrm>
            <a:off x="503583" y="1842052"/>
            <a:ext cx="2686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Discussion Points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0F621D-BFEB-371E-91CF-769A03C605AF}"/>
              </a:ext>
            </a:extLst>
          </p:cNvPr>
          <p:cNvSpPr txBox="1"/>
          <p:nvPr/>
        </p:nvSpPr>
        <p:spPr>
          <a:xfrm>
            <a:off x="503583" y="2362748"/>
            <a:ext cx="10999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i="1" dirty="0"/>
              <a:t>I want to know more about the relationship between detection functions and thresholding. Are there mathematically optimized threshold functions? Or is this another area for trade-offs and trial and error? It seems like this would play a larger role in the effectiveness of the algorithms discussed in the paper, but it was only briefly mentioned.” </a:t>
            </a:r>
            <a:r>
              <a:rPr lang="en-US" dirty="0"/>
              <a:t>-  </a:t>
            </a:r>
            <a:r>
              <a:rPr lang="en-US" b="1" u="sng" dirty="0">
                <a:hlinkClick r:id="rId2"/>
              </a:rPr>
              <a:t>Henry Windish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555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07FA8-B31F-4921-7887-156ADCFF6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66665-9B8C-1EAD-882F-9F3260CE7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Onset Detection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5FD1E-430C-3021-CAFA-AA8680DA3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3C563-AF57-A4F7-2F0A-7C4FD9E54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E16022-B043-295F-F851-CA031578E404}"/>
              </a:ext>
            </a:extLst>
          </p:cNvPr>
          <p:cNvSpPr txBox="1"/>
          <p:nvPr/>
        </p:nvSpPr>
        <p:spPr>
          <a:xfrm>
            <a:off x="503583" y="1842052"/>
            <a:ext cx="2686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Discussion Points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0F68DF-A98A-FC0E-A64C-A8654C1FFC4D}"/>
              </a:ext>
            </a:extLst>
          </p:cNvPr>
          <p:cNvSpPr txBox="1"/>
          <p:nvPr/>
        </p:nvSpPr>
        <p:spPr>
          <a:xfrm>
            <a:off x="503583" y="2362748"/>
            <a:ext cx="10999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“The results clearly show that the best algorithm depends on the </a:t>
            </a:r>
            <a:r>
              <a:rPr lang="en-US" b="1" dirty="0"/>
              <a:t>instrument</a:t>
            </a:r>
            <a:r>
              <a:rPr lang="en-US" dirty="0"/>
              <a:t> being analyzed. If you were tasked with building a single, robust onset detector for any kind of music, how should we design a "hybrid" system that intelligently combines the outputs of different methods?”-  </a:t>
            </a:r>
            <a:r>
              <a:rPr lang="en-US" b="1" u="sng" dirty="0">
                <a:hlinkClick r:id="rId2"/>
              </a:rPr>
              <a:t>Govinda Madhava Bs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120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87551-D7D0-ACFC-8732-262F0FC16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D1B09-0D88-3719-9CE4-A2D406178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Onset Detection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25AD5-6026-BF33-EE26-54BA4DD7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5E108-CBE6-BA8F-03AC-BD546B85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5BFC86-631D-6D7D-0955-290D3961DD20}"/>
              </a:ext>
            </a:extLst>
          </p:cNvPr>
          <p:cNvSpPr txBox="1"/>
          <p:nvPr/>
        </p:nvSpPr>
        <p:spPr>
          <a:xfrm>
            <a:off x="99391" y="1842052"/>
            <a:ext cx="2686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Discussion Points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687350-9B96-58EE-9BC9-902A8BC7C5C5}"/>
              </a:ext>
            </a:extLst>
          </p:cNvPr>
          <p:cNvSpPr txBox="1"/>
          <p:nvPr/>
        </p:nvSpPr>
        <p:spPr>
          <a:xfrm>
            <a:off x="99391" y="2455081"/>
            <a:ext cx="11993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“One question I’m still thinking about is how to make evaluations line up more with what we actually </a:t>
            </a:r>
            <a:r>
              <a:rPr lang="en-US" i="1" dirty="0"/>
              <a:t>hear</a:t>
            </a:r>
            <a:r>
              <a:rPr lang="en-US" dirty="0"/>
              <a:t>.” - </a:t>
            </a:r>
            <a:r>
              <a:rPr lang="en-US" b="1" u="sng" dirty="0">
                <a:hlinkClick r:id="rId2"/>
              </a:rPr>
              <a:t>Qiaoyu Yang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1584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49E19-C111-7DBB-A678-E28F0539C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CB3B3-8E80-9E7D-5E36-2954B7A9A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Onset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F059E-9ABE-F3EB-0C01-15A5FCC5B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073A2-5048-C151-C23F-897A34743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B475BB-BB7D-08A3-D77D-9CED031ECCCA}"/>
              </a:ext>
            </a:extLst>
          </p:cNvPr>
          <p:cNvSpPr txBox="1"/>
          <p:nvPr/>
        </p:nvSpPr>
        <p:spPr>
          <a:xfrm>
            <a:off x="704335" y="2026508"/>
            <a:ext cx="956338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 of evaluation</a:t>
            </a:r>
          </a:p>
          <a:p>
            <a:r>
              <a:rPr lang="en-US" dirty="0"/>
              <a:t>Compare a series of ground truth time stamps with a series of predicted time stamps</a:t>
            </a:r>
          </a:p>
          <a:p>
            <a:endParaRPr lang="en-US" dirty="0"/>
          </a:p>
          <a:p>
            <a:r>
              <a:rPr lang="en-US" b="1" dirty="0"/>
              <a:t>Metrics used</a:t>
            </a:r>
          </a:p>
          <a:p>
            <a:r>
              <a:rPr lang="en-US" dirty="0"/>
              <a:t>Usually measure a True Positive within a tolerance range in milliseconds (perceptual relevance)</a:t>
            </a:r>
          </a:p>
          <a:p>
            <a:r>
              <a:rPr lang="en-US" dirty="0"/>
              <a:t>Precision, Recall and F-Measure also calculated (just like a classification problem)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Other metrics can be calculated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mean (absolute) deviation (from expected time stamp)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standard deviation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max deviation</a:t>
            </a:r>
          </a:p>
        </p:txBody>
      </p:sp>
    </p:spTree>
    <p:extLst>
      <p:ext uri="{BB962C8B-B14F-4D97-AF65-F5344CB8AC3E}">
        <p14:creationId xmlns:p14="http://schemas.microsoft.com/office/powerpoint/2010/main" val="3831238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6E4C5-E5EB-B1BC-0E1D-C880BCB5B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701E3-36FF-4CCA-D1F6-53E4B5C98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Onset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F3905-7068-9345-B0A6-DA66A0566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0F056-8A02-071B-1208-BE2741BC8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1AF0E-2C36-E513-34AC-F88D66A95747}"/>
              </a:ext>
            </a:extLst>
          </p:cNvPr>
          <p:cNvSpPr txBox="1"/>
          <p:nvPr/>
        </p:nvSpPr>
        <p:spPr>
          <a:xfrm>
            <a:off x="704335" y="2026508"/>
            <a:ext cx="1031359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 of evaluation</a:t>
            </a:r>
          </a:p>
          <a:p>
            <a:r>
              <a:rPr lang="en-US" dirty="0"/>
              <a:t>Compare a series of ground truth time stamps with a series of predicted time stamps</a:t>
            </a:r>
          </a:p>
          <a:p>
            <a:endParaRPr lang="en-US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b="1" dirty="0"/>
              <a:t>Metrics used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/>
              <a:t>Usually measure a True Positive within a tolerance range in milliseconds (perceptual relevance)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/>
              <a:t>Precision, Recall and F-Measure also calculated (just like a classification problem)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>
                <a:hlinkClick r:id="rId2"/>
              </a:rPr>
              <a:t>https://www.geeksforgeeks.org/machine-learning/f1-score-in-machine-learning/</a:t>
            </a:r>
            <a:endParaRPr lang="en-US" dirty="0"/>
          </a:p>
          <a:p>
            <a:pPr marL="285750" indent="-285750">
              <a:buFont typeface="Wingdings" pitchFamily="2" charset="2"/>
              <a:buChar char="§"/>
            </a:pPr>
            <a:endParaRPr lang="en-US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Other metrics can be calculated 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/>
              <a:t>mean (absolute) deviation (from expected time stamp)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/>
              <a:t>standard deviation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/>
              <a:t>max deviation</a:t>
            </a:r>
          </a:p>
        </p:txBody>
      </p:sp>
    </p:spTree>
    <p:extLst>
      <p:ext uri="{BB962C8B-B14F-4D97-AF65-F5344CB8AC3E}">
        <p14:creationId xmlns:p14="http://schemas.microsoft.com/office/powerpoint/2010/main" val="3287616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DC692-58E5-FA53-B4FA-F67502E0A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08AC1-5386-5CF4-B5FA-F73C5869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Onset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74042-140C-8AB5-767D-BB1543610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FBD36-600C-B3AF-22E4-4292DD122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F1CABF-A173-4B41-60BA-3DD7197B6162}"/>
              </a:ext>
            </a:extLst>
          </p:cNvPr>
          <p:cNvSpPr txBox="1"/>
          <p:nvPr/>
        </p:nvSpPr>
        <p:spPr>
          <a:xfrm>
            <a:off x="683740" y="2391498"/>
            <a:ext cx="111705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“the most commonly used method for onset annotation is</a:t>
            </a:r>
            <a:r>
              <a:rPr lang="en-US" dirty="0"/>
              <a:t> </a:t>
            </a:r>
            <a:r>
              <a:rPr lang="en-US" i="1" dirty="0"/>
              <a:t>marking the earliest time point at which a sound is audible</a:t>
            </a:r>
            <a:r>
              <a:rPr lang="en-US" dirty="0"/>
              <a:t> </a:t>
            </a:r>
            <a:r>
              <a:rPr lang="en-US" i="1" dirty="0"/>
              <a:t>by humans. This instant cannot be defined in pure terms</a:t>
            </a:r>
            <a:r>
              <a:rPr lang="en-US" dirty="0"/>
              <a:t> </a:t>
            </a:r>
            <a:r>
              <a:rPr lang="en-US" i="1" dirty="0"/>
              <a:t>(e.g., minimum increase of volume or sound pressure), but</a:t>
            </a:r>
            <a:r>
              <a:rPr lang="en-US" dirty="0"/>
              <a:t> </a:t>
            </a:r>
            <a:r>
              <a:rPr lang="en-US" i="1" dirty="0"/>
              <a:t>is a rather complex mixture of various factors.”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F79197-A81E-189F-74A4-471C2111A9DE}"/>
              </a:ext>
            </a:extLst>
          </p:cNvPr>
          <p:cNvSpPr txBox="1"/>
          <p:nvPr/>
        </p:nvSpPr>
        <p:spPr>
          <a:xfrm>
            <a:off x="683740" y="3429000"/>
            <a:ext cx="108245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i="1" dirty="0"/>
              <a:t>The annotation process is very time-consuming because</a:t>
            </a:r>
            <a:r>
              <a:rPr lang="en-US" dirty="0"/>
              <a:t> </a:t>
            </a:r>
            <a:r>
              <a:rPr lang="en-US" i="1" dirty="0"/>
              <a:t>it is performed in multiple passes. First, onsets are annotated</a:t>
            </a:r>
            <a:r>
              <a:rPr lang="en-US" dirty="0"/>
              <a:t> </a:t>
            </a:r>
            <a:r>
              <a:rPr lang="en-US" i="1" dirty="0"/>
              <a:t>manually during slowed down playback. In the</a:t>
            </a:r>
            <a:r>
              <a:rPr lang="en-US" dirty="0"/>
              <a:t> </a:t>
            </a:r>
            <a:r>
              <a:rPr lang="en-US" i="1" dirty="0"/>
              <a:t>second pass, visualization support is used to refine the onset</a:t>
            </a:r>
            <a:r>
              <a:rPr lang="en-US" dirty="0"/>
              <a:t> </a:t>
            </a:r>
            <a:r>
              <a:rPr lang="en-US" i="1" dirty="0"/>
              <a:t>positions. Spectrograms obtained with different STFT</a:t>
            </a:r>
            <a:r>
              <a:rPr lang="en-US" dirty="0"/>
              <a:t> </a:t>
            </a:r>
            <a:r>
              <a:rPr lang="en-US" i="1" dirty="0"/>
              <a:t>lengths are used in combination to capture the precise timing</a:t>
            </a:r>
            <a:r>
              <a:rPr lang="en-US" dirty="0"/>
              <a:t> </a:t>
            </a:r>
            <a:r>
              <a:rPr lang="en-US" i="1" dirty="0"/>
              <a:t>of an onset without missing any onset due to insufficient</a:t>
            </a:r>
            <a:r>
              <a:rPr lang="en-US" dirty="0"/>
              <a:t> </a:t>
            </a:r>
            <a:r>
              <a:rPr lang="en-US" i="1" dirty="0"/>
              <a:t>frequency resolution.</a:t>
            </a:r>
            <a:r>
              <a:rPr lang="en-US" dirty="0"/>
              <a:t>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A6FA10-C4CB-534D-FB83-38E59576E0F1}"/>
              </a:ext>
            </a:extLst>
          </p:cNvPr>
          <p:cNvSpPr txBox="1"/>
          <p:nvPr/>
        </p:nvSpPr>
        <p:spPr>
          <a:xfrm>
            <a:off x="3386801" y="5887948"/>
            <a:ext cx="89235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Böck, S., Krebs, F., &amp; </a:t>
            </a:r>
            <a:r>
              <a:rPr lang="en-US" sz="1200" dirty="0" err="1"/>
              <a:t>Schedl</a:t>
            </a:r>
            <a:r>
              <a:rPr lang="en-US" sz="1200" dirty="0"/>
              <a:t>, M. (2012, October). Evaluating the Online Capabilities of Onset Detection Methods. In </a:t>
            </a:r>
            <a:r>
              <a:rPr lang="en-US" sz="1200" i="1" dirty="0"/>
              <a:t>ISMIR</a:t>
            </a:r>
            <a:r>
              <a:rPr lang="en-US" sz="1200" dirty="0"/>
              <a:t>(pp. 49-54).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69AD10-DD4F-A3E1-11A8-CE32B90A3446}"/>
              </a:ext>
            </a:extLst>
          </p:cNvPr>
          <p:cNvSpPr txBox="1"/>
          <p:nvPr/>
        </p:nvSpPr>
        <p:spPr>
          <a:xfrm>
            <a:off x="683740" y="1907994"/>
            <a:ext cx="2426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Ground Truth Dataset</a:t>
            </a:r>
          </a:p>
        </p:txBody>
      </p:sp>
    </p:spTree>
    <p:extLst>
      <p:ext uri="{BB962C8B-B14F-4D97-AF65-F5344CB8AC3E}">
        <p14:creationId xmlns:p14="http://schemas.microsoft.com/office/powerpoint/2010/main" val="2051866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1A06C-1147-4985-DAF3-D88084944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851CB-0837-6DB0-C2BD-A05DECC9C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Onset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C7033-48B9-1634-5571-D1EC68B4A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6F134-1734-B883-ECB0-E458C1B24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5090C8-378A-1016-2726-B232379EB827}"/>
              </a:ext>
            </a:extLst>
          </p:cNvPr>
          <p:cNvSpPr txBox="1"/>
          <p:nvPr/>
        </p:nvSpPr>
        <p:spPr>
          <a:xfrm>
            <a:off x="529281" y="2634455"/>
            <a:ext cx="1082451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“An onset is considered to be correctly</a:t>
            </a:r>
            <a:r>
              <a:rPr lang="en-US" dirty="0"/>
              <a:t> </a:t>
            </a:r>
            <a:r>
              <a:rPr lang="en-US" i="1" dirty="0"/>
              <a:t>detected if there is a ground truth annotation within (+- 25 </a:t>
            </a:r>
            <a:r>
              <a:rPr lang="en-US" i="1" dirty="0" err="1"/>
              <a:t>ms</a:t>
            </a:r>
            <a:r>
              <a:rPr lang="en-US" i="1" dirty="0"/>
              <a:t> ) around the predicted position.”</a:t>
            </a:r>
          </a:p>
          <a:p>
            <a:endParaRPr lang="en-US" i="1" dirty="0"/>
          </a:p>
          <a:p>
            <a:r>
              <a:rPr lang="en-US" i="1" dirty="0"/>
              <a:t>“An important factor in the evaluation is how false positives</a:t>
            </a:r>
            <a:r>
              <a:rPr lang="en-US" dirty="0"/>
              <a:t> </a:t>
            </a:r>
            <a:r>
              <a:rPr lang="en-US" i="1" dirty="0"/>
              <a:t>and negatives are counted. Let us assume that two</a:t>
            </a:r>
            <a:r>
              <a:rPr lang="en-US" dirty="0"/>
              <a:t> </a:t>
            </a:r>
            <a:r>
              <a:rPr lang="en-US" i="1" dirty="0"/>
              <a:t>onsets are detected inside the detection window around a</a:t>
            </a:r>
            <a:r>
              <a:rPr lang="en-US" dirty="0"/>
              <a:t> </a:t>
            </a:r>
            <a:r>
              <a:rPr lang="en-US" i="1" dirty="0"/>
              <a:t>single annotation. If tolerant counting is used, no false positives</a:t>
            </a:r>
            <a:r>
              <a:rPr lang="en-US" dirty="0"/>
              <a:t> </a:t>
            </a:r>
            <a:r>
              <a:rPr lang="en-US" i="1" dirty="0"/>
              <a:t>are counted. Every single detection is considered a</a:t>
            </a:r>
            <a:r>
              <a:rPr lang="en-US" dirty="0"/>
              <a:t> </a:t>
            </a:r>
            <a:r>
              <a:rPr lang="en-US" i="1" dirty="0"/>
              <a:t>true positive, since there is an annotated onset within the</a:t>
            </a:r>
            <a:r>
              <a:rPr lang="en-US" dirty="0"/>
              <a:t> </a:t>
            </a:r>
            <a:r>
              <a:rPr lang="en-US" i="1" dirty="0"/>
              <a:t>detection window.”</a:t>
            </a:r>
          </a:p>
          <a:p>
            <a:endParaRPr lang="en-US" i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5991E6-3381-7376-0511-8F3AF5515BBF}"/>
              </a:ext>
            </a:extLst>
          </p:cNvPr>
          <p:cNvSpPr txBox="1"/>
          <p:nvPr/>
        </p:nvSpPr>
        <p:spPr>
          <a:xfrm>
            <a:off x="3386801" y="5887948"/>
            <a:ext cx="89235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Böck, S., Krebs, F., &amp; </a:t>
            </a:r>
            <a:r>
              <a:rPr lang="en-US" sz="1200" dirty="0" err="1"/>
              <a:t>Schedl</a:t>
            </a:r>
            <a:r>
              <a:rPr lang="en-US" sz="1200" dirty="0"/>
              <a:t>, M. (2012, October). Evaluating the Online Capabilities of Onset Detection Methods. In </a:t>
            </a:r>
            <a:r>
              <a:rPr lang="en-US" sz="1200" i="1" dirty="0"/>
              <a:t>ISMIR</a:t>
            </a:r>
            <a:r>
              <a:rPr lang="en-US" sz="1200" dirty="0"/>
              <a:t>(pp. 49-54).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F66CB2-2A5B-A98D-B38C-BF9AAD758972}"/>
              </a:ext>
            </a:extLst>
          </p:cNvPr>
          <p:cNvSpPr txBox="1"/>
          <p:nvPr/>
        </p:nvSpPr>
        <p:spPr>
          <a:xfrm>
            <a:off x="529281" y="1977905"/>
            <a:ext cx="1296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3947340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7FD31-B926-1189-263C-330D578D9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35B23-9E7B-0D6C-147B-6C6BF07D6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Onset Detection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B8F82-D14C-21A1-A4B5-7060E8DE8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72B12-FC0E-7F37-9D08-376FC4352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  <p:pic>
        <p:nvPicPr>
          <p:cNvPr id="11" name="Picture 10" descr="A diagram of a process&#10;&#10;AI-generated content may be incorrect.">
            <a:extLst>
              <a:ext uri="{FF2B5EF4-FFF2-40B4-BE49-F238E27FC236}">
                <a16:creationId xmlns:a16="http://schemas.microsoft.com/office/drawing/2014/main" id="{63307178-677D-9287-B971-3DC789364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3496"/>
            <a:ext cx="1836663" cy="40406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03CA58-1225-7A48-108D-A3C7E326753B}"/>
              </a:ext>
            </a:extLst>
          </p:cNvPr>
          <p:cNvSpPr txBox="1"/>
          <p:nvPr/>
        </p:nvSpPr>
        <p:spPr>
          <a:xfrm>
            <a:off x="2875722" y="1913496"/>
            <a:ext cx="808727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Activity</a:t>
            </a:r>
          </a:p>
          <a:p>
            <a:endParaRPr lang="en-US" b="1" dirty="0"/>
          </a:p>
          <a:p>
            <a:r>
              <a:rPr lang="en-US" dirty="0"/>
              <a:t>Form groups of 2 and discuss, how you would build a transient detection system</a:t>
            </a:r>
          </a:p>
          <a:p>
            <a:endParaRPr lang="en-US" dirty="0"/>
          </a:p>
          <a:p>
            <a:r>
              <a:rPr lang="en-US" dirty="0"/>
              <a:t>Imagine you are building a system that changes visuals on instrument transients</a:t>
            </a:r>
          </a:p>
          <a:p>
            <a:endParaRPr lang="en-US" dirty="0"/>
          </a:p>
          <a:p>
            <a:r>
              <a:rPr lang="en-US" dirty="0"/>
              <a:t>Steps:</a:t>
            </a:r>
          </a:p>
          <a:p>
            <a:r>
              <a:rPr lang="en-US" dirty="0"/>
              <a:t>	Pick a very specific class of instruments you want to work with</a:t>
            </a:r>
          </a:p>
          <a:p>
            <a:r>
              <a:rPr lang="en-US" dirty="0"/>
              <a:t>	Write up Pseudocode</a:t>
            </a:r>
          </a:p>
          <a:p>
            <a:endParaRPr lang="en-US" dirty="0"/>
          </a:p>
          <a:p>
            <a:r>
              <a:rPr lang="en-US" dirty="0"/>
              <a:t>Feel free to use: </a:t>
            </a:r>
            <a:r>
              <a:rPr lang="en-US" dirty="0">
                <a:hlinkClick r:id="rId3"/>
              </a:rPr>
              <a:t>https://app.tilde.audio/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07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30DB4-719E-B450-1B88-B762786C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1243-D0E7-1386-38FA-DFCABF282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Onset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6161A-BE66-34F5-F826-7FE9A999F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66433-5C70-2C62-DC34-661F40240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2A098B-951A-7E07-F82B-3BEBFA385F47}"/>
              </a:ext>
            </a:extLst>
          </p:cNvPr>
          <p:cNvSpPr txBox="1"/>
          <p:nvPr/>
        </p:nvSpPr>
        <p:spPr>
          <a:xfrm>
            <a:off x="529281" y="2634455"/>
            <a:ext cx="108245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2400" dirty="0"/>
              <a:t>Humans do not play at a constant rate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400" dirty="0"/>
              <a:t>Instantaneous tempo doesn’t really exist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400" dirty="0"/>
              <a:t>difference between notation and perception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400" i="1" dirty="0"/>
              <a:t>“</a:t>
            </a:r>
            <a:r>
              <a:rPr lang="en-US" sz="2400" dirty="0"/>
              <a:t>groove”, “on top of the beat”, “behind the beat”, etc.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400" dirty="0"/>
              <a:t>systematic deviations (e.g. swing)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400" dirty="0"/>
              <a:t>expressive timing</a:t>
            </a:r>
          </a:p>
          <a:p>
            <a:endParaRPr lang="en-US" i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DCD6AB-B4E9-DE34-1096-74B86C3A63F2}"/>
              </a:ext>
            </a:extLst>
          </p:cNvPr>
          <p:cNvSpPr txBox="1"/>
          <p:nvPr/>
        </p:nvSpPr>
        <p:spPr>
          <a:xfrm>
            <a:off x="529281" y="1977905"/>
            <a:ext cx="4285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Evaluating timing is very tricky in music</a:t>
            </a:r>
          </a:p>
        </p:txBody>
      </p:sp>
    </p:spTree>
    <p:extLst>
      <p:ext uri="{BB962C8B-B14F-4D97-AF65-F5344CB8AC3E}">
        <p14:creationId xmlns:p14="http://schemas.microsoft.com/office/powerpoint/2010/main" val="2240373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DA646-9A96-F55B-77CD-2E10F32D9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24188-D047-C22A-FA01-517791A29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Rhythm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80387-FD2A-E1CE-1AFC-9F14333F9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i="1" dirty="0"/>
              <a:t>Rhythm refers to medium and large-scale temporal</a:t>
            </a:r>
            <a:r>
              <a:rPr lang="en-US" sz="2400" dirty="0"/>
              <a:t> </a:t>
            </a:r>
            <a:r>
              <a:rPr lang="en-US" sz="2400" i="1" dirty="0"/>
              <a:t>phenomena</a:t>
            </a:r>
          </a:p>
          <a:p>
            <a:r>
              <a:rPr lang="en-US" sz="1800" i="1" dirty="0"/>
              <a:t>With the following components</a:t>
            </a:r>
          </a:p>
          <a:p>
            <a:pPr lvl="1"/>
            <a:r>
              <a:rPr lang="en-US" sz="2000" dirty="0"/>
              <a:t>Timing: when events occur</a:t>
            </a:r>
          </a:p>
          <a:p>
            <a:pPr lvl="1"/>
            <a:r>
              <a:rPr lang="en-US" sz="2000" dirty="0"/>
              <a:t>Tempo: how often events occur</a:t>
            </a:r>
          </a:p>
          <a:p>
            <a:pPr lvl="1"/>
            <a:r>
              <a:rPr lang="en-US" sz="2000" dirty="0"/>
              <a:t>Meter: what structure best describes the event occurrences</a:t>
            </a:r>
          </a:p>
          <a:p>
            <a:pPr lvl="1"/>
            <a:r>
              <a:rPr lang="en-US" sz="2000" dirty="0"/>
              <a:t>Grouping: phrase structure 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1800" i="1" dirty="0">
                <a:solidFill>
                  <a:schemeClr val="bg2">
                    <a:lumMod val="50000"/>
                  </a:schemeClr>
                </a:solidFill>
              </a:rPr>
              <a:t>The metrical structure of a musical piece is generally organized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800" i="1" dirty="0">
                <a:solidFill>
                  <a:schemeClr val="bg2">
                    <a:lumMod val="50000"/>
                  </a:schemeClr>
                </a:solidFill>
              </a:rPr>
              <a:t>in a hierarchical way, with beats defining the most salient level,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800" i="1" dirty="0">
                <a:solidFill>
                  <a:schemeClr val="bg2">
                    <a:lumMod val="50000"/>
                  </a:schemeClr>
                </a:solidFill>
              </a:rPr>
              <a:t>and downbeats the first beat inside a bar.</a:t>
            </a:r>
          </a:p>
          <a:p>
            <a:r>
              <a:rPr lang="en-US" sz="1800" i="1" dirty="0">
                <a:solidFill>
                  <a:schemeClr val="bg2">
                    <a:lumMod val="50000"/>
                  </a:schemeClr>
                </a:solidFill>
              </a:rPr>
              <a:t>Every bar consists of a certain number of beats, defined by the meter or time signature</a:t>
            </a:r>
          </a:p>
          <a:p>
            <a:pPr marL="0" indent="0">
              <a:buNone/>
            </a:pPr>
            <a:endParaRPr lang="en-US" sz="1800" i="1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i="1" dirty="0">
                <a:solidFill>
                  <a:schemeClr val="bg2">
                    <a:lumMod val="50000"/>
                  </a:schemeClr>
                </a:solidFill>
              </a:rPr>
              <a:t>Very Western Music Transcription Biased</a:t>
            </a:r>
            <a:endParaRPr lang="en-US" sz="18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8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30623-8551-3061-1A8E-CA4D32545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AC81B-0182-6F88-639F-0E09B8338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97F1C6-55E0-BA49-1B6E-903F003F6ED0}"/>
              </a:ext>
            </a:extLst>
          </p:cNvPr>
          <p:cNvSpPr txBox="1"/>
          <p:nvPr/>
        </p:nvSpPr>
        <p:spPr>
          <a:xfrm>
            <a:off x="8775356" y="5632788"/>
            <a:ext cx="27137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Cooper and Meyer (1960); Lerdahl and</a:t>
            </a:r>
            <a:endParaRPr lang="en-US" sz="1200" dirty="0"/>
          </a:p>
          <a:p>
            <a:r>
              <a:rPr lang="en-US" sz="1200" i="1" dirty="0" err="1"/>
              <a:t>Jackendoff</a:t>
            </a:r>
            <a:r>
              <a:rPr lang="en-US" sz="1200" i="1" dirty="0"/>
              <a:t> (1983); Honing (2001)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3378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2136B-7D6D-889C-3E4B-B75225994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7179E-9C54-5AD3-2E3F-91FB2030B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Rhythm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4E8D8-9709-DC0F-782C-7F3BF5B12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i="1" dirty="0"/>
              <a:t>Rhythm refers to medium and large-scale temporal</a:t>
            </a:r>
            <a:r>
              <a:rPr lang="en-US" sz="2400" dirty="0"/>
              <a:t> </a:t>
            </a:r>
            <a:r>
              <a:rPr lang="en-US" sz="2400" i="1" dirty="0"/>
              <a:t>phenomena</a:t>
            </a:r>
          </a:p>
          <a:p>
            <a:r>
              <a:rPr lang="en-US" sz="1800" i="1" dirty="0"/>
              <a:t>With the following components</a:t>
            </a:r>
          </a:p>
          <a:p>
            <a:pPr lvl="1"/>
            <a:r>
              <a:rPr lang="en-US" sz="2000" dirty="0"/>
              <a:t>Timing: when events occur</a:t>
            </a:r>
          </a:p>
          <a:p>
            <a:pPr lvl="1"/>
            <a:r>
              <a:rPr lang="en-US" sz="2000" dirty="0"/>
              <a:t>Tempo: how often events occur</a:t>
            </a:r>
          </a:p>
          <a:p>
            <a:pPr lvl="1"/>
            <a:r>
              <a:rPr lang="en-US" sz="2000" dirty="0"/>
              <a:t>Meter: what structure best describes the event occurrences</a:t>
            </a:r>
          </a:p>
          <a:p>
            <a:pPr lvl="1"/>
            <a:r>
              <a:rPr lang="en-US" sz="2000" dirty="0"/>
              <a:t>Grouping: phrase structure 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1800" i="1" dirty="0"/>
              <a:t>The metrical structure of a musical piece is generally organized</a:t>
            </a:r>
            <a:r>
              <a:rPr lang="en-US" sz="1800" dirty="0"/>
              <a:t> </a:t>
            </a:r>
            <a:r>
              <a:rPr lang="en-US" sz="1800" i="1" dirty="0"/>
              <a:t>in a hierarchical way, with beats defining the most salient level,</a:t>
            </a:r>
            <a:r>
              <a:rPr lang="en-US" sz="1800" dirty="0"/>
              <a:t> </a:t>
            </a:r>
            <a:r>
              <a:rPr lang="en-US" sz="1800" i="1" dirty="0"/>
              <a:t>and downbeats the first beat inside a bar.</a:t>
            </a:r>
          </a:p>
          <a:p>
            <a:r>
              <a:rPr lang="en-US" sz="1800" i="1" dirty="0"/>
              <a:t>Every bar consists of a certain number of beats, defined by the meter or time signature</a:t>
            </a:r>
          </a:p>
          <a:p>
            <a:pPr marL="0" indent="0">
              <a:buNone/>
            </a:pPr>
            <a:endParaRPr lang="en-US" sz="1800" i="1" dirty="0"/>
          </a:p>
          <a:p>
            <a:pPr marL="0" indent="0">
              <a:buNone/>
            </a:pPr>
            <a:r>
              <a:rPr lang="en-US" sz="1800" b="1" i="1" dirty="0"/>
              <a:t>Very Western Music Transcription Biased</a:t>
            </a:r>
            <a:endParaRPr lang="en-US" sz="1800" b="1" dirty="0"/>
          </a:p>
          <a:p>
            <a:endParaRPr lang="en-US" sz="18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AF93C-3F16-F354-3807-861DC88C0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3B5E1-1179-9AC8-FAD5-5F78F7F7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A7CDD-301A-0E49-6EDB-10A02E019A09}"/>
              </a:ext>
            </a:extLst>
          </p:cNvPr>
          <p:cNvSpPr txBox="1"/>
          <p:nvPr/>
        </p:nvSpPr>
        <p:spPr>
          <a:xfrm>
            <a:off x="8775356" y="5754896"/>
            <a:ext cx="27137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Cooper and Meyer (1960); Lerdahl and</a:t>
            </a:r>
            <a:endParaRPr lang="en-US" sz="1200" dirty="0"/>
          </a:p>
          <a:p>
            <a:r>
              <a:rPr lang="en-US" sz="1200" i="1" dirty="0" err="1"/>
              <a:t>Jackendoff</a:t>
            </a:r>
            <a:r>
              <a:rPr lang="en-US" sz="1200" i="1" dirty="0"/>
              <a:t> (1983); Honing (2001)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40733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3A5F6-C882-8DF6-6D67-68867FAA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5EFD8-E231-73B6-F2C6-9B932559A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Rhythm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A9A87-2631-7923-36BF-AA39F3E46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 tried to define it as patterns of onsets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EF8D8-CFE1-3DD2-D569-6F097864A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54F3F-7213-6CDF-A57F-6A82D8D13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  <p:pic>
        <p:nvPicPr>
          <p:cNvPr id="8" name="Picture 7" descr="A diagram of a pattern&#10;&#10;AI-generated content may be incorrect.">
            <a:extLst>
              <a:ext uri="{FF2B5EF4-FFF2-40B4-BE49-F238E27FC236}">
                <a16:creationId xmlns:a16="http://schemas.microsoft.com/office/drawing/2014/main" id="{64030938-AE75-7D62-4C98-3FD5AFBBF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15" y="2164192"/>
            <a:ext cx="5525883" cy="40127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96EF10-1760-7460-7044-E7F9CDB9BBF5}"/>
              </a:ext>
            </a:extLst>
          </p:cNvPr>
          <p:cNvSpPr txBox="1"/>
          <p:nvPr/>
        </p:nvSpPr>
        <p:spPr>
          <a:xfrm>
            <a:off x="6315098" y="2164192"/>
            <a:ext cx="568431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 though, Pulse can be considered regularly spaced </a:t>
            </a:r>
          </a:p>
          <a:p>
            <a:r>
              <a:rPr lang="en-US" dirty="0"/>
              <a:t>events</a:t>
            </a:r>
          </a:p>
          <a:p>
            <a:endParaRPr lang="en-US" dirty="0"/>
          </a:p>
          <a:p>
            <a:r>
              <a:rPr lang="en-US" dirty="0"/>
              <a:t>It is often only explicit through score</a:t>
            </a:r>
          </a:p>
          <a:p>
            <a:endParaRPr lang="en-US" dirty="0"/>
          </a:p>
          <a:p>
            <a:r>
              <a:rPr lang="en-US" dirty="0"/>
              <a:t>Perceptually, multiple onsets can exist simultaneously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1BD2F3-1A85-DEC0-0471-3DE1C62E1ED1}"/>
              </a:ext>
            </a:extLst>
          </p:cNvPr>
          <p:cNvSpPr txBox="1"/>
          <p:nvPr/>
        </p:nvSpPr>
        <p:spPr>
          <a:xfrm>
            <a:off x="6944497" y="5345966"/>
            <a:ext cx="5247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Alben, N. (2023). </a:t>
            </a:r>
            <a:r>
              <a:rPr lang="en-US" sz="1200" i="1" dirty="0"/>
              <a:t>RHYTHM RECREATION STUDY TO INFORM INTELLIGENT RHYTHM PEDAGOGY SYSTEMS </a:t>
            </a:r>
            <a:r>
              <a:rPr lang="en-US" sz="1200" dirty="0"/>
              <a:t>(Master’s Thesis, Georgia Institute of Technology)</a:t>
            </a:r>
          </a:p>
        </p:txBody>
      </p:sp>
    </p:spTree>
    <p:extLst>
      <p:ext uri="{BB962C8B-B14F-4D97-AF65-F5344CB8AC3E}">
        <p14:creationId xmlns:p14="http://schemas.microsoft.com/office/powerpoint/2010/main" val="4133753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215E7-201A-8100-78FB-EA3CFB6E7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D72C1-108C-661D-A49D-24B7AA2C6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Rhythm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5802F-2455-F362-5796-1E34A06C5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6124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I tried to define it as patterns of onsets</a:t>
            </a:r>
          </a:p>
          <a:p>
            <a:endParaRPr lang="en-US" sz="1800" dirty="0"/>
          </a:p>
          <a:p>
            <a:r>
              <a:rPr lang="en-US" sz="1800" dirty="0"/>
              <a:t>How you perceive the pulse determines how you feel the rhythm</a:t>
            </a:r>
          </a:p>
          <a:p>
            <a:endParaRPr lang="en-US" sz="1800" dirty="0"/>
          </a:p>
          <a:p>
            <a:r>
              <a:rPr lang="en-US" sz="1800" dirty="0"/>
              <a:t>MAKES TRANSCRIPTION, EVALUATION, EVERYTHING SO HARD!!!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B8DF5-71EA-89EF-5CD7-8896E916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38E55-FD56-927C-2738-73C064120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7C3FFD-54D3-68D5-D4B9-2E7D1D98023E}"/>
              </a:ext>
            </a:extLst>
          </p:cNvPr>
          <p:cNvSpPr txBox="1"/>
          <p:nvPr/>
        </p:nvSpPr>
        <p:spPr>
          <a:xfrm>
            <a:off x="6944497" y="5345966"/>
            <a:ext cx="5247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Alben, N. (2023). </a:t>
            </a:r>
            <a:r>
              <a:rPr lang="en-US" sz="1200" i="1" dirty="0"/>
              <a:t>RHYTHM RECREATION STUDY TO INFORM INTELLIGENT RHYTHM PEDAGOGY SYSTEMS </a:t>
            </a:r>
            <a:r>
              <a:rPr lang="en-US" sz="1200" dirty="0"/>
              <a:t>(Master’s Thesis, Georgia Institute of Technology)</a:t>
            </a:r>
          </a:p>
        </p:txBody>
      </p:sp>
      <p:pic>
        <p:nvPicPr>
          <p:cNvPr id="7" name="Picture 6" descr="A diagram of a number of numbers&#10;&#10;AI-generated content may be incorrect.">
            <a:extLst>
              <a:ext uri="{FF2B5EF4-FFF2-40B4-BE49-F238E27FC236}">
                <a16:creationId xmlns:a16="http://schemas.microsoft.com/office/drawing/2014/main" id="{5E86C3AB-6E92-9E47-4D77-35817168F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7213"/>
            <a:ext cx="2786124" cy="522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083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673DE-9768-0847-7AF5-9A65EDBC7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276C1-ADCD-FE4D-8999-D0E0400B4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Rhythm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3D542-AC50-A42A-9979-4289567D9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6F90C-DA02-4DEE-C155-3C15A8E54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44467-32AE-6446-FE1A-99BF3E50D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  <p:pic>
        <p:nvPicPr>
          <p:cNvPr id="7" name="Picture 6" descr="A diagram of a function&#10;&#10;AI-generated content may be incorrect.">
            <a:extLst>
              <a:ext uri="{FF2B5EF4-FFF2-40B4-BE49-F238E27FC236}">
                <a16:creationId xmlns:a16="http://schemas.microsoft.com/office/drawing/2014/main" id="{D3040E55-195C-87C4-DFD2-56D8C5B89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64" y="1690688"/>
            <a:ext cx="7772400" cy="423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80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1794D-5C0D-4F57-BDA3-67C5E1DD4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A251-3966-2413-7FCF-40740432D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Onset Detection/ Rhythm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E9468-6073-DFCC-3F84-B54B43B39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Automatic Music Transcription</a:t>
            </a:r>
          </a:p>
          <a:p>
            <a:r>
              <a:rPr lang="en-US" i="1" dirty="0"/>
              <a:t>Interactive Beat Tracking</a:t>
            </a:r>
            <a:endParaRPr lang="en-US" dirty="0"/>
          </a:p>
          <a:p>
            <a:r>
              <a:rPr lang="en-US" i="1" dirty="0"/>
              <a:t>Audio Alignment</a:t>
            </a:r>
            <a:endParaRPr lang="en-US" dirty="0"/>
          </a:p>
          <a:p>
            <a:r>
              <a:rPr lang="en-US" i="1" dirty="0"/>
              <a:t>Classification with Rhythm Patterns</a:t>
            </a:r>
            <a:endParaRPr lang="en-US" dirty="0"/>
          </a:p>
          <a:p>
            <a:r>
              <a:rPr lang="en-US" i="1" dirty="0"/>
              <a:t>Query-by-Rhythm</a:t>
            </a:r>
          </a:p>
          <a:p>
            <a:r>
              <a:rPr lang="en-US" i="1" dirty="0"/>
              <a:t>Performance Assessment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D28D3-533E-EF26-52AB-849725BC4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C295C-C386-A6AF-83FB-D604D8DEC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</p:spTree>
    <p:extLst>
      <p:ext uri="{BB962C8B-B14F-4D97-AF65-F5344CB8AC3E}">
        <p14:creationId xmlns:p14="http://schemas.microsoft.com/office/powerpoint/2010/main" val="3925276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BD8DD-DE71-CBE8-6B1B-95725A110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2F490-7B2F-EF41-9A42-496C31C94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 Detection</a:t>
            </a:r>
          </a:p>
        </p:txBody>
      </p:sp>
      <p:pic>
        <p:nvPicPr>
          <p:cNvPr id="7" name="Content Placeholder 6" descr="A diagram of a computer&#10;&#10;AI-generated content may be incorrect.">
            <a:extLst>
              <a:ext uri="{FF2B5EF4-FFF2-40B4-BE49-F238E27FC236}">
                <a16:creationId xmlns:a16="http://schemas.microsoft.com/office/drawing/2014/main" id="{5EB493AE-65CD-47F0-3C30-4F5DF0E37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9962" y="1690688"/>
            <a:ext cx="6752076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D3D3C-8B39-A878-0B9D-D77261AE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3344E-7E58-4905-E5A2-46FB2897D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092BB1-81AE-F270-1543-DA166295F412}"/>
              </a:ext>
            </a:extLst>
          </p:cNvPr>
          <p:cNvSpPr txBox="1"/>
          <p:nvPr/>
        </p:nvSpPr>
        <p:spPr>
          <a:xfrm>
            <a:off x="6924983" y="5715298"/>
            <a:ext cx="5610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Lerch, Alexander. </a:t>
            </a:r>
            <a:r>
              <a:rPr lang="en-US" sz="1200" i="1" dirty="0"/>
              <a:t>An introduction to audio content analysis: Music Information Retrieval tasks and applications</a:t>
            </a:r>
            <a:r>
              <a:rPr lang="en-US" sz="1200" dirty="0"/>
              <a:t>. John Wiley &amp; Sons, 2022.</a:t>
            </a:r>
          </a:p>
        </p:txBody>
      </p:sp>
    </p:spTree>
    <p:extLst>
      <p:ext uri="{BB962C8B-B14F-4D97-AF65-F5344CB8AC3E}">
        <p14:creationId xmlns:p14="http://schemas.microsoft.com/office/powerpoint/2010/main" val="2463463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32A84-1583-8553-8A80-280C2B156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42856-2E45-460D-E4C0-6BB7E5D1D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 Detection</a:t>
            </a:r>
          </a:p>
        </p:txBody>
      </p:sp>
      <p:pic>
        <p:nvPicPr>
          <p:cNvPr id="7" name="Content Placeholder 6" descr="A diagram of a computer&#10;&#10;AI-generated content may be incorrect.">
            <a:extLst>
              <a:ext uri="{FF2B5EF4-FFF2-40B4-BE49-F238E27FC236}">
                <a16:creationId xmlns:a16="http://schemas.microsoft.com/office/drawing/2014/main" id="{EB3E6FCD-B912-6C65-899E-605C9B51D7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94793"/>
            <a:ext cx="6752076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CEE6C-9C11-28B4-053F-CCBCBED05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1BB2B-A91F-2FBE-B6B3-869D9CE87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1EA45F-5786-777B-26F1-3F6F1EE5E795}"/>
              </a:ext>
            </a:extLst>
          </p:cNvPr>
          <p:cNvSpPr txBox="1"/>
          <p:nvPr/>
        </p:nvSpPr>
        <p:spPr>
          <a:xfrm>
            <a:off x="6924983" y="5715298"/>
            <a:ext cx="5610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Lerch, Alexander. </a:t>
            </a:r>
            <a:r>
              <a:rPr lang="en-US" sz="1200" i="1" dirty="0"/>
              <a:t>An introduction to audio content analysis: Music Information Retrieval tasks and applications</a:t>
            </a:r>
            <a:r>
              <a:rPr lang="en-US" sz="1200" dirty="0"/>
              <a:t>. John Wiley &amp; Sons, 2022.</a:t>
            </a:r>
          </a:p>
        </p:txBody>
      </p:sp>
    </p:spTree>
    <p:extLst>
      <p:ext uri="{BB962C8B-B14F-4D97-AF65-F5344CB8AC3E}">
        <p14:creationId xmlns:p14="http://schemas.microsoft.com/office/powerpoint/2010/main" val="21797615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52C4E-0F61-2D87-4D25-DC650FF94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AD380-C047-E131-1CE4-A8F9BB843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8E6A9-9213-8007-008D-1A02AB34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07AB5-4865-B21B-3ED2-F786DFC6A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Temporal Analysis Introduction</a:t>
            </a:r>
          </a:p>
        </p:txBody>
      </p:sp>
      <p:pic>
        <p:nvPicPr>
          <p:cNvPr id="9" name="Content Placeholder 8" descr="A diagram of performance measurement&#10;&#10;AI-generated content may be incorrect.">
            <a:extLst>
              <a:ext uri="{FF2B5EF4-FFF2-40B4-BE49-F238E27FC236}">
                <a16:creationId xmlns:a16="http://schemas.microsoft.com/office/drawing/2014/main" id="{707A8ACE-8B3C-5D00-BC5D-F06B61245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450" y="1690688"/>
            <a:ext cx="6358316" cy="4351338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6AF1AB-6D45-FF3B-36FD-ADA400BEBF5D}"/>
              </a:ext>
            </a:extLst>
          </p:cNvPr>
          <p:cNvSpPr txBox="1"/>
          <p:nvPr/>
        </p:nvSpPr>
        <p:spPr>
          <a:xfrm>
            <a:off x="7686260" y="5530632"/>
            <a:ext cx="47495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Alben, N. (2023). </a:t>
            </a:r>
            <a:r>
              <a:rPr lang="en-US" sz="1200" i="1" dirty="0"/>
              <a:t>RHYTHM RECREATION STUDY TO INFORM INTELLIGENT RHYTHM PEDAGOGY SYSTEMS </a:t>
            </a:r>
            <a:r>
              <a:rPr lang="en-US" sz="1200" dirty="0"/>
              <a:t>(Master’s Thesis, Georgia Institute of Technology)</a:t>
            </a:r>
          </a:p>
        </p:txBody>
      </p:sp>
    </p:spTree>
    <p:extLst>
      <p:ext uri="{BB962C8B-B14F-4D97-AF65-F5344CB8AC3E}">
        <p14:creationId xmlns:p14="http://schemas.microsoft.com/office/powerpoint/2010/main" val="3554860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mp_symbolic_audio" id="{A9474E27-5F1C-CC4D-940A-6E6E225D7E8F}" vid="{64BFA1BE-9B83-8F4F-89F2-EDE9A139FD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3d566f-9fef-45f4-8127-a2b16b1f23e9" xsi:nil="true"/>
    <lcf76f155ced4ddcb4097134ff3c332f xmlns="a471c273-33e5-4b0d-b9cc-d9b6330ca40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3768A1BC7A9C42861D0CC70843CDBA" ma:contentTypeVersion="10" ma:contentTypeDescription="Create a new document." ma:contentTypeScope="" ma:versionID="72c13479c3d8946c76e3292577a76652">
  <xsd:schema xmlns:xsd="http://www.w3.org/2001/XMLSchema" xmlns:xs="http://www.w3.org/2001/XMLSchema" xmlns:p="http://schemas.microsoft.com/office/2006/metadata/properties" xmlns:ns2="a471c273-33e5-4b0d-b9cc-d9b6330ca405" xmlns:ns3="dd3d566f-9fef-45f4-8127-a2b16b1f23e9" targetNamespace="http://schemas.microsoft.com/office/2006/metadata/properties" ma:root="true" ma:fieldsID="ae77b615c5b855a9c8aae40fb715882f" ns2:_="" ns3:_="">
    <xsd:import namespace="a471c273-33e5-4b0d-b9cc-d9b6330ca405"/>
    <xsd:import namespace="dd3d566f-9fef-45f4-8127-a2b16b1f23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71c273-33e5-4b0d-b9cc-d9b6330ca4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c2506c3-735d-4e70-aa79-204d06275b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3d566f-9fef-45f4-8127-a2b16b1f23e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cf4f890-be8a-4cfc-8b20-d2e191234cc1}" ma:internalName="TaxCatchAll" ma:showField="CatchAllData" ma:web="dd3d566f-9fef-45f4-8127-a2b16b1f23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DB9A43-DB0B-4F19-8E3A-6775C112A4EB}">
  <ds:schemaRefs>
    <ds:schemaRef ds:uri="http://schemas.microsoft.com/office/2006/metadata/properties"/>
    <ds:schemaRef ds:uri="http://schemas.microsoft.com/office/infopath/2007/PartnerControls"/>
    <ds:schemaRef ds:uri="dd3d566f-9fef-45f4-8127-a2b16b1f23e9"/>
    <ds:schemaRef ds:uri="a471c273-33e5-4b0d-b9cc-d9b6330ca405"/>
  </ds:schemaRefs>
</ds:datastoreItem>
</file>

<file path=customXml/itemProps2.xml><?xml version="1.0" encoding="utf-8"?>
<ds:datastoreItem xmlns:ds="http://schemas.openxmlformats.org/officeDocument/2006/customXml" ds:itemID="{EB932F7C-1677-4D96-9ADF-310D4A6341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2D221A-3963-4612-8A65-AA82A1B73F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71c273-33e5-4b0d-b9cc-d9b6330ca405"/>
    <ds:schemaRef ds:uri="dd3d566f-9fef-45f4-8127-a2b16b1f23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</TotalTime>
  <Words>1701</Words>
  <Application>Microsoft Macintosh PowerPoint</Application>
  <PresentationFormat>Widescreen</PresentationFormat>
  <Paragraphs>229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Century Gothic</vt:lpstr>
      <vt:lpstr>Wingdings</vt:lpstr>
      <vt:lpstr>Office Theme</vt:lpstr>
      <vt:lpstr>  Computational Music Analysis:         Audio</vt:lpstr>
      <vt:lpstr>Agenda</vt:lpstr>
      <vt:lpstr>What is an Onset</vt:lpstr>
      <vt:lpstr>What is an Onset</vt:lpstr>
      <vt:lpstr>What is an Onset</vt:lpstr>
      <vt:lpstr>Onset Detection Framework</vt:lpstr>
      <vt:lpstr>Onset Detection Framework</vt:lpstr>
      <vt:lpstr>Onset Detection Framework</vt:lpstr>
      <vt:lpstr>Onset Detection Framework</vt:lpstr>
      <vt:lpstr>Onset Detection Framework</vt:lpstr>
      <vt:lpstr>Evaluation Of Onset Detection</vt:lpstr>
      <vt:lpstr>Evaluation Of Onset Detection</vt:lpstr>
      <vt:lpstr>Evaluation Of Onset Detection</vt:lpstr>
      <vt:lpstr>Evaluation Of Onset Detection</vt:lpstr>
      <vt:lpstr>Onset Detection Framework</vt:lpstr>
      <vt:lpstr>Evaluation Of Onset Detection</vt:lpstr>
      <vt:lpstr>What is Rhythm</vt:lpstr>
      <vt:lpstr>What is Rhythm</vt:lpstr>
      <vt:lpstr>What is Rhythm</vt:lpstr>
      <vt:lpstr>What is Rhythm</vt:lpstr>
      <vt:lpstr>What is Rhythm</vt:lpstr>
      <vt:lpstr>Applications Of Onset Detection/ Rhythm Representations</vt:lpstr>
      <vt:lpstr>Tempo Detection</vt:lpstr>
      <vt:lpstr>Tempo Detection</vt:lpstr>
      <vt:lpstr>Tempo Detection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Alben, Noel</dc:creator>
  <cp:lastModifiedBy>Alben, Noel</cp:lastModifiedBy>
  <cp:revision>2</cp:revision>
  <dcterms:created xsi:type="dcterms:W3CDTF">2025-10-02T09:39:15Z</dcterms:created>
  <dcterms:modified xsi:type="dcterms:W3CDTF">2025-10-02T12:16:46Z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0x010100F23768A1BC7A9C42861D0CC70843CDBA</vt:lpwstr>
  </property>
</Properties>
</file>