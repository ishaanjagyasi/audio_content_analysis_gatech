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3" r:id="rId9"/>
    <p:sldId id="267" r:id="rId10"/>
    <p:sldId id="265" r:id="rId11"/>
    <p:sldId id="266" r:id="rId12"/>
    <p:sldId id="268" r:id="rId13"/>
    <p:sldId id="27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6AD6FB-068C-3044-BFDC-4F5157C626C4}" v="82" dt="2025-09-09T13:17:59.6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8018"/>
  </p:normalViewPr>
  <p:slideViewPr>
    <p:cSldViewPr snapToGrid="0">
      <p:cViewPr varScale="1">
        <p:scale>
          <a:sx n="94" d="100"/>
          <a:sy n="94" d="100"/>
        </p:scale>
        <p:origin x="108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hur, Claire" userId="dc68de1f-84b0-4451-afcc-86d78448e32e" providerId="ADAL" clId="{B76AD6FB-068C-3044-BFDC-4F5157C626C4}"/>
    <pc:docChg chg="modSld">
      <pc:chgData name="Arthur, Claire" userId="dc68de1f-84b0-4451-afcc-86d78448e32e" providerId="ADAL" clId="{B76AD6FB-068C-3044-BFDC-4F5157C626C4}" dt="2025-09-09T13:18:40.956" v="14" actId="729"/>
      <pc:docMkLst>
        <pc:docMk/>
      </pc:docMkLst>
      <pc:sldChg chg="addSp modSp mod">
        <pc:chgData name="Arthur, Claire" userId="dc68de1f-84b0-4451-afcc-86d78448e32e" providerId="ADAL" clId="{B76AD6FB-068C-3044-BFDC-4F5157C626C4}" dt="2025-09-09T13:01:31.648" v="7" actId="166"/>
        <pc:sldMkLst>
          <pc:docMk/>
          <pc:sldMk cId="4119625463" sldId="267"/>
        </pc:sldMkLst>
        <pc:spChg chg="mod">
          <ac:chgData name="Arthur, Claire" userId="dc68de1f-84b0-4451-afcc-86d78448e32e" providerId="ADAL" clId="{B76AD6FB-068C-3044-BFDC-4F5157C626C4}" dt="2025-09-09T13:01:31.648" v="7" actId="166"/>
          <ac:spMkLst>
            <pc:docMk/>
            <pc:sldMk cId="4119625463" sldId="267"/>
            <ac:spMk id="9" creationId="{B805201E-D460-882E-7162-190DD50B6F4D}"/>
          </ac:spMkLst>
        </pc:spChg>
        <pc:grpChg chg="add mod">
          <ac:chgData name="Arthur, Claire" userId="dc68de1f-84b0-4451-afcc-86d78448e32e" providerId="ADAL" clId="{B76AD6FB-068C-3044-BFDC-4F5157C626C4}" dt="2025-09-09T13:01:23.001" v="6" actId="14100"/>
          <ac:grpSpMkLst>
            <pc:docMk/>
            <pc:sldMk cId="4119625463" sldId="267"/>
            <ac:grpSpMk id="13" creationId="{F20889C7-7DCA-334C-9BB5-071B5BF8F291}"/>
          </ac:grpSpMkLst>
        </pc:grpChg>
        <pc:picChg chg="add mod">
          <ac:chgData name="Arthur, Claire" userId="dc68de1f-84b0-4451-afcc-86d78448e32e" providerId="ADAL" clId="{B76AD6FB-068C-3044-BFDC-4F5157C626C4}" dt="2025-09-09T13:01:01.285" v="3" actId="1076"/>
          <ac:picMkLst>
            <pc:docMk/>
            <pc:sldMk cId="4119625463" sldId="267"/>
            <ac:picMk id="12" creationId="{FFEC57D2-7E2E-5C12-03C6-1351A0361F28}"/>
          </ac:picMkLst>
        </pc:picChg>
      </pc:sldChg>
      <pc:sldChg chg="addSp modSp mod modAnim">
        <pc:chgData name="Arthur, Claire" userId="dc68de1f-84b0-4451-afcc-86d78448e32e" providerId="ADAL" clId="{B76AD6FB-068C-3044-BFDC-4F5157C626C4}" dt="2025-09-09T13:18:17.886" v="13" actId="1076"/>
        <pc:sldMkLst>
          <pc:docMk/>
          <pc:sldMk cId="3917061298" sldId="268"/>
        </pc:sldMkLst>
        <pc:picChg chg="add mod">
          <ac:chgData name="Arthur, Claire" userId="dc68de1f-84b0-4451-afcc-86d78448e32e" providerId="ADAL" clId="{B76AD6FB-068C-3044-BFDC-4F5157C626C4}" dt="2025-09-09T13:18:17.886" v="13" actId="1076"/>
          <ac:picMkLst>
            <pc:docMk/>
            <pc:sldMk cId="3917061298" sldId="268"/>
            <ac:picMk id="3" creationId="{F27E041A-927D-DB9B-29A2-EB389E3B9B9D}"/>
          </ac:picMkLst>
        </pc:picChg>
      </pc:sldChg>
      <pc:sldChg chg="mod modShow">
        <pc:chgData name="Arthur, Claire" userId="dc68de1f-84b0-4451-afcc-86d78448e32e" providerId="ADAL" clId="{B76AD6FB-068C-3044-BFDC-4F5157C626C4}" dt="2025-09-09T13:18:40.956" v="14" actId="729"/>
        <pc:sldMkLst>
          <pc:docMk/>
          <pc:sldMk cId="4245072155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209AB-CE13-044F-8E06-B2C9AA580BB2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5FB911-8C40-0744-863F-098B7E0F5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93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FB911-8C40-0744-863F-098B7E0F52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85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FB911-8C40-0744-863F-098B7E0F526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299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FB911-8C40-0744-863F-098B7E0F526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7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TIMBRE? WHY DO WE CARE? WHAT DOES </a:t>
            </a:r>
            <a:r>
              <a:rPr lang="en-US"/>
              <a:t>IT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FB911-8C40-0744-863F-098B7E0F52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300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FB911-8C40-0744-863F-098B7E0F526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31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X(k) is the actual magnitude value at k; f(k) is the frequency value at k. [k being the index]</a:t>
            </a:r>
          </a:p>
          <a:p>
            <a:r>
              <a:rPr lang="en-US" dirty="0"/>
              <a:t>Centroid = 1900.14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FB911-8C40-0744-863F-098B7E0F526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70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FB911-8C40-0744-863F-098B7E0F52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95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Rn = ​Index of the </a:t>
            </a:r>
            <a:r>
              <a:rPr lang="en-US" dirty="0" err="1"/>
              <a:t>rolloff</a:t>
            </a:r>
            <a:r>
              <a:rPr lang="en-US" dirty="0"/>
              <a:t> bin for frame n;</a:t>
            </a:r>
          </a:p>
          <a:p>
            <a:r>
              <a:rPr lang="en-US" dirty="0"/>
              <a:t>N = Total number of frequency bins (typically FFT size / 2 + 1)</a:t>
            </a:r>
          </a:p>
          <a:p>
            <a:endParaRPr lang="en-US" dirty="0"/>
          </a:p>
          <a:p>
            <a:r>
              <a:rPr lang="en-US" dirty="0"/>
              <a:t>Rolloff =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FB911-8C40-0744-863F-098B7E0F526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775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704EE-4250-FE75-497C-F5F5DD045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BBA500-69E9-C3CD-C693-D93A81235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50F471-2BEF-480A-4658-0C7C753F6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SS</a:t>
            </a:r>
            <a:r>
              <a:rPr lang="en-US" dirty="0"/>
              <a:t> = Spectral Spread</a:t>
            </a:r>
          </a:p>
          <a:p>
            <a:r>
              <a:rPr lang="en-US" dirty="0"/>
              <a:t>F(k)= the frequency (in Hz) of bin k</a:t>
            </a:r>
          </a:p>
          <a:p>
            <a:r>
              <a:rPr lang="en-US" dirty="0"/>
              <a:t>X(k)= the magnitude (or power) at bin k</a:t>
            </a:r>
          </a:p>
          <a:p>
            <a:r>
              <a:rPr lang="en-US" dirty="0"/>
              <a:t>SC = Spectral Centroid (the "center of mass" of the spectrum)</a:t>
            </a:r>
          </a:p>
          <a:p>
            <a:r>
              <a:rPr lang="en-US" dirty="0"/>
              <a:t>N = total number of frequency bins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E93AD-3525-9257-4A1D-9F33C28691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FB911-8C40-0744-863F-098B7E0F526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8429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ADC6A-EB3C-2FE9-CF50-70C58D4F2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989A5-CB7A-A41F-5AAC-FDC43CFBB1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BAE8B-56E6-244F-F5F7-206DBB7B3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k(n) is the center frequency of the  nth bin in </a:t>
            </a:r>
            <a:r>
              <a:rPr lang="en-US" dirty="0" err="1"/>
              <a:t>hz</a:t>
            </a:r>
            <a:endParaRPr lang="en-US" dirty="0"/>
          </a:p>
          <a:p>
            <a:r>
              <a:rPr lang="en-US" dirty="0"/>
              <a:t>x(n)  is the magnitude of the nth bin </a:t>
            </a:r>
          </a:p>
          <a:p>
            <a:r>
              <a:rPr lang="en-US" dirty="0"/>
              <a:t>SC is spectral centroid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59F9F-06C6-22EA-59C6-16DBBE811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FB911-8C40-0744-863F-098B7E0F526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3845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FB911-8C40-0744-863F-098B7E0F526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5412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Instruments also have </a:t>
            </a:r>
            <a:r>
              <a:rPr lang="en-US" b="1" dirty="0"/>
              <a:t>filter-like resonances</a:t>
            </a:r>
            <a:r>
              <a:rPr lang="en-US" dirty="0"/>
              <a:t> that shape timbre; but acousticians more commonly call them “resonances” and formants is terminology typically reserved for the human voice.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FB911-8C40-0744-863F-098B7E0F526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3712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93CA8-EF23-604A-E0B4-EFD373BE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3C9AE-1B92-9C8B-04C8-130DAC9D4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69597-98BB-96AD-BF21-CCE34DFEA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Instruments also have </a:t>
            </a:r>
            <a:r>
              <a:rPr lang="en-US" b="1" dirty="0"/>
              <a:t>filter-like resonances</a:t>
            </a:r>
            <a:r>
              <a:rPr lang="en-US" dirty="0"/>
              <a:t> that shape timbre; but acousticians more commonly call them “resonances” and formants is terminology typically reserved for the human voice.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C39E0-B7E5-BC80-1A26-00AFA661E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FB911-8C40-0744-863F-098B7E0F526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87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5CD73-A936-3525-D168-7736C3BC2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10D98-56AC-2479-AACB-7073FDDA2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DF3B7-3A64-41E1-8594-FFD2907E3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D4B12-1383-AD42-92AD-77DF7C3AFF50}" type="datetime1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61BBD-4401-485F-190D-A98E3BF6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AE45C-1BD0-2BD9-078C-EF7ABB5A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32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orful spectrum of equalizer&#10;&#10;Description automatically generated">
            <a:extLst>
              <a:ext uri="{FF2B5EF4-FFF2-40B4-BE49-F238E27FC236}">
                <a16:creationId xmlns:a16="http://schemas.microsoft.com/office/drawing/2014/main" id="{7737A7BC-A701-C931-78B0-710547DEAE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t="4385" b="48947"/>
          <a:stretch/>
        </p:blipFill>
        <p:spPr>
          <a:xfrm>
            <a:off x="0" y="0"/>
            <a:ext cx="12192000" cy="164623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81A9918-6A8E-071E-1832-2B1BE0CB5515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00F202-A2B5-1F52-B239-EFF9F4486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DDB86-D379-F460-FE0C-0E7815A50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6A0D3-3893-74C2-9FC4-AE58A8A1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176963"/>
            <a:ext cx="7010400" cy="68103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algn="l"/>
            <a:r>
              <a:rPr lang="en-US" dirty="0"/>
              <a:t>Timbral Features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4B2DC-3883-01BA-4B44-3C940F911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07479" y="6279119"/>
            <a:ext cx="1020921" cy="442356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6A096487-9F84-9248-ABAD-35D09817155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 descr="A black and white logo&#10;&#10;Description automatically generated">
            <a:extLst>
              <a:ext uri="{FF2B5EF4-FFF2-40B4-BE49-F238E27FC236}">
                <a16:creationId xmlns:a16="http://schemas.microsoft.com/office/drawing/2014/main" id="{1AEFDCCA-5818-25F6-C79D-B13258DB2C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784" y="6106002"/>
            <a:ext cx="2588895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3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0284B-1505-059C-4E86-07470FF33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6643A-91BA-C205-AB5C-9D56A8998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1716C-8BE7-4144-6640-E2469CFC0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02F25-D426-C543-9B23-205D2299CECD}" type="datetime1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9F8DF-AAFD-A424-EC7B-281EAAD21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5A4B5-89A5-8CBC-3476-A4C57613B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0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E8BB3-28A3-A7FC-B2CE-79FEAC78C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0496-02E4-0845-BAD0-DDB3A1F9E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CC4EF-4ED9-A2CB-A367-3B5205894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7E1ABE-7B07-90DD-30B9-616BE312D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9AE0-DD93-284C-9C9F-51936DBCE396}" type="datetime1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27496C-916B-4D94-1656-B7239D33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00B8C-5FBF-978F-5CD6-D9988E251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081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88422-2E90-E698-F3A2-53287F84F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45A94-F9A9-EC9C-AB5C-DF1B14C94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06938-0A3E-50E1-DF08-A745EFF24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181DAD-9171-E93D-5F7D-F34851FCE0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DC279B-A01E-F93C-71E9-0A42CC2D3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31DA52-7302-B5F8-3F44-11A8BC0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3AFD-D178-EE41-80F7-DC6EDDFDB254}" type="datetime1">
              <a:rPr lang="en-US" smtClean="0"/>
              <a:t>9/8/25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6ECA9-46C1-1831-B789-BF1F9741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8F16D8-0C07-732E-C0A9-3F3C37B15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4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E0184-B174-6828-E23E-B03B4CEF6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D9154B-F6A4-86EC-7FCE-E0618A17D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360B4-C6F2-2746-AEAE-93CD670CBEEA}" type="datetime1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8C3F6-1749-E4B2-64DE-84B3B35D7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A66B3-4ECA-C278-30AB-571D57D79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4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797711-2F89-5898-C20A-5FF8FCF66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F044-B807-1649-8A83-2DAF1C345290}" type="datetime1">
              <a:rPr lang="en-US" smtClean="0"/>
              <a:t>9/8/25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8DF91B-B0ED-8C83-B58E-8ACAFDEEB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2AB8B-FD07-CC0B-6221-CA08F063A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69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152C1-78E6-E979-1D0C-2D9F6F1F6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EC336-6F0C-056C-9588-21DBE72BE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2CB36E-E619-E817-6BAC-AA1BB8AAF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451BE-61C8-6F6D-0F0F-00CFBF6A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10E8-FEC3-224C-BEC8-D2B494C4B665}" type="datetime1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33603-AE57-7A85-2C95-9D4DD5027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C3055-F56A-4230-8427-F22E26204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02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AF2F2-8C7A-54DB-E738-440EE6029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8082D-C588-0A24-3B48-DBE339C95E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A2C9B-7E14-CAAB-B99C-E907D6CD5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F2796-E8DA-A43E-85D0-494781417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F3156-90CC-C346-A118-874197777E80}" type="datetime1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66EA5-3707-C2FC-828E-19CAC30C3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F18BA-543F-0585-BD77-A6D1CB716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59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B4AAA-DDEE-931C-D5BD-BF2617106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19534-BF98-74C0-9009-7C9F7591F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085AF-DD00-8B1E-835A-B675164F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26CA-4F64-3446-A1E2-D20833F95A9C}" type="datetime1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E58AC-AA8D-30FE-7162-B5B21D881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E5B78-4F8D-4D67-991F-37FD16E90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9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39D641-EE3D-8A52-801C-7D5B60B1B3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2962E2-E03E-856E-8782-FEA095CBB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B5918-BEC0-4F6D-EE90-89DE996CF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9FEDB-3B76-0A4D-848C-0B586EEDAA33}" type="datetime1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BB72E-005F-53D0-B94E-0A947CC5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F72FB-9AEC-5A4F-6157-85584CB17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416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EF7DE5-201F-F2C6-0C14-75F496734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CDAD3-AD4F-06B8-9148-92661282A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66133-D25A-B5EC-7530-BDA51BEBD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B63B22-8BEB-9B48-8AD9-ED6DDFA1D91D}" type="datetime1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C4EE8-903A-E548-4A2D-F025F61F4D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045F9-9087-2E0E-C9EC-58AA46F1D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79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wav"/><Relationship Id="rId13" Type="http://schemas.openxmlformats.org/officeDocument/2006/relationships/image" Target="../media/image6.png"/><Relationship Id="rId3" Type="http://schemas.microsoft.com/office/2007/relationships/media" Target="../media/media2.wav"/><Relationship Id="rId7" Type="http://schemas.microsoft.com/office/2007/relationships/media" Target="../media/media4.wav"/><Relationship Id="rId12" Type="http://schemas.openxmlformats.org/officeDocument/2006/relationships/image" Target="../media/image5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11" Type="http://schemas.openxmlformats.org/officeDocument/2006/relationships/image" Target="../media/image4.png"/><Relationship Id="rId5" Type="http://schemas.microsoft.com/office/2007/relationships/media" Target="../media/media3.wav"/><Relationship Id="rId15" Type="http://schemas.openxmlformats.org/officeDocument/2006/relationships/image" Target="../media/image8.png"/><Relationship Id="rId10" Type="http://schemas.openxmlformats.org/officeDocument/2006/relationships/notesSlide" Target="../notesSlides/notesSlide5.xml"/><Relationship Id="rId4" Type="http://schemas.openxmlformats.org/officeDocument/2006/relationships/audio" Target="../media/media2.wav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olorful spectrum of equalizer&#10;&#10;Description automatically generated">
            <a:extLst>
              <a:ext uri="{FF2B5EF4-FFF2-40B4-BE49-F238E27FC236}">
                <a16:creationId xmlns:a16="http://schemas.microsoft.com/office/drawing/2014/main" id="{18654B00-653E-11D2-07C9-93786F65F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5912"/>
            <a:ext cx="12192000" cy="28209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C16661-6C75-1D2A-5269-D4A880F41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090399" cy="1993113"/>
          </a:xfrm>
        </p:spPr>
        <p:txBody>
          <a:bodyPr/>
          <a:lstStyle/>
          <a:p>
            <a:pPr algn="l"/>
            <a:r>
              <a:rPr lang="en-US" dirty="0">
                <a:latin typeface="Century Gothic" panose="020B0502020202020204" pitchFamily="34" charset="0"/>
              </a:rPr>
              <a:t>  Computational Music Analysis:      </a:t>
            </a:r>
            <a:br>
              <a:rPr lang="en-US" dirty="0">
                <a:latin typeface="Century Gothic" panose="020B0502020202020204" pitchFamily="34" charset="0"/>
              </a:rPr>
            </a:br>
            <a:r>
              <a:rPr lang="en-US" dirty="0">
                <a:latin typeface="Century Gothic" panose="020B0502020202020204" pitchFamily="34" charset="0"/>
              </a:rPr>
              <a:t>  Audio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22C9D1-C445-DADC-1023-1FDAD6607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34209" y="1351971"/>
            <a:ext cx="9144000" cy="53954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entury Gothic" panose="020B0502020202020204" pitchFamily="34" charset="0"/>
              </a:rPr>
              <a:t>A.K.A. “Audio Content Analysis”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1D9156-A9F0-C927-E33D-E700556DFC22}"/>
              </a:ext>
            </a:extLst>
          </p:cNvPr>
          <p:cNvSpPr txBox="1"/>
          <p:nvPr/>
        </p:nvSpPr>
        <p:spPr>
          <a:xfrm>
            <a:off x="326720" y="5742252"/>
            <a:ext cx="81419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Century Gothic" panose="020B0502020202020204" pitchFamily="34" charset="0"/>
              </a:rPr>
              <a:t>Claire Arthur</a:t>
            </a:r>
          </a:p>
          <a:p>
            <a:r>
              <a:rPr lang="en-US" sz="2800" dirty="0">
                <a:solidFill>
                  <a:srgbClr val="002060"/>
                </a:solidFill>
                <a:latin typeface="Century Gothic" panose="020B0502020202020204" pitchFamily="34" charset="0"/>
              </a:rPr>
              <a:t>Noel </a:t>
            </a:r>
            <a:r>
              <a:rPr lang="en-US" sz="28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Albën</a:t>
            </a:r>
            <a:endParaRPr lang="en-US" sz="2800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5" descr="A logo on a black background&#10;&#10;Description automatically generated">
            <a:extLst>
              <a:ext uri="{FF2B5EF4-FFF2-40B4-BE49-F238E27FC236}">
                <a16:creationId xmlns:a16="http://schemas.microsoft.com/office/drawing/2014/main" id="{C08F9358-A231-F7BB-9BEB-4ECB615E5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3176" y="5742252"/>
            <a:ext cx="3168824" cy="10073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4F8731-5FB0-751B-5AB2-6FF696F33B69}"/>
              </a:ext>
            </a:extLst>
          </p:cNvPr>
          <p:cNvSpPr txBox="1"/>
          <p:nvPr/>
        </p:nvSpPr>
        <p:spPr>
          <a:xfrm>
            <a:off x="377521" y="2222278"/>
            <a:ext cx="5718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3.2 Timbral Features</a:t>
            </a:r>
          </a:p>
        </p:txBody>
      </p:sp>
    </p:spTree>
    <p:extLst>
      <p:ext uri="{BB962C8B-B14F-4D97-AF65-F5344CB8AC3E}">
        <p14:creationId xmlns:p14="http://schemas.microsoft.com/office/powerpoint/2010/main" val="1229483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58BA4-5254-6A4D-D484-FFCD35D15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Timbral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BE87B-0373-C75A-0E73-EC45A3462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We can use features from the </a:t>
            </a:r>
            <a:r>
              <a:rPr lang="en-US" dirty="0">
                <a:solidFill>
                  <a:srgbClr val="00B0F0"/>
                </a:solidFill>
              </a:rPr>
              <a:t>frequency domain</a:t>
            </a:r>
            <a:r>
              <a:rPr lang="en-US" dirty="0"/>
              <a:t> to gain information about </a:t>
            </a:r>
            <a:r>
              <a:rPr lang="en-US" dirty="0">
                <a:solidFill>
                  <a:srgbClr val="00B0F0"/>
                </a:solidFill>
              </a:rPr>
              <a:t>pitch</a:t>
            </a:r>
            <a:r>
              <a:rPr lang="en-US" dirty="0"/>
              <a:t>-based information</a:t>
            </a:r>
          </a:p>
          <a:p>
            <a:pPr>
              <a:spcAft>
                <a:spcPts val="600"/>
              </a:spcAft>
            </a:pPr>
            <a:r>
              <a:rPr lang="en-US" dirty="0"/>
              <a:t>We (mostly) use features from the </a:t>
            </a:r>
            <a:r>
              <a:rPr lang="en-US" dirty="0">
                <a:solidFill>
                  <a:srgbClr val="00B0F0"/>
                </a:solidFill>
              </a:rPr>
              <a:t>time domain </a:t>
            </a:r>
            <a:r>
              <a:rPr lang="en-US" dirty="0"/>
              <a:t>to gain information about </a:t>
            </a:r>
            <a:r>
              <a:rPr lang="en-US" dirty="0">
                <a:solidFill>
                  <a:srgbClr val="00B0F0"/>
                </a:solidFill>
              </a:rPr>
              <a:t>timing</a:t>
            </a:r>
            <a:r>
              <a:rPr lang="en-US" dirty="0"/>
              <a:t>-based features </a:t>
            </a:r>
          </a:p>
          <a:p>
            <a:pPr>
              <a:spcAft>
                <a:spcPts val="600"/>
              </a:spcAft>
            </a:pPr>
            <a:r>
              <a:rPr lang="en-US" dirty="0"/>
              <a:t>However, what separates the same melody played by </a:t>
            </a:r>
            <a:r>
              <a:rPr lang="en-US" dirty="0">
                <a:solidFill>
                  <a:srgbClr val="00B0F0"/>
                </a:solidFill>
              </a:rPr>
              <a:t>two different instruments? </a:t>
            </a:r>
            <a:r>
              <a:rPr lang="en-US" dirty="0"/>
              <a:t>Or the same sentence spoken by two different individuals?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55B3F-06BE-F84B-5FA9-19D35B256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B103F-FD11-D619-8210-2F8299FD0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Timbral Features</a:t>
            </a:r>
          </a:p>
        </p:txBody>
      </p:sp>
    </p:spTree>
    <p:extLst>
      <p:ext uri="{BB962C8B-B14F-4D97-AF65-F5344CB8AC3E}">
        <p14:creationId xmlns:p14="http://schemas.microsoft.com/office/powerpoint/2010/main" val="744684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83099-FBD8-9909-D439-9AC31018D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Timbre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4D652-48E4-2224-3576-CBE0B98CF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Timbre is a notoriously challenging perceptual attribute, partly due to its (well critiqued) poor definition: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i="1" dirty="0"/>
              <a:t>“that attribute</a:t>
            </a:r>
            <a:r>
              <a:rPr lang="en-US" dirty="0"/>
              <a:t> </a:t>
            </a:r>
            <a:r>
              <a:rPr lang="en-US" i="1" dirty="0"/>
              <a:t>of auditory sensation in terms of which a listener can judge that </a:t>
            </a:r>
            <a:r>
              <a:rPr lang="en-US" i="1" dirty="0">
                <a:solidFill>
                  <a:srgbClr val="00B0F0"/>
                </a:solidFill>
              </a:rPr>
              <a:t>two sounds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i="1" dirty="0">
                <a:solidFill>
                  <a:srgbClr val="00B0F0"/>
                </a:solidFill>
              </a:rPr>
              <a:t>similarly presented and having the same loudness and pitch are dissimilar</a:t>
            </a:r>
            <a:r>
              <a:rPr lang="en-US" i="1" dirty="0"/>
              <a:t>” </a:t>
            </a:r>
          </a:p>
          <a:p>
            <a:pPr marL="0" indent="0" algn="r">
              <a:buNone/>
            </a:pPr>
            <a:r>
              <a:rPr lang="en-US" i="1" dirty="0"/>
              <a:t>- </a:t>
            </a:r>
            <a:r>
              <a:rPr lang="en-US" dirty="0"/>
              <a:t>American Standards Association (1960)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6CA45B-8C39-6C64-7642-92C451668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Timbral Features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0EEF23-4A67-EDD9-F1FB-5F89E3BF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867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B2C86-3CC0-5B1D-4B7C-F0AC6603D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Timbre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CD2A1-6833-4C33-E7D8-15F693A25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means that:</a:t>
            </a:r>
          </a:p>
          <a:p>
            <a:pPr lvl="1"/>
            <a:endParaRPr lang="en-US" dirty="0"/>
          </a:p>
          <a:p>
            <a:pPr lvl="1"/>
            <a:r>
              <a:rPr lang="en-US" sz="2800" dirty="0"/>
              <a:t>Timbre is defined by what it </a:t>
            </a:r>
            <a:r>
              <a:rPr lang="en-US" sz="2800" i="1" dirty="0"/>
              <a:t>is not</a:t>
            </a:r>
            <a:r>
              <a:rPr lang="en-US" sz="2800" dirty="0"/>
              <a:t> (rather than what it </a:t>
            </a:r>
            <a:r>
              <a:rPr lang="en-US" sz="2800" i="1" dirty="0"/>
              <a:t>is</a:t>
            </a:r>
            <a:r>
              <a:rPr lang="en-US" sz="2800" dirty="0"/>
              <a:t>)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Unlike pitch, loudness, or duration, timbre is a </a:t>
            </a:r>
            <a:r>
              <a:rPr lang="en-US" sz="2800" i="1" dirty="0">
                <a:solidFill>
                  <a:srgbClr val="00B0F0"/>
                </a:solidFill>
              </a:rPr>
              <a:t>multidimensional property</a:t>
            </a:r>
          </a:p>
          <a:p>
            <a:pPr marL="0" indent="0">
              <a:buNone/>
            </a:pPr>
            <a:r>
              <a:rPr lang="en-US" i="1" dirty="0"/>
              <a:t> </a:t>
            </a:r>
          </a:p>
          <a:p>
            <a:pPr marL="0" indent="0">
              <a:buNone/>
            </a:pPr>
            <a:r>
              <a:rPr lang="en-US" i="1" dirty="0"/>
              <a:t>“It is the irregularities and variations that make a</a:t>
            </a:r>
            <a:r>
              <a:rPr lang="en-US" dirty="0"/>
              <a:t> </a:t>
            </a:r>
            <a:r>
              <a:rPr lang="en-US" i="1" dirty="0"/>
              <a:t>musical tone sound interesting and that give it a particular and natural quality.”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C7B2CD-5A9F-44CB-9710-657F8CEB6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Timbral Features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6354C2-2F52-68BD-AAE3-209A4FD41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719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CAFC3-C3B4-8A21-6469-7B5E12912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Timbre: Spectra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8B0F8D-D8A4-7673-4067-9BAF58F27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Timbral Features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E9125E-A4F3-931E-822F-93ED3F4A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5" name="Picture 14" descr="A graph of a flute&#10;&#10;AI-generated content may be incorrect.">
            <a:extLst>
              <a:ext uri="{FF2B5EF4-FFF2-40B4-BE49-F238E27FC236}">
                <a16:creationId xmlns:a16="http://schemas.microsoft.com/office/drawing/2014/main" id="{2AAB7074-3515-9B3E-2CDE-B2ACE2BD65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613" y="1338484"/>
            <a:ext cx="5994042" cy="2743200"/>
          </a:xfrm>
          <a:prstGeom prst="rect">
            <a:avLst/>
          </a:prstGeom>
        </p:spPr>
      </p:pic>
      <p:pic>
        <p:nvPicPr>
          <p:cNvPr id="17" name="Picture 16" descr="A graph of a frequency&#10;&#10;AI-generated content may be incorrect.">
            <a:extLst>
              <a:ext uri="{FF2B5EF4-FFF2-40B4-BE49-F238E27FC236}">
                <a16:creationId xmlns:a16="http://schemas.microsoft.com/office/drawing/2014/main" id="{EBC936CF-31A9-DBFA-53B5-5F9A7ADAF45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7421" y="1365012"/>
            <a:ext cx="5994042" cy="2743200"/>
          </a:xfrm>
          <a:prstGeom prst="rect">
            <a:avLst/>
          </a:prstGeom>
        </p:spPr>
      </p:pic>
      <p:pic>
        <p:nvPicPr>
          <p:cNvPr id="19" name="Picture 18" descr="A graph of a trumpet&#10;&#10;AI-generated content may be incorrect.">
            <a:extLst>
              <a:ext uri="{FF2B5EF4-FFF2-40B4-BE49-F238E27FC236}">
                <a16:creationId xmlns:a16="http://schemas.microsoft.com/office/drawing/2014/main" id="{ADD1FEA7-B7D4-9146-EC09-CA4D8ED7988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484" y="4074347"/>
            <a:ext cx="5994042" cy="2743200"/>
          </a:xfrm>
          <a:prstGeom prst="rect">
            <a:avLst/>
          </a:prstGeom>
        </p:spPr>
      </p:pic>
      <p:pic>
        <p:nvPicPr>
          <p:cNvPr id="21" name="Picture 20" descr="A graph of a violin&#10;&#10;AI-generated content may be incorrect.">
            <a:extLst>
              <a:ext uri="{FF2B5EF4-FFF2-40B4-BE49-F238E27FC236}">
                <a16:creationId xmlns:a16="http://schemas.microsoft.com/office/drawing/2014/main" id="{17A70E94-9730-D4F4-DF04-02A86510FCB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02371" y="4074347"/>
            <a:ext cx="5994040" cy="2743200"/>
          </a:xfrm>
          <a:prstGeom prst="rect">
            <a:avLst/>
          </a:prstGeom>
        </p:spPr>
      </p:pic>
      <p:pic>
        <p:nvPicPr>
          <p:cNvPr id="6" name="Fl-ord-F4-mf-N-N.wav">
            <a:hlinkClick r:id="" action="ppaction://media"/>
            <a:extLst>
              <a:ext uri="{FF2B5EF4-FFF2-40B4-BE49-F238E27FC236}">
                <a16:creationId xmlns:a16="http://schemas.microsoft.com/office/drawing/2014/main" id="{192BD27C-7AD1-F401-B304-B3F3D48DE35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3836558" y="1649763"/>
            <a:ext cx="476315" cy="4763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6EB5F0-6659-73E0-61EE-899BEF91A178}"/>
              </a:ext>
            </a:extLst>
          </p:cNvPr>
          <p:cNvSpPr txBox="1"/>
          <p:nvPr/>
        </p:nvSpPr>
        <p:spPr>
          <a:xfrm>
            <a:off x="4532100" y="1649763"/>
            <a:ext cx="1590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Flute</a:t>
            </a:r>
          </a:p>
        </p:txBody>
      </p:sp>
      <p:pic>
        <p:nvPicPr>
          <p:cNvPr id="8" name="Ob-ord-F4-mf-N-N.wav">
            <a:hlinkClick r:id="" action="ppaction://media"/>
            <a:extLst>
              <a:ext uri="{FF2B5EF4-FFF2-40B4-BE49-F238E27FC236}">
                <a16:creationId xmlns:a16="http://schemas.microsoft.com/office/drawing/2014/main" id="{C952EE5C-C7A6-64FF-10BF-C7DE902F530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10307479" y="1554865"/>
            <a:ext cx="591066" cy="5910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0ED54F-4C7F-B92B-E333-2AEDD57E7907}"/>
              </a:ext>
            </a:extLst>
          </p:cNvPr>
          <p:cNvSpPr txBox="1"/>
          <p:nvPr/>
        </p:nvSpPr>
        <p:spPr>
          <a:xfrm>
            <a:off x="11114363" y="1661848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Oboe</a:t>
            </a:r>
          </a:p>
        </p:txBody>
      </p:sp>
      <p:pic>
        <p:nvPicPr>
          <p:cNvPr id="12" name="Vn-ord-F4-mf-4c-N.wav">
            <a:hlinkClick r:id="" action="ppaction://media"/>
            <a:extLst>
              <a:ext uri="{FF2B5EF4-FFF2-40B4-BE49-F238E27FC236}">
                <a16:creationId xmlns:a16="http://schemas.microsoft.com/office/drawing/2014/main" id="{7DE20421-08AD-667E-191F-F03078E2EAFC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10282427" y="4372436"/>
            <a:ext cx="591066" cy="5910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761C05B-4A63-4E4D-6BB8-D5E01463FE59}"/>
              </a:ext>
            </a:extLst>
          </p:cNvPr>
          <p:cNvSpPr txBox="1"/>
          <p:nvPr/>
        </p:nvSpPr>
        <p:spPr>
          <a:xfrm>
            <a:off x="11095227" y="4433696"/>
            <a:ext cx="2162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Violin</a:t>
            </a:r>
          </a:p>
        </p:txBody>
      </p:sp>
      <p:pic>
        <p:nvPicPr>
          <p:cNvPr id="10" name="TpC-ord-F4-mf-N-T25u.wav">
            <a:hlinkClick r:id="" action="ppaction://media"/>
            <a:extLst>
              <a:ext uri="{FF2B5EF4-FFF2-40B4-BE49-F238E27FC236}">
                <a16:creationId xmlns:a16="http://schemas.microsoft.com/office/drawing/2014/main" id="{EBB9D444-9271-48A2-BDD3-B5A54C290E3F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3885450" y="4449609"/>
            <a:ext cx="476315" cy="4763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9796F3-83D8-CF0A-A037-1B0A238BFE8F}"/>
              </a:ext>
            </a:extLst>
          </p:cNvPr>
          <p:cNvSpPr txBox="1"/>
          <p:nvPr/>
        </p:nvSpPr>
        <p:spPr>
          <a:xfrm>
            <a:off x="4580992" y="4503100"/>
            <a:ext cx="175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Trumpet</a:t>
            </a:r>
          </a:p>
        </p:txBody>
      </p:sp>
    </p:spTree>
    <p:extLst>
      <p:ext uri="{BB962C8B-B14F-4D97-AF65-F5344CB8AC3E}">
        <p14:creationId xmlns:p14="http://schemas.microsoft.com/office/powerpoint/2010/main" val="1633184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682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35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6165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E194F-8891-DB7C-EB55-E1016ABDD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Timbre: Spectra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53CEC-4438-0B4C-A343-F65C86AD4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7259"/>
            <a:ext cx="11228640" cy="4351338"/>
          </a:xfrm>
        </p:spPr>
        <p:txBody>
          <a:bodyPr>
            <a:normAutofit/>
          </a:bodyPr>
          <a:lstStyle/>
          <a:p>
            <a:r>
              <a:rPr lang="en-US" sz="2300" dirty="0"/>
              <a:t>Since the spectrum is so important to the overall timbre, we may be unsurprised at how many statistical features attempt to capture some ‘snapshot’ of the spectrum.</a:t>
            </a:r>
          </a:p>
          <a:p>
            <a:r>
              <a:rPr lang="en-US" sz="2300" dirty="0"/>
              <a:t>Applied to linear magnitude (not dB)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3D21D-085F-5438-6191-FAE5C227B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Timbral Features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94521D-1B1A-92E7-67DD-C20A3668E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55946F-31BC-9DB2-5E19-1AF6FD46D8FC}"/>
              </a:ext>
            </a:extLst>
          </p:cNvPr>
          <p:cNvSpPr txBox="1"/>
          <p:nvPr/>
        </p:nvSpPr>
        <p:spPr>
          <a:xfrm>
            <a:off x="7872211" y="2905780"/>
            <a:ext cx="4194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Century Gothic" panose="020B0502020202020204" pitchFamily="34" charset="0"/>
              </a:rPr>
              <a:t>Spectral Centroid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090E38-AEA1-1F70-65C2-FBAF82375633}"/>
              </a:ext>
            </a:extLst>
          </p:cNvPr>
          <p:cNvSpPr txBox="1"/>
          <p:nvPr/>
        </p:nvSpPr>
        <p:spPr>
          <a:xfrm>
            <a:off x="7389696" y="3445005"/>
            <a:ext cx="4677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“center of gravity” of magnitude spectrum (i.e., weighted mean) </a:t>
            </a:r>
          </a:p>
        </p:txBody>
      </p:sp>
      <p:pic>
        <p:nvPicPr>
          <p:cNvPr id="13" name="Picture 12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1DD49259-93E8-86FD-354A-838BCB923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696" y="4193492"/>
            <a:ext cx="4279900" cy="1803400"/>
          </a:xfrm>
          <a:prstGeom prst="rect">
            <a:avLst/>
          </a:prstGeom>
        </p:spPr>
      </p:pic>
      <p:pic>
        <p:nvPicPr>
          <p:cNvPr id="14" name="Picture 1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7A315DEE-D3DA-0C99-F1BC-0CEA2F402D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51" y="3159443"/>
            <a:ext cx="7059645" cy="301752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3BFC04-43A6-B979-D524-C73E6DC3F377}"/>
              </a:ext>
            </a:extLst>
          </p:cNvPr>
          <p:cNvCxnSpPr/>
          <p:nvPr/>
        </p:nvCxnSpPr>
        <p:spPr>
          <a:xfrm flipV="1">
            <a:off x="1992573" y="3671248"/>
            <a:ext cx="0" cy="2197289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527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91821-3ABF-1E6E-CC34-19561666F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Spectral Centroid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0D0B3B-E2F4-69E3-8F68-8B9303077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Timbral Features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A74A53-E296-AAB9-AF5C-82528168A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 descr="A graph of frequency and frequency&#10;&#10;AI-generated content may be incorrect.">
            <a:extLst>
              <a:ext uri="{FF2B5EF4-FFF2-40B4-BE49-F238E27FC236}">
                <a16:creationId xmlns:a16="http://schemas.microsoft.com/office/drawing/2014/main" id="{02C39C46-1B45-8516-AC7E-C6C0D14D65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098"/>
          <a:stretch>
            <a:fillRect/>
          </a:stretch>
        </p:blipFill>
        <p:spPr>
          <a:xfrm>
            <a:off x="493486" y="1684359"/>
            <a:ext cx="6473372" cy="42872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188109-B5CC-5805-EE60-6EA0437C05D7}"/>
              </a:ext>
            </a:extLst>
          </p:cNvPr>
          <p:cNvSpPr txBox="1"/>
          <p:nvPr/>
        </p:nvSpPr>
        <p:spPr>
          <a:xfrm>
            <a:off x="7315200" y="1988457"/>
            <a:ext cx="4383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exact centroid for each. </a:t>
            </a:r>
          </a:p>
        </p:txBody>
      </p:sp>
      <p:pic>
        <p:nvPicPr>
          <p:cNvPr id="10" name="Picture 9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038671F3-2F52-43B2-C40F-AD8E39E31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7765" y="2698575"/>
            <a:ext cx="42799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336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32C5E-E5C3-0AE1-C7B7-470709B73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EC62D-3F52-F124-0CA9-8A8CD0797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Timbre: Spectra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516F7-568F-88DB-B269-191FA19A3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743" y="1690688"/>
            <a:ext cx="11353800" cy="4351338"/>
          </a:xfrm>
        </p:spPr>
        <p:txBody>
          <a:bodyPr>
            <a:normAutofit/>
          </a:bodyPr>
          <a:lstStyle/>
          <a:p>
            <a:r>
              <a:rPr lang="en-US" sz="2300" dirty="0"/>
              <a:t>Since the spectrum is so important to the overall timbre, we may be unsurprised at how many statistical features attempt to capture some ‘snapshot’ of the spectrum.</a:t>
            </a:r>
          </a:p>
          <a:p>
            <a:r>
              <a:rPr lang="en-US" sz="2300" dirty="0"/>
              <a:t>Applied to linear magnitude (not dB)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4918DD-CA1A-F8E0-1262-3457574C0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Timbral Features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A9A91-D2BB-476D-E888-85432094B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09CED269-6D41-125B-F71A-6A16F3D1C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51" y="3159443"/>
            <a:ext cx="7059645" cy="30175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84926A-6E5C-53FB-3520-81203A17745B}"/>
              </a:ext>
            </a:extLst>
          </p:cNvPr>
          <p:cNvSpPr txBox="1"/>
          <p:nvPr/>
        </p:nvSpPr>
        <p:spPr>
          <a:xfrm>
            <a:off x="7872211" y="2905780"/>
            <a:ext cx="4194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Century Gothic" panose="020B0502020202020204" pitchFamily="34" charset="0"/>
              </a:rPr>
              <a:t>Spectral Rolloff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AD56A4-67A6-2C3F-88BE-D4B448FAEF81}"/>
              </a:ext>
            </a:extLst>
          </p:cNvPr>
          <p:cNvSpPr txBox="1"/>
          <p:nvPr/>
        </p:nvSpPr>
        <p:spPr>
          <a:xfrm>
            <a:off x="7389696" y="3429000"/>
            <a:ext cx="46771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Estimates the frequency below which a specified percentage (typically 85–95%) of the total spectral energy lies. </a:t>
            </a:r>
            <a:r>
              <a:rPr lang="en-US" b="1" dirty="0"/>
              <a:t>To compute: </a:t>
            </a:r>
            <a:r>
              <a:rPr lang="en-US" dirty="0"/>
              <a:t>find the smallest bin index such that the cumulative energy up to that bin hits the threshold.</a:t>
            </a:r>
          </a:p>
          <a:p>
            <a:endParaRPr lang="en-US" dirty="0"/>
          </a:p>
        </p:txBody>
      </p:sp>
      <p:pic>
        <p:nvPicPr>
          <p:cNvPr id="13" name="Picture 12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892E9AE2-ACDD-106E-99EF-E37F6EFE3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7845" y="5071730"/>
            <a:ext cx="3221731" cy="104706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A9A0269-BE3F-5E6B-F77B-334769ECE63D}"/>
              </a:ext>
            </a:extLst>
          </p:cNvPr>
          <p:cNvCxnSpPr/>
          <p:nvPr/>
        </p:nvCxnSpPr>
        <p:spPr>
          <a:xfrm flipV="1">
            <a:off x="2784144" y="3712191"/>
            <a:ext cx="0" cy="2197289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452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FDB55-827C-96D3-719E-2363372C0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55095-F3F5-E6E3-CA73-B7F147BE9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Timbre: Spectra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BB0B0-B733-6D78-908A-4D6874420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776" y="1690688"/>
            <a:ext cx="11353800" cy="4351338"/>
          </a:xfrm>
        </p:spPr>
        <p:txBody>
          <a:bodyPr>
            <a:normAutofit/>
          </a:bodyPr>
          <a:lstStyle/>
          <a:p>
            <a:r>
              <a:rPr lang="en-US" sz="2300" dirty="0"/>
              <a:t>Since the spectrum is so important to the overall timbre, we may be unsurprised at how many statistical features attempt to capture some ‘snapshot’ of the spectrum.</a:t>
            </a:r>
          </a:p>
          <a:p>
            <a:r>
              <a:rPr lang="en-US" sz="2300" dirty="0"/>
              <a:t>Applied to linear magnitude (not dB)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A5CC8B-7E27-7CCA-2C16-0EFA04AC8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Timbral Features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775AEA-6961-F9AA-A6D1-365FE1A90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3FE120A8-4C56-0C80-716B-4EC7D557F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51" y="3159443"/>
            <a:ext cx="7059645" cy="30175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AFFD68-A937-540F-700B-32084B15E563}"/>
              </a:ext>
            </a:extLst>
          </p:cNvPr>
          <p:cNvSpPr txBox="1"/>
          <p:nvPr/>
        </p:nvSpPr>
        <p:spPr>
          <a:xfrm>
            <a:off x="7872211" y="2905780"/>
            <a:ext cx="4194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Century Gothic" panose="020B0502020202020204" pitchFamily="34" charset="0"/>
              </a:rPr>
              <a:t>Spectral Spread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5DD0428-E081-BE84-B47D-0945E4DEDAF0}"/>
              </a:ext>
            </a:extLst>
          </p:cNvPr>
          <p:cNvCxnSpPr>
            <a:cxnSpLocks/>
          </p:cNvCxnSpPr>
          <p:nvPr/>
        </p:nvCxnSpPr>
        <p:spPr>
          <a:xfrm>
            <a:off x="846156" y="4804012"/>
            <a:ext cx="2442954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08632F4-7C5D-72CC-E4ED-3399EEFAA457}"/>
              </a:ext>
            </a:extLst>
          </p:cNvPr>
          <p:cNvSpPr txBox="1"/>
          <p:nvPr/>
        </p:nvSpPr>
        <p:spPr>
          <a:xfrm>
            <a:off x="2098109" y="4367212"/>
            <a:ext cx="968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1914.5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32AED44-DD21-0323-192F-FDB5E8D90CDF}"/>
              </a:ext>
            </a:extLst>
          </p:cNvPr>
          <p:cNvCxnSpPr/>
          <p:nvPr/>
        </p:nvCxnSpPr>
        <p:spPr>
          <a:xfrm flipV="1">
            <a:off x="1992573" y="3671248"/>
            <a:ext cx="0" cy="2197289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20889C7-7DCA-334C-9BB5-071B5BF8F291}"/>
              </a:ext>
            </a:extLst>
          </p:cNvPr>
          <p:cNvGrpSpPr/>
          <p:nvPr/>
        </p:nvGrpSpPr>
        <p:grpSpPr>
          <a:xfrm>
            <a:off x="7167686" y="4367212"/>
            <a:ext cx="4846888" cy="1611106"/>
            <a:chOff x="7652644" y="4708208"/>
            <a:chExt cx="3738047" cy="1270110"/>
          </a:xfrm>
        </p:grpSpPr>
        <p:pic>
          <p:nvPicPr>
            <p:cNvPr id="15" name="Picture 14" descr="A black rectangular object with black text&#10;&#10;AI-generated content may be incorrect.">
              <a:extLst>
                <a:ext uri="{FF2B5EF4-FFF2-40B4-BE49-F238E27FC236}">
                  <a16:creationId xmlns:a16="http://schemas.microsoft.com/office/drawing/2014/main" id="{D9E5BE63-3480-2E84-57F9-57E9FE584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52644" y="4708208"/>
              <a:ext cx="3738047" cy="1270110"/>
            </a:xfrm>
            <a:prstGeom prst="rect">
              <a:avLst/>
            </a:prstGeom>
          </p:spPr>
        </p:pic>
        <p:pic>
          <p:nvPicPr>
            <p:cNvPr id="12" name="Picture 11" descr="A black text on a white background&#10;&#10;AI-generated content may be incorrect.">
              <a:extLst>
                <a:ext uri="{FF2B5EF4-FFF2-40B4-BE49-F238E27FC236}">
                  <a16:creationId xmlns:a16="http://schemas.microsoft.com/office/drawing/2014/main" id="{FFEC57D2-7E2E-5C12-03C6-1351A0361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14694" y="4906328"/>
              <a:ext cx="2832100" cy="1041400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805201E-D460-882E-7162-190DD50B6F4D}"/>
              </a:ext>
            </a:extLst>
          </p:cNvPr>
          <p:cNvSpPr txBox="1"/>
          <p:nvPr/>
        </p:nvSpPr>
        <p:spPr>
          <a:xfrm>
            <a:off x="7389696" y="3429000"/>
            <a:ext cx="46771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Describes the </a:t>
            </a:r>
            <a:r>
              <a:rPr lang="en-US" b="1" dirty="0"/>
              <a:t>concentration of the magnitude spectrum around the spectral centroid</a:t>
            </a:r>
            <a:r>
              <a:rPr lang="en-US" dirty="0"/>
              <a:t>. Akin to the standard deviation of the ‘spectral distribution’.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625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ED77-5E73-7A26-291A-5339B23A7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B93B-D23B-0D50-7AEB-25416199A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Timbre: Spectra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76629-DE45-F163-3A5B-ECD0B546F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963" y="1690688"/>
            <a:ext cx="11353800" cy="4351338"/>
          </a:xfrm>
        </p:spPr>
        <p:txBody>
          <a:bodyPr>
            <a:normAutofit/>
          </a:bodyPr>
          <a:lstStyle/>
          <a:p>
            <a:r>
              <a:rPr lang="en-US" sz="2300" dirty="0"/>
              <a:t>Since the spectrum is so important to the overall timbre, we may be unsurprised at how many statistical features attempt to capture some ‘snapshot’ of the spectrum.</a:t>
            </a:r>
          </a:p>
          <a:p>
            <a:r>
              <a:rPr lang="en-US" sz="2300" dirty="0"/>
              <a:t>Applied to linear magnitude (not dB)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770C9E-981C-749A-34B8-AAB6A9A12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Timbral Features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8485E-C7D7-2A8A-AD8A-6BBC3A5CC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C6FDE6A2-582C-D821-2D0E-0E00CA1EA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51" y="3159443"/>
            <a:ext cx="7059645" cy="30175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AB8971-E2F9-05F2-D9E5-681CB7629C20}"/>
              </a:ext>
            </a:extLst>
          </p:cNvPr>
          <p:cNvSpPr txBox="1"/>
          <p:nvPr/>
        </p:nvSpPr>
        <p:spPr>
          <a:xfrm>
            <a:off x="7872211" y="2905780"/>
            <a:ext cx="4194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Century Gothic" panose="020B0502020202020204" pitchFamily="34" charset="0"/>
              </a:rPr>
              <a:t>Spectral Flatness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2ED2B4-3ADF-E6C6-BA25-CFB4FD9A6DC0}"/>
              </a:ext>
            </a:extLst>
          </p:cNvPr>
          <p:cNvSpPr txBox="1"/>
          <p:nvPr/>
        </p:nvSpPr>
        <p:spPr>
          <a:xfrm>
            <a:off x="7458042" y="3429000"/>
            <a:ext cx="4608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Measures how noise-like a sound is (closer to 1), compared to being tonal or pitched (closer to 0). To compute: (the geometric mean of the power spectrum) / (arithmetic mean of the power spectrum)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887DE3-A548-03B3-21F4-F82E99082EDE}"/>
              </a:ext>
            </a:extLst>
          </p:cNvPr>
          <p:cNvSpPr txBox="1"/>
          <p:nvPr/>
        </p:nvSpPr>
        <p:spPr>
          <a:xfrm>
            <a:off x="4394579" y="3725839"/>
            <a:ext cx="1487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0.0019</a:t>
            </a:r>
          </a:p>
        </p:txBody>
      </p:sp>
      <p:pic>
        <p:nvPicPr>
          <p:cNvPr id="12" name="Picture 11" descr="A mathematical equation with square and square numbers&#10;&#10;AI-generated content may be incorrect.">
            <a:extLst>
              <a:ext uri="{FF2B5EF4-FFF2-40B4-BE49-F238E27FC236}">
                <a16:creationId xmlns:a16="http://schemas.microsoft.com/office/drawing/2014/main" id="{71622F55-0CA5-DB0A-86C2-913E854471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326"/>
          <a:stretch>
            <a:fillRect/>
          </a:stretch>
        </p:blipFill>
        <p:spPr>
          <a:xfrm>
            <a:off x="8048484" y="4976627"/>
            <a:ext cx="2815134" cy="1079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85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3CD2-45CB-EFFA-9999-48D2C3869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Changing Over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81D76-2373-0A42-8F3B-9DEC1325D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For now, you may use </a:t>
            </a:r>
            <a:r>
              <a:rPr lang="en-US" dirty="0" err="1"/>
              <a:t>librosa</a:t>
            </a:r>
            <a:r>
              <a:rPr lang="en-US" dirty="0"/>
              <a:t>…</a:t>
            </a:r>
          </a:p>
          <a:p>
            <a:pPr marL="0" indent="0">
              <a:buNone/>
            </a:pPr>
            <a:r>
              <a:rPr lang="en-US" dirty="0"/>
              <a:t>Calculate and plot (against time) for the file “sax-</a:t>
            </a:r>
            <a:r>
              <a:rPr lang="en-US" dirty="0" err="1"/>
              <a:t>phrase.wav</a:t>
            </a:r>
            <a:r>
              <a:rPr lang="en-US" dirty="0"/>
              <a:t>” (and, if time “</a:t>
            </a:r>
            <a:r>
              <a:rPr lang="en-US" dirty="0" err="1">
                <a:sym typeface="Wingdings" pitchFamily="2" charset="2"/>
              </a:rPr>
              <a:t>vowels_sung.wav</a:t>
            </a:r>
            <a:r>
              <a:rPr lang="en-US" dirty="0">
                <a:sym typeface="Wingdings" pitchFamily="2" charset="2"/>
              </a:rPr>
              <a:t>“)</a:t>
            </a:r>
            <a:r>
              <a:rPr lang="en-US" dirty="0"/>
              <a:t> in Canvas: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Spectral Centroid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Spectral Spread (note </a:t>
            </a:r>
            <a:r>
              <a:rPr lang="en-US" dirty="0" err="1"/>
              <a:t>librosa</a:t>
            </a:r>
            <a:r>
              <a:rPr lang="en-US" dirty="0"/>
              <a:t> calls this “</a:t>
            </a:r>
            <a:r>
              <a:rPr lang="en-US" dirty="0" err="1"/>
              <a:t>spectral_bandwidth</a:t>
            </a:r>
            <a:r>
              <a:rPr lang="en-US" dirty="0"/>
              <a:t>”)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Spectral Flatness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Spectral Rolloff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Don’t forget to:</a:t>
            </a:r>
          </a:p>
          <a:p>
            <a:pPr lvl="1"/>
            <a:r>
              <a:rPr lang="en-US" dirty="0"/>
              <a:t>Normalize audio</a:t>
            </a:r>
          </a:p>
          <a:p>
            <a:pPr lvl="1"/>
            <a:r>
              <a:rPr lang="en-US" dirty="0"/>
              <a:t>Normalize each feature to the same range (e.g., 0-1) for plotting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A5539-A37D-1DB3-BD24-97D4BE3DC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Timbral Features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EA3113-2467-A1C5-3EC8-5340E2A20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847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ECD55-4CDD-CE21-2E51-10190E27C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Spectral Changes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139C1F-BA68-A06B-4B7D-00DB1D0CA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Timbral Features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BF8215-411A-0EF9-705F-B895B3DB0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5741718-1E4F-AB49-BAAF-9245C10938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745" y="2327606"/>
            <a:ext cx="7772400" cy="37790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C6B570-F8AE-BD95-4208-E7E80DF57421}"/>
              </a:ext>
            </a:extLst>
          </p:cNvPr>
          <p:cNvSpPr txBox="1"/>
          <p:nvPr/>
        </p:nvSpPr>
        <p:spPr>
          <a:xfrm>
            <a:off x="233745" y="1922912"/>
            <a:ext cx="777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“ah”[a]      “ee” [</a:t>
            </a:r>
            <a:r>
              <a:rPr lang="en-US" dirty="0" err="1"/>
              <a:t>i</a:t>
            </a:r>
            <a:r>
              <a:rPr lang="en-US" dirty="0"/>
              <a:t>]       “</a:t>
            </a:r>
            <a:r>
              <a:rPr lang="en-US" dirty="0" err="1"/>
              <a:t>oo</a:t>
            </a:r>
            <a:r>
              <a:rPr lang="en-US" dirty="0"/>
              <a:t>” [u]      “eh” [</a:t>
            </a:r>
            <a:r>
              <a:rPr lang="en-US" dirty="0" err="1"/>
              <a:t>ɛ</a:t>
            </a:r>
            <a:r>
              <a:rPr lang="en-US" dirty="0"/>
              <a:t>]   “oh” [</a:t>
            </a:r>
            <a:r>
              <a:rPr lang="en-US" dirty="0" err="1"/>
              <a:t>oʊ</a:t>
            </a:r>
            <a:r>
              <a:rPr lang="en-US" dirty="0"/>
              <a:t>]      “eh” [</a:t>
            </a:r>
            <a:r>
              <a:rPr lang="en-US" dirty="0" err="1"/>
              <a:t>ɛ</a:t>
            </a:r>
            <a:r>
              <a:rPr lang="en-US" dirty="0"/>
              <a:t> ]	 “ah” [a]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7896D9-0E63-BEF2-495B-F34B1D7A86A8}"/>
              </a:ext>
            </a:extLst>
          </p:cNvPr>
          <p:cNvSpPr txBox="1"/>
          <p:nvPr/>
        </p:nvSpPr>
        <p:spPr>
          <a:xfrm>
            <a:off x="8202304" y="2380538"/>
            <a:ext cx="3962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vocal tract (throat + mouth + tongue position + lip shape) acts like a </a:t>
            </a:r>
            <a:r>
              <a:rPr lang="en-US" b="1" dirty="0"/>
              <a:t>resonant filter</a:t>
            </a:r>
            <a:r>
              <a:rPr lang="en-US" dirty="0"/>
              <a:t>.</a:t>
            </a:r>
          </a:p>
          <a:p>
            <a:r>
              <a:rPr lang="en-US" dirty="0"/>
              <a:t>Certain frequency regions get </a:t>
            </a:r>
            <a:r>
              <a:rPr lang="en-US" b="1" dirty="0"/>
              <a:t>amplified</a:t>
            </a:r>
            <a:r>
              <a:rPr lang="en-US" dirty="0"/>
              <a:t> by this filter — those resonant peaks are called </a:t>
            </a:r>
            <a:r>
              <a:rPr lang="en-US" b="1" dirty="0">
                <a:solidFill>
                  <a:schemeClr val="accent4"/>
                </a:solidFill>
              </a:rPr>
              <a:t>formants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Formants </a:t>
            </a:r>
            <a:r>
              <a:rPr lang="en-US" dirty="0">
                <a:solidFill>
                  <a:schemeClr val="accent4"/>
                </a:solidFill>
              </a:rPr>
              <a:t>selectively </a:t>
            </a:r>
            <a:r>
              <a:rPr lang="en-US" b="1" dirty="0">
                <a:solidFill>
                  <a:schemeClr val="accent4"/>
                </a:solidFill>
              </a:rPr>
              <a:t>boost or dampen</a:t>
            </a:r>
            <a:r>
              <a:rPr lang="en-US" dirty="0">
                <a:solidFill>
                  <a:schemeClr val="accent4"/>
                </a:solidFill>
              </a:rPr>
              <a:t> certain harmonics</a:t>
            </a:r>
            <a:r>
              <a:rPr lang="en-US" dirty="0"/>
              <a:t>, depending on which ones fall near the resonant frequencies.</a:t>
            </a:r>
          </a:p>
        </p:txBody>
      </p:sp>
      <p:pic>
        <p:nvPicPr>
          <p:cNvPr id="3" name="vowels1.wav">
            <a:hlinkClick r:id="" action="ppaction://media"/>
            <a:extLst>
              <a:ext uri="{FF2B5EF4-FFF2-40B4-BE49-F238E27FC236}">
                <a16:creationId xmlns:a16="http://schemas.microsoft.com/office/drawing/2014/main" id="{F27E041A-927D-DB9B-29A2-EB389E3B9B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306256" y="527294"/>
            <a:ext cx="1001223" cy="1001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06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9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67E4149-685D-1EBE-9B69-2DA9DE89A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A71B0-E757-8C65-1C26-33060AC84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Spectral Changes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3323E-EFE4-335C-E4FE-33293BFF0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Timbral Features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A87A51-0392-FA43-C993-34F6DA720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B24473-374C-8434-CD1F-580E4C574FCE}"/>
              </a:ext>
            </a:extLst>
          </p:cNvPr>
          <p:cNvSpPr txBox="1">
            <a:spLocks noChangeAspect="1"/>
          </p:cNvSpPr>
          <p:nvPr/>
        </p:nvSpPr>
        <p:spPr>
          <a:xfrm>
            <a:off x="233745" y="1922912"/>
            <a:ext cx="115458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    “ah”[a]      “ee” [</a:t>
            </a:r>
            <a:r>
              <a:rPr lang="en-US" sz="2800" dirty="0" err="1"/>
              <a:t>i</a:t>
            </a:r>
            <a:r>
              <a:rPr lang="en-US" sz="2800" dirty="0"/>
              <a:t>]       “</a:t>
            </a:r>
            <a:r>
              <a:rPr lang="en-US" sz="2800" dirty="0" err="1"/>
              <a:t>oo</a:t>
            </a:r>
            <a:r>
              <a:rPr lang="en-US" sz="2800" dirty="0"/>
              <a:t>” [u]      “eh” [</a:t>
            </a:r>
            <a:r>
              <a:rPr lang="en-US" sz="2800" dirty="0" err="1"/>
              <a:t>ɛ</a:t>
            </a:r>
            <a:r>
              <a:rPr lang="en-US" sz="2800" dirty="0"/>
              <a:t>]   “oh” [</a:t>
            </a:r>
            <a:r>
              <a:rPr lang="en-US" sz="2800" dirty="0" err="1"/>
              <a:t>oʊ</a:t>
            </a:r>
            <a:r>
              <a:rPr lang="en-US" sz="2800" dirty="0"/>
              <a:t>]      “eh” [</a:t>
            </a:r>
            <a:r>
              <a:rPr lang="en-US" sz="2800" dirty="0" err="1"/>
              <a:t>ɛ</a:t>
            </a:r>
            <a:r>
              <a:rPr lang="en-US" sz="2800" dirty="0"/>
              <a:t> ]	 “ah” [a]</a:t>
            </a:r>
          </a:p>
        </p:txBody>
      </p:sp>
    </p:spTree>
    <p:extLst>
      <p:ext uri="{BB962C8B-B14F-4D97-AF65-F5344CB8AC3E}">
        <p14:creationId xmlns:p14="http://schemas.microsoft.com/office/powerpoint/2010/main" val="42450721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F75C5-3A16-0669-E30D-BAFAD1BEB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51558-A019-B44E-9EAB-D57E1656B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44789B-32F0-E60A-CBA5-7AEC6B141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Timbral Features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70B39-F211-69DF-05E4-A4AE551AB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350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168D4764-6299-904E-9BC2-C5621F08687C}" vid="{21A8D2CE-1DF1-A74E-B9D2-43AE56886C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9056</TotalTime>
  <Words>1008</Words>
  <Application>Microsoft Macintosh PowerPoint</Application>
  <PresentationFormat>Widescreen</PresentationFormat>
  <Paragraphs>129</Paragraphs>
  <Slides>14</Slides>
  <Notes>13</Notes>
  <HiddenSlides>1</HiddenSlides>
  <MMClips>5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Century Gothic</vt:lpstr>
      <vt:lpstr>Wingdings</vt:lpstr>
      <vt:lpstr>Office Theme</vt:lpstr>
      <vt:lpstr>  Computational Music Analysis:         Audio</vt:lpstr>
      <vt:lpstr>Timbral Features</vt:lpstr>
      <vt:lpstr>Timbre</vt:lpstr>
      <vt:lpstr>Timbre</vt:lpstr>
      <vt:lpstr>Timbre: Spectra</vt:lpstr>
      <vt:lpstr>Timbre: Spectra</vt:lpstr>
      <vt:lpstr>Exercise: Spectral Centroid</vt:lpstr>
      <vt:lpstr>Timbre: Spectra</vt:lpstr>
      <vt:lpstr>Timbre: Spectra</vt:lpstr>
      <vt:lpstr>Timbre: Spectra</vt:lpstr>
      <vt:lpstr>Exercise: Changing Over Time</vt:lpstr>
      <vt:lpstr>Measuring Spectral Changes</vt:lpstr>
      <vt:lpstr>Measuring Spectral Changes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Arthur, Claire</dc:creator>
  <cp:lastModifiedBy>Arthur, Claire</cp:lastModifiedBy>
  <cp:revision>1</cp:revision>
  <dcterms:created xsi:type="dcterms:W3CDTF">2025-09-01T15:40:12Z</dcterms:created>
  <dcterms:modified xsi:type="dcterms:W3CDTF">2025-09-09T13:18:51Z</dcterms:modified>
</cp:coreProperties>
</file>