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9" r:id="rId4"/>
    <p:sldId id="258" r:id="rId5"/>
    <p:sldId id="260" r:id="rId6"/>
    <p:sldId id="261" r:id="rId7"/>
    <p:sldId id="278" r:id="rId8"/>
    <p:sldId id="262" r:id="rId9"/>
    <p:sldId id="267" r:id="rId10"/>
    <p:sldId id="268" r:id="rId11"/>
    <p:sldId id="263" r:id="rId12"/>
    <p:sldId id="270" r:id="rId13"/>
    <p:sldId id="277" r:id="rId14"/>
    <p:sldId id="269" r:id="rId15"/>
    <p:sldId id="271" r:id="rId16"/>
    <p:sldId id="273" r:id="rId17"/>
    <p:sldId id="272" r:id="rId18"/>
    <p:sldId id="274" r:id="rId19"/>
    <p:sldId id="275" r:id="rId20"/>
    <p:sldId id="276" r:id="rId21"/>
    <p:sldId id="279" r:id="rId22"/>
    <p:sldId id="265" r:id="rId23"/>
    <p:sldId id="26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7EAC"/>
    <a:srgbClr val="1885B6"/>
    <a:srgbClr val="117EAC"/>
    <a:srgbClr val="1179A5"/>
    <a:srgbClr val="11729C"/>
    <a:srgbClr val="1468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185C9C-0A8F-F247-9FD1-172A8CF46CEC}" v="470" dt="2025-09-25T03:58:22.6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77"/>
    <p:restoredTop sz="79570"/>
  </p:normalViewPr>
  <p:slideViewPr>
    <p:cSldViewPr snapToGrid="0">
      <p:cViewPr varScale="1">
        <p:scale>
          <a:sx n="84" d="100"/>
          <a:sy n="84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209AB-CE13-044F-8E06-B2C9AA580BB2}" type="datetimeFigureOut">
              <a:rPr lang="en-US" smtClean="0"/>
              <a:t>9/19/25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5FB911-8C40-0744-863F-098B7E0F5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93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 Spectral spread can be taken with </a:t>
            </a:r>
            <a:r>
              <a:rPr lang="en-US" dirty="0" err="1"/>
              <a:t>librosa’s</a:t>
            </a:r>
            <a:r>
              <a:rPr lang="en-US" dirty="0"/>
              <a:t> “bandwidth” function with parameter p =2 (equivalent)</a:t>
            </a:r>
          </a:p>
          <a:p>
            <a:r>
              <a:rPr lang="en-US" dirty="0"/>
              <a:t>**Need to write our own spectral flux function </a:t>
            </a:r>
          </a:p>
          <a:p>
            <a:r>
              <a:rPr lang="en-US" dirty="0"/>
              <a:t>*** MFCCs: consider number of filters and number to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47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statistics, we usually keep the whole formula expanded: log-odds = intercept + slopes × predictors.</a:t>
            </a:r>
            <a:br>
              <a:rPr lang="en-US" dirty="0"/>
            </a:br>
            <a:r>
              <a:rPr lang="en-US" dirty="0"/>
              <a:t>In CS, it’s common to bundle that sum into a single symbol: “z” Then they write \hat{y} = \</a:t>
            </a:r>
            <a:r>
              <a:rPr lang="en-CA" dirty="0"/>
              <a:t>sigmoid</a:t>
            </a:r>
            <a:r>
              <a:rPr lang="el-GR" dirty="0"/>
              <a:t>(</a:t>
            </a:r>
            <a:r>
              <a:rPr lang="en-US" dirty="0"/>
              <a:t>z)\hat{y} </a:t>
            </a:r>
          </a:p>
          <a:p>
            <a:r>
              <a:rPr lang="en-US" dirty="0"/>
              <a:t>It’s the same thing, just shorthand. This takes a linear sum and “squashes” to the range of 0-1.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19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Notes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1.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 ML, “feature engineering” = selecting/transforming predictors.</a:t>
            </a:r>
            <a:r>
              <a:rPr lang="en-US" dirty="0"/>
              <a:t> </a:t>
            </a:r>
          </a:p>
          <a:p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2. “Label” is standard in supervised ML.</a:t>
            </a:r>
            <a:r>
              <a:rPr lang="en-US" dirty="0"/>
              <a:t> </a:t>
            </a:r>
          </a:p>
          <a:p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3. Both describe how features contribute to the prediction.</a:t>
            </a:r>
            <a:r>
              <a:rPr lang="en-US" dirty="0"/>
              <a:t> </a:t>
            </a:r>
          </a:p>
          <a:p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4. Both shift the prediction baseline.</a:t>
            </a:r>
            <a:r>
              <a:rPr lang="en-US" dirty="0"/>
              <a:t> </a:t>
            </a:r>
          </a:p>
          <a:p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5. Stats emphasizes explanation of residuals; ML emphasizes minimizing loss.</a:t>
            </a:r>
            <a:r>
              <a:rPr lang="en-US" dirty="0"/>
              <a:t> </a:t>
            </a:r>
          </a:p>
          <a:p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6. Different emphasis: inference vs predictive power.</a:t>
            </a:r>
            <a:r>
              <a:rPr lang="en-US" dirty="0"/>
              <a:t> </a:t>
            </a:r>
          </a:p>
          <a:p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7. ML borrows the same math, but emphasizes algorithms and scalability.</a:t>
            </a:r>
            <a:r>
              <a:rPr lang="en-US" dirty="0"/>
              <a:t> </a:t>
            </a:r>
          </a:p>
          <a:p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8. Same concern: how well the model works on new data.</a:t>
            </a:r>
            <a:r>
              <a:rPr lang="en-US" dirty="0"/>
              <a:t> </a:t>
            </a:r>
          </a:p>
          <a:p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9. ML less about “significance,” more about predictive utility.</a:t>
            </a:r>
            <a:r>
              <a:rPr lang="en-US" dirty="0"/>
              <a:t> </a:t>
            </a:r>
          </a:p>
          <a:p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10. Language difference: same core idea.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76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5CD73-A936-3525-D168-7736C3BC2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10D98-56AC-2479-AACB-7073FDDA2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DF3B7-3A64-41E1-8594-FFD2907E3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D4B12-1383-AD42-92AD-77DF7C3AFF50}" type="datetime1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61BBD-4401-485F-190D-A98E3BF6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AE45C-1BD0-2BD9-078C-EF7ABB5A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32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orful spectrum of equalizer&#10;&#10;Description automatically generated">
            <a:extLst>
              <a:ext uri="{FF2B5EF4-FFF2-40B4-BE49-F238E27FC236}">
                <a16:creationId xmlns:a16="http://schemas.microsoft.com/office/drawing/2014/main" id="{7737A7BC-A701-C931-78B0-710547DEAE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t="4385" b="48947"/>
          <a:stretch/>
        </p:blipFill>
        <p:spPr>
          <a:xfrm>
            <a:off x="0" y="0"/>
            <a:ext cx="12192000" cy="164623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81A9918-6A8E-071E-1832-2B1BE0CB5515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00F202-A2B5-1F52-B239-EFF9F4486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DDB86-D379-F460-FE0C-0E7815A50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6A0D3-3893-74C2-9FC4-AE58A8A1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176963"/>
            <a:ext cx="7010400" cy="681037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algn="l"/>
            <a:r>
              <a:rPr lang="en-US" dirty="0"/>
              <a:t>Feature Aggregation, Clustering, and Classification</a:t>
            </a:r>
            <a:endParaRPr lang="en-US" sz="1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4B2DC-3883-01BA-4B44-3C940F911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7479" y="6279119"/>
            <a:ext cx="1020921" cy="442356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6A096487-9F84-9248-ABAD-35D09817155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 descr="A black and white logo&#10;&#10;Description automatically generated">
            <a:extLst>
              <a:ext uri="{FF2B5EF4-FFF2-40B4-BE49-F238E27FC236}">
                <a16:creationId xmlns:a16="http://schemas.microsoft.com/office/drawing/2014/main" id="{1AEFDCCA-5818-25F6-C79D-B13258DB2C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784" y="6106002"/>
            <a:ext cx="2588895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3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0284B-1505-059C-4E86-07470FF33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6643A-91BA-C205-AB5C-9D56A8998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1716C-8BE7-4144-6640-E2469CFC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02F25-D426-C543-9B23-205D2299CECD}" type="datetime1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9F8DF-AAFD-A424-EC7B-281EAAD21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5A4B5-89A5-8CBC-3476-A4C57613B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0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E8BB3-28A3-A7FC-B2CE-79FEAC78C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0496-02E4-0845-BAD0-DDB3A1F9E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CC4EF-4ED9-A2CB-A367-3B5205894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7E1ABE-7B07-90DD-30B9-616BE312D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9AE0-DD93-284C-9C9F-51936DBCE396}" type="datetime1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7496C-916B-4D94-1656-B7239D33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00B8C-5FBF-978F-5CD6-D9988E251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8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88422-2E90-E698-F3A2-53287F84F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45A94-F9A9-EC9C-AB5C-DF1B14C94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06938-0A3E-50E1-DF08-A745EFF24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181DAD-9171-E93D-5F7D-F34851FCE0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DC279B-A01E-F93C-71E9-0A42CC2D3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31DA52-7302-B5F8-3F44-11A8BC0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3AFD-D178-EE41-80F7-DC6EDDFDB254}" type="datetime1">
              <a:rPr lang="en-US" smtClean="0"/>
              <a:t>9/19/25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6ECA9-46C1-1831-B789-BF1F9741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8F16D8-0C07-732E-C0A9-3F3C37B15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4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E0184-B174-6828-E23E-B03B4CEF6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D9154B-F6A4-86EC-7FCE-E0618A17D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60B4-C6F2-2746-AEAE-93CD670CBEEA}" type="datetime1">
              <a:rPr lang="en-US" smtClean="0"/>
              <a:t>9/19/25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8C3F6-1749-E4B2-64DE-84B3B35D7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A66B3-4ECA-C278-30AB-571D57D79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4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797711-2F89-5898-C20A-5FF8FCF66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F044-B807-1649-8A83-2DAF1C345290}" type="datetime1">
              <a:rPr lang="en-US" smtClean="0"/>
              <a:t>9/19/25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8DF91B-B0ED-8C83-B58E-8ACAFDEE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2AB8B-FD07-CC0B-6221-CA08F063A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69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152C1-78E6-E979-1D0C-2D9F6F1F6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EC336-6F0C-056C-9588-21DBE72BE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2CB36E-E619-E817-6BAC-AA1BB8AAF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451BE-61C8-6F6D-0F0F-00CFBF6A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10E8-FEC3-224C-BEC8-D2B494C4B665}" type="datetime1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33603-AE57-7A85-2C95-9D4DD5027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C3055-F56A-4230-8427-F22E26204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02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AF2F2-8C7A-54DB-E738-440EE6029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8082D-C588-0A24-3B48-DBE339C95E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A2C9B-7E14-CAAB-B99C-E907D6CD5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F2796-E8DA-A43E-85D0-494781417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F3156-90CC-C346-A118-874197777E80}" type="datetime1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66EA5-3707-C2FC-828E-19CAC30C3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F18BA-543F-0585-BD77-A6D1CB716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59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B4AAA-DDEE-931C-D5BD-BF2617106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19534-BF98-74C0-9009-7C9F7591F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085AF-DD00-8B1E-835A-B675164F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26CA-4F64-3446-A1E2-D20833F95A9C}" type="datetime1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E58AC-AA8D-30FE-7162-B5B21D881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E5B78-4F8D-4D67-991F-37FD16E90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9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39D641-EE3D-8A52-801C-7D5B60B1B3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962E2-E03E-856E-8782-FEA095CBB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B5918-BEC0-4F6D-EE90-89DE996CF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9FEDB-3B76-0A4D-848C-0B586EEDAA33}" type="datetime1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BB72E-005F-53D0-B94E-0A947CC5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F72FB-9AEC-5A4F-6157-85584CB17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16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EF7DE5-201F-F2C6-0C14-75F496734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CDAD3-AD4F-06B8-9148-92661282A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66133-D25A-B5EC-7530-BDA51BEBD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B63B22-8BEB-9B48-8AD9-ED6DDFA1D91D}" type="datetime1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C4EE8-903A-E548-4A2D-F025F61F4D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045F9-9087-2E0E-C9EC-58AA46F1D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79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olorful spectrum of equalizer&#10;&#10;Description automatically generated">
            <a:extLst>
              <a:ext uri="{FF2B5EF4-FFF2-40B4-BE49-F238E27FC236}">
                <a16:creationId xmlns:a16="http://schemas.microsoft.com/office/drawing/2014/main" id="{18654B00-653E-11D2-07C9-93786F65F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05912"/>
            <a:ext cx="12192000" cy="28209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C16661-6C75-1D2A-5269-D4A880F41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090399" cy="1993113"/>
          </a:xfrm>
        </p:spPr>
        <p:txBody>
          <a:bodyPr/>
          <a:lstStyle/>
          <a:p>
            <a:pPr algn="l"/>
            <a:r>
              <a:rPr lang="en-US" dirty="0">
                <a:latin typeface="Century Gothic" panose="020B0502020202020204" pitchFamily="34" charset="0"/>
              </a:rPr>
              <a:t>  Computational Music Analysis:      </a:t>
            </a:r>
            <a:br>
              <a:rPr lang="en-US" dirty="0">
                <a:latin typeface="Century Gothic" panose="020B0502020202020204" pitchFamily="34" charset="0"/>
              </a:rPr>
            </a:br>
            <a:r>
              <a:rPr lang="en-US" dirty="0">
                <a:latin typeface="Century Gothic" panose="020B0502020202020204" pitchFamily="34" charset="0"/>
              </a:rPr>
              <a:t>  Audio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22C9D1-C445-DADC-1023-1FDAD6607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4209" y="1351971"/>
            <a:ext cx="9144000" cy="53954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entury Gothic" panose="020B0502020202020204" pitchFamily="34" charset="0"/>
              </a:rPr>
              <a:t>A.K.A. “Audio Content Analysis”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1D9156-A9F0-C927-E33D-E700556DFC22}"/>
              </a:ext>
            </a:extLst>
          </p:cNvPr>
          <p:cNvSpPr txBox="1"/>
          <p:nvPr/>
        </p:nvSpPr>
        <p:spPr>
          <a:xfrm>
            <a:off x="326720" y="5742252"/>
            <a:ext cx="81419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Century Gothic" panose="020B0502020202020204" pitchFamily="34" charset="0"/>
              </a:rPr>
              <a:t>Claire Arthur</a:t>
            </a:r>
          </a:p>
          <a:p>
            <a:r>
              <a:rPr lang="en-US" sz="2800" dirty="0">
                <a:solidFill>
                  <a:srgbClr val="002060"/>
                </a:solidFill>
                <a:latin typeface="Century Gothic" panose="020B0502020202020204" pitchFamily="34" charset="0"/>
              </a:rPr>
              <a:t>Noel </a:t>
            </a:r>
            <a:r>
              <a:rPr lang="en-US" sz="28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Albën</a:t>
            </a:r>
            <a:endParaRPr lang="en-US" sz="2800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5" descr="A logo on a black background&#10;&#10;Description automatically generated">
            <a:extLst>
              <a:ext uri="{FF2B5EF4-FFF2-40B4-BE49-F238E27FC236}">
                <a16:creationId xmlns:a16="http://schemas.microsoft.com/office/drawing/2014/main" id="{C08F9358-A231-F7BB-9BEB-4ECB615E5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3176" y="5742252"/>
            <a:ext cx="3168824" cy="10073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4F8731-5FB0-751B-5AB2-6FF696F33B69}"/>
              </a:ext>
            </a:extLst>
          </p:cNvPr>
          <p:cNvSpPr txBox="1"/>
          <p:nvPr/>
        </p:nvSpPr>
        <p:spPr>
          <a:xfrm>
            <a:off x="377521" y="2222278"/>
            <a:ext cx="9918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4. Feature Aggregation, Clustering, and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22948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58BA4-5254-6A4D-D484-FFCD35D15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Feature Extraction for Multiple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BE87B-0373-C75A-0E73-EC45A3462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We use feature extraction to assist with some task or process (e.g., classification, segregation, etc.)</a:t>
            </a:r>
          </a:p>
          <a:p>
            <a:pPr>
              <a:spcAft>
                <a:spcPts val="600"/>
              </a:spcAft>
            </a:pPr>
            <a:r>
              <a:rPr lang="en-US" dirty="0"/>
              <a:t>This requires the establishment of “data pipelines” for processing audio, computing features, and storing the feature values to pass for further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55B3F-06BE-F84B-5FA9-19D35B256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B103F-FD11-D619-8210-2F8299FD0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Feature Aggregation, Clustering, and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744684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F55A2-242F-3560-3517-BF37E05F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E79593-0DFE-0B9B-9372-132F211A2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Feature Aggregation, Clustering, and Classification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6D6365-6FD7-9E80-ED01-757F42017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9444210-EE8C-B3D2-6B2E-F07D5E5A5620}"/>
              </a:ext>
            </a:extLst>
          </p:cNvPr>
          <p:cNvSpPr/>
          <p:nvPr/>
        </p:nvSpPr>
        <p:spPr>
          <a:xfrm>
            <a:off x="1680028" y="1690688"/>
            <a:ext cx="1879948" cy="8395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Audio input &amp; Preprocessing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D1A1FFA-C68F-3DDA-B304-4CB8F43B86DE}"/>
              </a:ext>
            </a:extLst>
          </p:cNvPr>
          <p:cNvSpPr/>
          <p:nvPr/>
        </p:nvSpPr>
        <p:spPr>
          <a:xfrm>
            <a:off x="5185228" y="1690688"/>
            <a:ext cx="1879948" cy="8395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 Calculation &amp; Aggregation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FE9A53B-95C5-25C9-FC66-382DBF8A6D4A}"/>
              </a:ext>
            </a:extLst>
          </p:cNvPr>
          <p:cNvSpPr/>
          <p:nvPr/>
        </p:nvSpPr>
        <p:spPr>
          <a:xfrm>
            <a:off x="8690428" y="1690688"/>
            <a:ext cx="1879948" cy="8395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Visualization / Analysis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7F4CC667-1DFC-8A0B-F2C2-CE19FE8AF96D}"/>
              </a:ext>
            </a:extLst>
          </p:cNvPr>
          <p:cNvSpPr/>
          <p:nvPr/>
        </p:nvSpPr>
        <p:spPr>
          <a:xfrm>
            <a:off x="3973335" y="1979112"/>
            <a:ext cx="826718" cy="2505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FDCEA673-B162-4E0E-332D-D9FF1A27F64F}"/>
              </a:ext>
            </a:extLst>
          </p:cNvPr>
          <p:cNvSpPr/>
          <p:nvPr/>
        </p:nvSpPr>
        <p:spPr>
          <a:xfrm>
            <a:off x="7464443" y="1979112"/>
            <a:ext cx="826718" cy="2505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AB7EF9D-A880-C20B-19C7-945E606F734A}"/>
              </a:ext>
            </a:extLst>
          </p:cNvPr>
          <p:cNvSpPr/>
          <p:nvPr/>
        </p:nvSpPr>
        <p:spPr>
          <a:xfrm>
            <a:off x="1349827" y="2612574"/>
            <a:ext cx="2512860" cy="3564389"/>
          </a:xfrm>
          <a:prstGeom prst="roundRect">
            <a:avLst/>
          </a:prstGeom>
          <a:solidFill>
            <a:srgbClr val="117E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Audio File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Stereo to Mono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Normalize amplitude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Resample to consistent SR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[ Silence / Noise trimming ]</a:t>
            </a:r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B95E07C5-623A-1FD8-BA5C-6D0D8918146F}"/>
              </a:ext>
            </a:extLst>
          </p:cNvPr>
          <p:cNvSpPr/>
          <p:nvPr/>
        </p:nvSpPr>
        <p:spPr>
          <a:xfrm>
            <a:off x="2463799" y="3186323"/>
            <a:ext cx="313673" cy="260674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34CCBF7-3EF7-860C-68E4-FF3C4048CD4D}"/>
              </a:ext>
            </a:extLst>
          </p:cNvPr>
          <p:cNvSpPr/>
          <p:nvPr/>
        </p:nvSpPr>
        <p:spPr>
          <a:xfrm>
            <a:off x="4674791" y="2612574"/>
            <a:ext cx="3093929" cy="3564389"/>
          </a:xfrm>
          <a:prstGeom prst="roundRect">
            <a:avLst/>
          </a:prstGeom>
          <a:solidFill>
            <a:srgbClr val="117E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Audio array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Audio blocking / STFT [windowing / FFT size]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Features: 1   2    3 …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Per-feature normalization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Aggregate (over time)</a:t>
            </a:r>
          </a:p>
          <a:p>
            <a:pPr algn="ctr"/>
            <a:r>
              <a:rPr lang="en-US" dirty="0"/>
              <a:t> </a:t>
            </a:r>
          </a:p>
          <a:p>
            <a:pPr algn="ctr"/>
            <a:r>
              <a:rPr lang="en-US" dirty="0"/>
              <a:t>Normalize each feature dimension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5BE616F-5C07-B594-02D1-7A79CD1C4583}"/>
              </a:ext>
            </a:extLst>
          </p:cNvPr>
          <p:cNvCxnSpPr>
            <a:cxnSpLocks/>
          </p:cNvCxnSpPr>
          <p:nvPr/>
        </p:nvCxnSpPr>
        <p:spPr>
          <a:xfrm>
            <a:off x="6268893" y="3716094"/>
            <a:ext cx="0" cy="271406"/>
          </a:xfrm>
          <a:prstGeom prst="straightConnector1">
            <a:avLst/>
          </a:prstGeom>
          <a:ln w="38100">
            <a:solidFill>
              <a:schemeClr val="bg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73127F4-B1A8-3F05-177D-832AB23EB754}"/>
              </a:ext>
            </a:extLst>
          </p:cNvPr>
          <p:cNvCxnSpPr>
            <a:cxnSpLocks/>
          </p:cNvCxnSpPr>
          <p:nvPr/>
        </p:nvCxnSpPr>
        <p:spPr>
          <a:xfrm>
            <a:off x="6268893" y="3716094"/>
            <a:ext cx="252024" cy="257927"/>
          </a:xfrm>
          <a:prstGeom prst="straightConnector1">
            <a:avLst/>
          </a:prstGeom>
          <a:ln w="38100">
            <a:solidFill>
              <a:schemeClr val="bg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Down Arrow 32">
            <a:extLst>
              <a:ext uri="{FF2B5EF4-FFF2-40B4-BE49-F238E27FC236}">
                <a16:creationId xmlns:a16="http://schemas.microsoft.com/office/drawing/2014/main" id="{F1EAE90D-D2F8-4C3B-5F59-FE03D4E87953}"/>
              </a:ext>
            </a:extLst>
          </p:cNvPr>
          <p:cNvSpPr/>
          <p:nvPr/>
        </p:nvSpPr>
        <p:spPr>
          <a:xfrm>
            <a:off x="2456541" y="3716094"/>
            <a:ext cx="313673" cy="260674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own Arrow 33">
            <a:extLst>
              <a:ext uri="{FF2B5EF4-FFF2-40B4-BE49-F238E27FC236}">
                <a16:creationId xmlns:a16="http://schemas.microsoft.com/office/drawing/2014/main" id="{38FC8BCE-4D2F-83D3-6FDB-CACA4D28977F}"/>
              </a:ext>
            </a:extLst>
          </p:cNvPr>
          <p:cNvSpPr/>
          <p:nvPr/>
        </p:nvSpPr>
        <p:spPr>
          <a:xfrm>
            <a:off x="2449286" y="4274891"/>
            <a:ext cx="313673" cy="260674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>
            <a:extLst>
              <a:ext uri="{FF2B5EF4-FFF2-40B4-BE49-F238E27FC236}">
                <a16:creationId xmlns:a16="http://schemas.microsoft.com/office/drawing/2014/main" id="{3AED627D-EA6B-5B36-85F8-9E3DC6D7EE5A}"/>
              </a:ext>
            </a:extLst>
          </p:cNvPr>
          <p:cNvSpPr/>
          <p:nvPr/>
        </p:nvSpPr>
        <p:spPr>
          <a:xfrm>
            <a:off x="2442028" y="5109461"/>
            <a:ext cx="313673" cy="260674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CD3D47AB-BB3B-074A-AF2E-841BA5185CE0}"/>
              </a:ext>
            </a:extLst>
          </p:cNvPr>
          <p:cNvSpPr/>
          <p:nvPr/>
        </p:nvSpPr>
        <p:spPr>
          <a:xfrm>
            <a:off x="6034315" y="5377973"/>
            <a:ext cx="313673" cy="260674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wn Arrow 36">
            <a:extLst>
              <a:ext uri="{FF2B5EF4-FFF2-40B4-BE49-F238E27FC236}">
                <a16:creationId xmlns:a16="http://schemas.microsoft.com/office/drawing/2014/main" id="{5EF83275-F7A8-5F85-7F9E-B52631BC635D}"/>
              </a:ext>
            </a:extLst>
          </p:cNvPr>
          <p:cNvSpPr/>
          <p:nvPr/>
        </p:nvSpPr>
        <p:spPr>
          <a:xfrm>
            <a:off x="6041573" y="4819176"/>
            <a:ext cx="313673" cy="260674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Down Arrow 37">
            <a:extLst>
              <a:ext uri="{FF2B5EF4-FFF2-40B4-BE49-F238E27FC236}">
                <a16:creationId xmlns:a16="http://schemas.microsoft.com/office/drawing/2014/main" id="{8E75BFDE-F4E1-FB08-8DD5-023E8AA7B0E6}"/>
              </a:ext>
            </a:extLst>
          </p:cNvPr>
          <p:cNvSpPr/>
          <p:nvPr/>
        </p:nvSpPr>
        <p:spPr>
          <a:xfrm>
            <a:off x="6048833" y="4274890"/>
            <a:ext cx="313673" cy="260674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Down Arrow 38">
            <a:extLst>
              <a:ext uri="{FF2B5EF4-FFF2-40B4-BE49-F238E27FC236}">
                <a16:creationId xmlns:a16="http://schemas.microsoft.com/office/drawing/2014/main" id="{0EFB37A0-F825-7482-8B41-27710E24B10C}"/>
              </a:ext>
            </a:extLst>
          </p:cNvPr>
          <p:cNvSpPr/>
          <p:nvPr/>
        </p:nvSpPr>
        <p:spPr>
          <a:xfrm>
            <a:off x="6027065" y="2903292"/>
            <a:ext cx="313673" cy="260674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17CD2F8-BE4D-83BB-18BF-131ECB4774BA}"/>
              </a:ext>
            </a:extLst>
          </p:cNvPr>
          <p:cNvCxnSpPr>
            <a:cxnSpLocks/>
          </p:cNvCxnSpPr>
          <p:nvPr/>
        </p:nvCxnSpPr>
        <p:spPr>
          <a:xfrm>
            <a:off x="6268892" y="3698703"/>
            <a:ext cx="596705" cy="235122"/>
          </a:xfrm>
          <a:prstGeom prst="straightConnector1">
            <a:avLst/>
          </a:prstGeom>
          <a:ln w="38100">
            <a:solidFill>
              <a:schemeClr val="bg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369581E9-7CD5-E89F-EB80-4D1FC4E55283}"/>
              </a:ext>
            </a:extLst>
          </p:cNvPr>
          <p:cNvSpPr/>
          <p:nvPr/>
        </p:nvSpPr>
        <p:spPr>
          <a:xfrm>
            <a:off x="8496250" y="2612573"/>
            <a:ext cx="2293307" cy="3564389"/>
          </a:xfrm>
          <a:prstGeom prst="roundRect">
            <a:avLst/>
          </a:prstGeom>
          <a:solidFill>
            <a:srgbClr val="117E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Relation/</a:t>
            </a:r>
          </a:p>
          <a:p>
            <a:pPr algn="ctr"/>
            <a:r>
              <a:rPr lang="en-US" dirty="0"/>
              <a:t>independence between features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[ Clustering/ dimensionality reduction ]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83066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CF3FE-F62F-7426-DD36-19DD2701C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57F12-2A43-A019-6868-5A10A1CE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</a:rPr>
              <a:t>Why</a:t>
            </a:r>
            <a:r>
              <a:rPr lang="en-US" dirty="0"/>
              <a:t> we need feature aggregation: </a:t>
            </a:r>
          </a:p>
          <a:p>
            <a:pPr>
              <a:spcAft>
                <a:spcPts val="900"/>
              </a:spcAft>
            </a:pPr>
            <a:r>
              <a:rPr lang="en-US" dirty="0"/>
              <a:t>MIR features are often frame-based (hundreds/thousands per track).</a:t>
            </a:r>
          </a:p>
          <a:p>
            <a:pPr>
              <a:spcAft>
                <a:spcPts val="900"/>
              </a:spcAft>
            </a:pPr>
            <a:r>
              <a:rPr lang="en-US" dirty="0"/>
              <a:t>Models can’t handle raw frame-level features for whole tracks across an entire dataset: too many (and too noisy).</a:t>
            </a:r>
          </a:p>
          <a:p>
            <a:pPr>
              <a:spcAft>
                <a:spcPts val="900"/>
              </a:spcAft>
            </a:pPr>
            <a:r>
              <a:rPr lang="en-US" b="1" dirty="0"/>
              <a:t>Solution</a:t>
            </a:r>
            <a:r>
              <a:rPr lang="en-US" dirty="0"/>
              <a:t>: Aggregate into track-level descriptors.</a:t>
            </a:r>
          </a:p>
          <a:p>
            <a:pPr>
              <a:spcAft>
                <a:spcPts val="900"/>
              </a:spcAft>
            </a:pPr>
            <a:r>
              <a:rPr lang="en-US" b="1" dirty="0"/>
              <a:t>Example</a:t>
            </a:r>
            <a:r>
              <a:rPr lang="en-US" dirty="0"/>
              <a:t>: mean, variance, skewness, percentiles, histograms.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3E88E-BDCD-DD8C-5DA9-3C4479852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Feature Aggregation, Clustering, and Classification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DE13E-3103-125D-4523-759B85C55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522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CB45-DC88-44BD-1E57-1F120C986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B318C-B886-B978-6AB4-FF607F381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(and when) do we need to normalize?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D8AEF7-6910-8CCD-19B7-B39DACE2A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Feature Aggregation, Clustering, and Classification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88B222-C8FD-1D72-D068-3A8D8E8D9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771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99D2C-4013-090C-F303-3AF294F71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09FCD-DAE5-57A6-F59C-F11061C0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DE229-EF53-EC46-70FB-8702256A0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4000" b="1" dirty="0"/>
              <a:t>Fair comparison across features</a:t>
            </a:r>
            <a:r>
              <a:rPr lang="en-US" sz="4000" dirty="0"/>
              <a:t>: Different units/scales distort. Without normalization, large-magnitude features dominate.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4000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4000" b="1" dirty="0"/>
              <a:t>Distance-based methods</a:t>
            </a:r>
            <a:r>
              <a:rPr lang="en-US" sz="4000" dirty="0"/>
              <a:t>: </a:t>
            </a:r>
            <a:r>
              <a:rPr lang="en-US" sz="4000" dirty="0" err="1"/>
              <a:t>kNN</a:t>
            </a:r>
            <a:r>
              <a:rPr lang="en-US" sz="4000" dirty="0"/>
              <a:t>, k-means, PCA, MDS all rely on distances/variance (also biased by units and scale distortion)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4000" b="1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4000" b="1" dirty="0"/>
              <a:t>Interpretability</a:t>
            </a:r>
            <a:r>
              <a:rPr lang="en-US" sz="4000" dirty="0"/>
              <a:t>: After normalization, feature weights (coefficients) are comparable in magnitude: we can see which features matter more (comparing apples &amp; apples).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ADE699-FA72-85CA-33F0-E1E18775A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Feature Aggregation, Clustering, and Classification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71D39-0B78-D6AE-02F7-FDE9AD61F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172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EABB7-4FC5-F722-C52F-73B7147FE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C9B17-5B58-484F-EA76-136D9A867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Edit: So how do we normalize, anyway?</a:t>
            </a:r>
          </a:p>
          <a:p>
            <a:pPr lvl="1"/>
            <a:r>
              <a:rPr lang="en-US" dirty="0"/>
              <a:t>A few features have their own normalization schemes prior to aggregating. These include: </a:t>
            </a:r>
          </a:p>
          <a:p>
            <a:pPr lvl="2"/>
            <a:r>
              <a:rPr lang="en-US" sz="2400" dirty="0"/>
              <a:t>Spectral flux</a:t>
            </a:r>
          </a:p>
          <a:p>
            <a:pPr lvl="3"/>
            <a:r>
              <a:rPr lang="en-US" sz="2200" dirty="0"/>
              <a:t>“</a:t>
            </a:r>
            <a:r>
              <a:rPr lang="en-US" sz="2200" dirty="0">
                <a:solidFill>
                  <a:schemeClr val="accent4"/>
                </a:solidFill>
              </a:rPr>
              <a:t>L2”/”Euclidean” normalization </a:t>
            </a:r>
            <a:r>
              <a:rPr lang="en-US" sz="2200" i="1" dirty="0">
                <a:solidFill>
                  <a:schemeClr val="accent4"/>
                </a:solidFill>
              </a:rPr>
              <a:t>per frame</a:t>
            </a:r>
            <a:r>
              <a:rPr lang="en-US" sz="2200" dirty="0">
                <a:solidFill>
                  <a:schemeClr val="accent4"/>
                </a:solidFill>
              </a:rPr>
              <a:t>.</a:t>
            </a:r>
            <a:r>
              <a:rPr lang="en-US" sz="2200" dirty="0"/>
              <a:t> Goal: reflect only relative shape changes frame to frame (not overall loudness swings)</a:t>
            </a:r>
          </a:p>
          <a:p>
            <a:pPr lvl="2"/>
            <a:r>
              <a:rPr lang="en-US" sz="2400" dirty="0"/>
              <a:t>MFCCs</a:t>
            </a:r>
          </a:p>
          <a:p>
            <a:pPr lvl="3"/>
            <a:r>
              <a:rPr lang="en-US" sz="2200" dirty="0">
                <a:solidFill>
                  <a:schemeClr val="accent4"/>
                </a:solidFill>
              </a:rPr>
              <a:t>Cepstral Mean and Variance Normalization, aka CMVN</a:t>
            </a:r>
            <a:r>
              <a:rPr lang="en-US" sz="2200" dirty="0"/>
              <a:t>: </a:t>
            </a:r>
            <a:r>
              <a:rPr lang="en-US" sz="2400" dirty="0"/>
              <a:t>For each MFCC coefficient </a:t>
            </a:r>
            <a:r>
              <a:rPr lang="en-US" sz="2400" i="1" dirty="0"/>
              <a:t>within a single file</a:t>
            </a:r>
            <a:r>
              <a:rPr lang="en-US" sz="2400" dirty="0"/>
              <a:t>, subtract the mean and divide by the standard deviation. Goal: reflect only relative loudness in spectral shape (not overall)</a:t>
            </a:r>
            <a:endParaRPr lang="en-US" sz="2200" dirty="0"/>
          </a:p>
          <a:p>
            <a:pPr lvl="2"/>
            <a:r>
              <a:rPr lang="en-US" sz="2400" dirty="0" err="1"/>
              <a:t>Chromagrams</a:t>
            </a:r>
            <a:r>
              <a:rPr lang="en-US" sz="2400" dirty="0"/>
              <a:t> </a:t>
            </a:r>
          </a:p>
          <a:p>
            <a:pPr lvl="3"/>
            <a:r>
              <a:rPr lang="en-US" sz="2400" dirty="0">
                <a:solidFill>
                  <a:schemeClr val="accent4"/>
                </a:solidFill>
              </a:rPr>
              <a:t>L2 (or L1) normalization. </a:t>
            </a:r>
            <a:r>
              <a:rPr lang="en-US" sz="2400" dirty="0"/>
              <a:t>Dynamic range, background noise, and balance between instruments can skew chroma </a:t>
            </a:r>
            <a:r>
              <a:rPr lang="en-US" sz="2400" dirty="0" err="1"/>
              <a:t>magnitudes.Goal</a:t>
            </a:r>
            <a:r>
              <a:rPr lang="en-US" sz="2400" dirty="0"/>
              <a:t>: capture the relative distribution of energy across pitch classes.</a:t>
            </a:r>
            <a:endParaRPr lang="en-US" sz="2200" dirty="0"/>
          </a:p>
          <a:p>
            <a:pPr lvl="2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ECA4C-0F35-C806-0AE6-71C30F200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Feature Aggregation, Clustering, and Classification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5F861-89EF-5E44-DC9F-5E24E1B5D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264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2BD9F-C430-1ECD-BECF-73A534563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99D15-3A5B-71EE-694B-D4375E56C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might features be correlated?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Why is it a problem?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0F8030-02C0-9B85-4F96-8A3BA3A3A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Feature Aggregation, Clustering, and Classification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277B76-6F8F-805F-19E9-EA808A1E9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038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B79B5-2F29-5AFF-611D-858922BA3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3FA44-782A-4AC2-5624-7BC1ADA08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7ED2B-9119-4D74-88A4-0D7F79B97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might features be correlated?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chemeClr val="accent4"/>
                </a:solidFill>
              </a:rPr>
              <a:t>Redundancy in measurement. </a:t>
            </a:r>
            <a:r>
              <a:rPr lang="en-US" dirty="0"/>
              <a:t>Different features capture similar or overlapping information, e.g., ZCR &amp; spectral centroid.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chemeClr val="accent4"/>
                </a:solidFill>
              </a:rPr>
              <a:t>Common signal sources, constraints, or conditions. </a:t>
            </a:r>
            <a:r>
              <a:rPr lang="en-US" dirty="0"/>
              <a:t>Underlying acoustics—pitch, instrument, timbre influence many features at once.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chemeClr val="accent4"/>
                </a:solidFill>
              </a:rPr>
              <a:t>Derived relationships. </a:t>
            </a:r>
            <a:r>
              <a:rPr lang="en-US" dirty="0"/>
              <a:t>As we saw, most features are statistical ‘summaries’ (i.e., spectral shape) which means they tend to relate.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2EFE36-F2A7-519E-FD81-A8B9C4F7C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Feature Aggregation, Clustering, and Classification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496BE-8D84-23A2-E74B-54678D48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066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2E9C2-F3BC-95EF-FD15-DF67E28A8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C0D45-F939-7E73-732C-79FC1860C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36DC6-DA2D-256D-79E8-9AAD761CC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is correlation a problem?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chemeClr val="accent4"/>
                </a:solidFill>
              </a:rPr>
              <a:t>Correlation = redundancy in features</a:t>
            </a:r>
            <a:r>
              <a:rPr lang="en-US" dirty="0"/>
              <a:t>. Doesn’t add new information, just clutter.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chemeClr val="accent4"/>
                </a:solidFill>
              </a:rPr>
              <a:t>Distance distortion. </a:t>
            </a:r>
            <a:r>
              <a:rPr lang="en-US" dirty="0"/>
              <a:t>Many classifiers are distance based and overrepresented features (from redundancy) can “over weight” feature importance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chemeClr val="accent4"/>
                </a:solidFill>
              </a:rPr>
              <a:t>Model fit/convergence. </a:t>
            </a:r>
            <a:r>
              <a:rPr lang="en-US" dirty="0"/>
              <a:t>High correlations (“multicollinearity”) make it hard to estimate unique effects of each feature &amp; coefficients become unstable (models get confused).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3F24C4-E7DC-65B5-7D65-884DA95C0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Feature Aggregation, Clustering, and Classification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95D36-4B92-5531-4671-7862725FB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158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84AF6-5DDD-7475-B018-A102D96F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6B2CF-0FBE-7223-20F1-12AE7816B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Several problems in MIR are classification based (i.e., a sorting or threshold problem), e.g.</a:t>
            </a:r>
          </a:p>
          <a:p>
            <a:pPr lvl="1"/>
            <a:r>
              <a:rPr lang="en-US" dirty="0"/>
              <a:t>Genre</a:t>
            </a:r>
          </a:p>
          <a:p>
            <a:pPr lvl="1"/>
            <a:r>
              <a:rPr lang="en-US" dirty="0"/>
              <a:t>Instrument</a:t>
            </a:r>
          </a:p>
          <a:p>
            <a:pPr lvl="1"/>
            <a:r>
              <a:rPr lang="en-US" dirty="0"/>
              <a:t>Voiced/unvoiced</a:t>
            </a:r>
          </a:p>
          <a:p>
            <a:pPr lvl="1"/>
            <a:r>
              <a:rPr lang="en-US" dirty="0"/>
              <a:t>Spoken/sung</a:t>
            </a:r>
          </a:p>
          <a:p>
            <a:pPr lvl="1"/>
            <a:r>
              <a:rPr lang="en-US" dirty="0"/>
              <a:t>Emotion/mood</a:t>
            </a:r>
          </a:p>
          <a:p>
            <a:pPr lvl="1"/>
            <a:endParaRPr lang="en-US" dirty="0"/>
          </a:p>
          <a:p>
            <a:r>
              <a:rPr lang="en-US" dirty="0"/>
              <a:t>General idea is that objects in the same category will have similar features/characteristics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2FEF1A-2EC5-0A36-AC6A-74980FEF3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Feature Aggregation, Clustering, and Classification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5DAA7E-05D8-EEA8-60BC-65074CA4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272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8437C-50E7-637B-7A18-94CB43230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E5776-94C6-A020-8B73-960FC7A84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Visualizing feature values is an important step in </a:t>
            </a:r>
            <a:r>
              <a:rPr lang="en-US" dirty="0">
                <a:solidFill>
                  <a:schemeClr val="accent4"/>
                </a:solidFill>
              </a:rPr>
              <a:t>understanding your data.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accent4"/>
                </a:solidFill>
              </a:rPr>
              <a:t>Identify feature spreads and relations </a:t>
            </a:r>
            <a:r>
              <a:rPr lang="en-US" dirty="0"/>
              <a:t>(i.e., highly correlated, tightly clustered or sparse, etc.)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accent4"/>
                </a:solidFill>
              </a:rPr>
              <a:t>Identify “outliers” or potential mistakes/errors </a:t>
            </a:r>
            <a:r>
              <a:rPr lang="en-US" dirty="0"/>
              <a:t>in feature calculations (or “problem files”).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27D9E8-5017-E644-F093-3594CF75B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Feature Aggregation, Clustering, and Classification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E4020-5DE9-79E2-32B2-D48EC1488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719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4ED9B-D3A9-6485-0BBF-283C0BA82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4797F-6FF9-8D01-5097-AFD599438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Visualization</a:t>
            </a:r>
          </a:p>
        </p:txBody>
      </p:sp>
      <p:pic>
        <p:nvPicPr>
          <p:cNvPr id="7" name="Content Placeholder 6" descr="A diagram of different colored dots&#10;&#10;AI-generated content may be incorrect.">
            <a:extLst>
              <a:ext uri="{FF2B5EF4-FFF2-40B4-BE49-F238E27FC236}">
                <a16:creationId xmlns:a16="http://schemas.microsoft.com/office/drawing/2014/main" id="{6E4BE5FB-FBA9-2EEB-5687-179755007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5762" y="1582409"/>
            <a:ext cx="7010400" cy="4594554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3D0AD6-F97B-3246-F295-2EACCF552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Feature Aggregation, Clustering, and Classification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5D64F-B533-6453-A034-0F3AB99BA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829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F6D9-4715-9203-8471-A9E22709B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Pause for Activity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00F42-B925-341C-3624-336299864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up a “pipeline” to calculate spectral features for the four files shared in Files &gt; Audio &gt; Activities &gt; </a:t>
            </a:r>
            <a:r>
              <a:rPr lang="en-US" dirty="0" err="1"/>
              <a:t>FourInstrumentFiles</a:t>
            </a:r>
            <a:endParaRPr lang="en-US" dirty="0"/>
          </a:p>
          <a:p>
            <a:r>
              <a:rPr lang="en-US" dirty="0"/>
              <a:t>Calculate:</a:t>
            </a:r>
          </a:p>
          <a:p>
            <a:pPr lvl="1"/>
            <a:r>
              <a:rPr lang="en-US" dirty="0"/>
              <a:t>Spectral centroid</a:t>
            </a:r>
          </a:p>
          <a:p>
            <a:pPr lvl="1"/>
            <a:r>
              <a:rPr lang="en-US" dirty="0"/>
              <a:t>Spectral spread*</a:t>
            </a:r>
          </a:p>
          <a:p>
            <a:pPr lvl="1"/>
            <a:r>
              <a:rPr lang="en-US" dirty="0"/>
              <a:t>Spectral flux**</a:t>
            </a:r>
          </a:p>
          <a:p>
            <a:pPr lvl="1"/>
            <a:r>
              <a:rPr lang="en-US" dirty="0"/>
              <a:t>MFCCs***</a:t>
            </a:r>
          </a:p>
          <a:p>
            <a:r>
              <a:rPr lang="en-US" dirty="0"/>
              <a:t>For all four files, make at least 4 plots visualizing 2D feature space – pair up and plot opposite things!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462340-145D-4F31-0E0B-A0BAE87B7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Feature Aggregation, Clustering, and Classification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EBF9F0-5A89-50E6-5417-85957DF2B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054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CF7AB-7A24-5016-5903-AFF8D367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06A6-E4F4-C60D-B381-3F701FB00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C5C6-1BB0-A739-82AC-7F1E4833B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Several problems in MIR are classification based (i.e., a sorting or threshold problem), e.g.</a:t>
            </a:r>
          </a:p>
          <a:p>
            <a:pPr lvl="1"/>
            <a:r>
              <a:rPr lang="en-US" dirty="0"/>
              <a:t>Genre</a:t>
            </a:r>
          </a:p>
          <a:p>
            <a:pPr lvl="1"/>
            <a:r>
              <a:rPr lang="en-US" dirty="0"/>
              <a:t>Instrument</a:t>
            </a:r>
          </a:p>
          <a:p>
            <a:pPr lvl="1"/>
            <a:r>
              <a:rPr lang="en-US" dirty="0"/>
              <a:t>Voiced/unvoiced</a:t>
            </a:r>
          </a:p>
          <a:p>
            <a:pPr lvl="1"/>
            <a:r>
              <a:rPr lang="en-US" dirty="0"/>
              <a:t>Spoken/sung</a:t>
            </a:r>
          </a:p>
          <a:p>
            <a:pPr lvl="1"/>
            <a:r>
              <a:rPr lang="en-US" dirty="0"/>
              <a:t>Emotion/mood</a:t>
            </a:r>
          </a:p>
          <a:p>
            <a:r>
              <a:rPr lang="en-US" dirty="0"/>
              <a:t>General idea is that objects in the same category will have similar features/characteristics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B81D98-4BD9-AA78-043A-8F3752420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Feature Aggregation, Clustering, and Classification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F807AB-77F7-832A-8454-D4E3969CA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30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7A6A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C273A-FCCA-D7DD-8EA0-67BA4C309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5DBD3-0DF5-D9EA-46B4-A9934721C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Machine Learning: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066C6-2E4D-23F1-5A85-0A06DE43F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Linear vs logistic regression: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1DB6A-3038-A930-48E6-D8D4974A7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Feature Aggregation, Clustering, and Classification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AA622-C69F-C729-7900-F9ADF9CFC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C9780E4E-E98A-1E80-DC50-EBB2EAA449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82"/>
          <a:stretch>
            <a:fillRect/>
          </a:stretch>
        </p:blipFill>
        <p:spPr>
          <a:xfrm>
            <a:off x="651255" y="2411917"/>
            <a:ext cx="5444745" cy="25440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2EEB08-0F8C-8F66-32DB-4CD9BBC8C071}"/>
              </a:ext>
            </a:extLst>
          </p:cNvPr>
          <p:cNvSpPr txBox="1"/>
          <p:nvPr/>
        </p:nvSpPr>
        <p:spPr>
          <a:xfrm>
            <a:off x="6282945" y="2293134"/>
            <a:ext cx="570411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 regression: </a:t>
            </a:r>
            <a:r>
              <a:rPr lang="en-CA" sz="24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predicts a continuous variable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 as a weighted sum of features</a:t>
            </a:r>
          </a:p>
          <a:p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Logistic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 regression: </a:t>
            </a:r>
            <a:r>
              <a:rPr lang="en-CA" sz="24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predicts a probability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of belonging to a class (uses sigmoid)</a:t>
            </a:r>
          </a:p>
          <a:p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black text with a plus and a white background&#10;&#10;AI-generated content may be incorrect.">
            <a:extLst>
              <a:ext uri="{FF2B5EF4-FFF2-40B4-BE49-F238E27FC236}">
                <a16:creationId xmlns:a16="http://schemas.microsoft.com/office/drawing/2014/main" id="{6C8607C5-6AE7-F26F-D82D-6FFDE14A3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987" y="3496857"/>
            <a:ext cx="3962400" cy="508000"/>
          </a:xfrm>
          <a:prstGeom prst="rect">
            <a:avLst/>
          </a:prstGeom>
        </p:spPr>
      </p:pic>
      <p:pic>
        <p:nvPicPr>
          <p:cNvPr id="11" name="Picture 10" descr="A mathematical equation with a line&#10;&#10;AI-generated content may be incorrect.">
            <a:extLst>
              <a:ext uri="{FF2B5EF4-FFF2-40B4-BE49-F238E27FC236}">
                <a16:creationId xmlns:a16="http://schemas.microsoft.com/office/drawing/2014/main" id="{EC02CC39-9E7E-104E-CA55-74BAEA8F9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7930" y="5208580"/>
            <a:ext cx="4762500" cy="6604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E95C3136-69C4-D628-89C0-D227B02F7873}"/>
              </a:ext>
            </a:extLst>
          </p:cNvPr>
          <p:cNvGrpSpPr/>
          <p:nvPr/>
        </p:nvGrpSpPr>
        <p:grpSpPr>
          <a:xfrm>
            <a:off x="3878772" y="5104142"/>
            <a:ext cx="2324746" cy="876300"/>
            <a:chOff x="3584310" y="5104142"/>
            <a:chExt cx="2324746" cy="876300"/>
          </a:xfrm>
        </p:grpSpPr>
        <p:pic>
          <p:nvPicPr>
            <p:cNvPr id="13" name="Picture 12" descr="A math equation with numbers and symbols&#10;&#10;AI-generated content may be incorrect.">
              <a:extLst>
                <a:ext uri="{FF2B5EF4-FFF2-40B4-BE49-F238E27FC236}">
                  <a16:creationId xmlns:a16="http://schemas.microsoft.com/office/drawing/2014/main" id="{B4E37C56-A82C-976E-ED2E-8FB3D5CB7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99838" y="5104142"/>
              <a:ext cx="1930400" cy="876300"/>
            </a:xfrm>
            <a:prstGeom prst="rect">
              <a:avLst/>
            </a:prstGeom>
          </p:spPr>
        </p:pic>
        <p:sp>
          <p:nvSpPr>
            <p:cNvPr id="14" name="Double Brace 13">
              <a:extLst>
                <a:ext uri="{FF2B5EF4-FFF2-40B4-BE49-F238E27FC236}">
                  <a16:creationId xmlns:a16="http://schemas.microsoft.com/office/drawing/2014/main" id="{304BB835-D3E9-BDEC-8DD6-3F8642F2DD8E}"/>
                </a:ext>
              </a:extLst>
            </p:cNvPr>
            <p:cNvSpPr/>
            <p:nvPr/>
          </p:nvSpPr>
          <p:spPr>
            <a:xfrm>
              <a:off x="3584310" y="5257599"/>
              <a:ext cx="2324746" cy="558501"/>
            </a:xfrm>
            <a:prstGeom prst="bracePair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681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DCE4D-867E-BCB7-73A5-B59935AFC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CA7E2-E6C5-FFF1-933D-B1F218B6E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Machine Learning: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BADB6-E6C9-11C0-247C-0F5AD983A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Linear vs logistic regression: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39F516-FD60-1890-7C08-0D05B3B23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Feature Aggregation, Clustering, and Classification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73FD86-9BEF-FA58-7421-2F1B8497F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EA92B0EE-46D8-57F7-E082-18AB4A495F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82"/>
          <a:stretch>
            <a:fillRect/>
          </a:stretch>
        </p:blipFill>
        <p:spPr>
          <a:xfrm>
            <a:off x="651255" y="2411917"/>
            <a:ext cx="5444745" cy="25440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5D1C38-D117-D60B-2C52-A8233E2D33A7}"/>
              </a:ext>
            </a:extLst>
          </p:cNvPr>
          <p:cNvSpPr txBox="1"/>
          <p:nvPr/>
        </p:nvSpPr>
        <p:spPr>
          <a:xfrm>
            <a:off x="6096000" y="2211138"/>
            <a:ext cx="5961681" cy="4131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Both methods use a linear predictor (i.e., always weighted combo of inputs)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Both </a:t>
            </a:r>
            <a:r>
              <a:rPr lang="en-US" sz="2400" dirty="0">
                <a:solidFill>
                  <a:srgbClr val="00B0F0"/>
                </a:solidFill>
              </a:rPr>
              <a:t>estimate coefficients by optimizing a loss </a:t>
            </a:r>
            <a:r>
              <a:rPr lang="en-US" sz="2400" dirty="0"/>
              <a:t>(minimize squared error or maximize likelihood).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Important </a:t>
            </a:r>
            <a:r>
              <a:rPr lang="en-US" sz="2400" dirty="0">
                <a:solidFill>
                  <a:schemeClr val="accent4"/>
                </a:solidFill>
              </a:rPr>
              <a:t>difference is the target &amp; the likelihood: </a:t>
            </a:r>
            <a:r>
              <a:rPr lang="en-US" sz="2400" dirty="0"/>
              <a:t>estimate y directly vs probability; loss/estimation methods differ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021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3CD1C-00C5-4321-8640-397A4FDC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Supervised vs Unsupervised “Learning”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64BEE-442F-ADB8-24C9-D4F21955A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Classification (like logistic regression) is a very common procedure/task in MIR</a:t>
            </a:r>
          </a:p>
          <a:p>
            <a:pPr>
              <a:spcAft>
                <a:spcPts val="600"/>
              </a:spcAft>
            </a:pPr>
            <a:r>
              <a:rPr lang="en-US" dirty="0"/>
              <a:t>Lots of “flavors” of classification (i.e., many different methods, logistic regression is only one)</a:t>
            </a:r>
          </a:p>
          <a:p>
            <a:pPr>
              <a:spcAft>
                <a:spcPts val="600"/>
              </a:spcAft>
            </a:pPr>
            <a:r>
              <a:rPr lang="en-US" dirty="0"/>
              <a:t>Different methods for two different situations:</a:t>
            </a:r>
          </a:p>
          <a:p>
            <a:pPr marL="914400" lvl="1" indent="-4572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You have “ground truth” labels (i.e., known correct class)</a:t>
            </a:r>
          </a:p>
          <a:p>
            <a:pPr marL="914400" lvl="1" indent="-4572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You do not have “ground truth” (no known class info)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0CEDC7-CF73-E214-7B45-D4847C0E5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Feature Aggregation, Clustering, and Classification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45502-339A-32A6-D906-C1EAED8F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E1D0516-CDFF-B3CA-101D-BC3CC9D64018}"/>
              </a:ext>
            </a:extLst>
          </p:cNvPr>
          <p:cNvGrpSpPr/>
          <p:nvPr/>
        </p:nvGrpSpPr>
        <p:grpSpPr>
          <a:xfrm>
            <a:off x="9562454" y="4216961"/>
            <a:ext cx="2371241" cy="461665"/>
            <a:chOff x="9562454" y="4216961"/>
            <a:chExt cx="2371241" cy="461665"/>
          </a:xfrm>
        </p:grpSpPr>
        <p:sp>
          <p:nvSpPr>
            <p:cNvPr id="6" name="Right Arrow 5">
              <a:extLst>
                <a:ext uri="{FF2B5EF4-FFF2-40B4-BE49-F238E27FC236}">
                  <a16:creationId xmlns:a16="http://schemas.microsoft.com/office/drawing/2014/main" id="{D812C6C8-AC81-10BE-DA4A-75FC11C74603}"/>
                </a:ext>
              </a:extLst>
            </p:cNvPr>
            <p:cNvSpPr/>
            <p:nvPr/>
          </p:nvSpPr>
          <p:spPr>
            <a:xfrm>
              <a:off x="9562454" y="4370522"/>
              <a:ext cx="294468" cy="139485"/>
            </a:xfrm>
            <a:prstGeom prst="right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F53DCC-9258-31E5-CFC1-B02C292BFFEE}"/>
                </a:ext>
              </a:extLst>
            </p:cNvPr>
            <p:cNvSpPr txBox="1"/>
            <p:nvPr/>
          </p:nvSpPr>
          <p:spPr>
            <a:xfrm>
              <a:off x="10011905" y="4216961"/>
              <a:ext cx="19217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Supervised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3D8B0B0-6BE9-AE37-97BE-B3A0741A1850}"/>
              </a:ext>
            </a:extLst>
          </p:cNvPr>
          <p:cNvGrpSpPr/>
          <p:nvPr/>
        </p:nvGrpSpPr>
        <p:grpSpPr>
          <a:xfrm>
            <a:off x="9562454" y="4780782"/>
            <a:ext cx="2629546" cy="461665"/>
            <a:chOff x="9562454" y="4780782"/>
            <a:chExt cx="2629546" cy="461665"/>
          </a:xfrm>
        </p:grpSpPr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E23E4D82-EB1F-1C2A-33C0-5E46B31FF2F2}"/>
                </a:ext>
              </a:extLst>
            </p:cNvPr>
            <p:cNvSpPr/>
            <p:nvPr/>
          </p:nvSpPr>
          <p:spPr>
            <a:xfrm>
              <a:off x="9562454" y="4956874"/>
              <a:ext cx="294468" cy="139485"/>
            </a:xfrm>
            <a:prstGeom prst="right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03870AC-8139-ED57-551E-4CCCD2702199}"/>
                </a:ext>
              </a:extLst>
            </p:cNvPr>
            <p:cNvSpPr txBox="1"/>
            <p:nvPr/>
          </p:nvSpPr>
          <p:spPr>
            <a:xfrm>
              <a:off x="10011905" y="4780782"/>
              <a:ext cx="21800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Unsupervised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645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8A4FE-ACA4-E326-3A08-F2D44BBF7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3BDC-92B7-B4E0-C370-364D3CAAE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Supervised vs Unsupervised “Learning”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09780-2951-CFC0-F29B-FC1B826EC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Commonly used </a:t>
            </a:r>
            <a:r>
              <a:rPr lang="en-US" dirty="0">
                <a:solidFill>
                  <a:srgbClr val="00B0F0"/>
                </a:solidFill>
              </a:rPr>
              <a:t>supervised </a:t>
            </a:r>
            <a:r>
              <a:rPr lang="en-US" dirty="0"/>
              <a:t>classification methods: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Logistic Regression</a:t>
            </a:r>
          </a:p>
          <a:p>
            <a:pPr lvl="1">
              <a:spcAft>
                <a:spcPts val="600"/>
              </a:spcAft>
            </a:pPr>
            <a:r>
              <a:rPr lang="en-US" dirty="0" err="1"/>
              <a:t>kNN</a:t>
            </a:r>
            <a:r>
              <a:rPr lang="en-US" dirty="0"/>
              <a:t> (k-nearest neighbors) 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SVM (support vector machine)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Decision trees / random forest </a:t>
            </a:r>
          </a:p>
          <a:p>
            <a:pPr>
              <a:spcAft>
                <a:spcPts val="600"/>
              </a:spcAft>
            </a:pPr>
            <a:r>
              <a:rPr lang="en-US" dirty="0"/>
              <a:t>Commonly used </a:t>
            </a:r>
            <a:r>
              <a:rPr lang="en-US" dirty="0">
                <a:solidFill>
                  <a:srgbClr val="00B0F0"/>
                </a:solidFill>
              </a:rPr>
              <a:t>unsupervised </a:t>
            </a:r>
            <a:r>
              <a:rPr lang="en-US" dirty="0"/>
              <a:t>classification methods: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K-means clustering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Hierarchical clustering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GMMs (gaussian mixture models)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00BF56-1E4A-5F2E-41AA-CC8B14E2E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Feature Aggregation, Clustering, and Classification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D425F2-A5D5-552E-3BBB-7BDEE3C38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1823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3ADD4-7C78-1337-74FB-1B6FA48C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F90D3-7643-75CF-C079-1D6113315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79997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Overall Approach:</a:t>
            </a:r>
          </a:p>
          <a:p>
            <a:r>
              <a:rPr lang="en-US" dirty="0"/>
              <a:t>Dataset with ground truth labels</a:t>
            </a:r>
          </a:p>
          <a:p>
            <a:r>
              <a:rPr lang="en-US" dirty="0"/>
              <a:t>Idea: </a:t>
            </a:r>
            <a:r>
              <a:rPr lang="en-US" i="1" dirty="0"/>
              <a:t>learn</a:t>
            </a:r>
            <a:r>
              <a:rPr lang="en-US" dirty="0"/>
              <a:t> from labeled examples to make predictions on new, unseen data.</a:t>
            </a:r>
          </a:p>
          <a:p>
            <a:r>
              <a:rPr lang="en-US" dirty="0"/>
              <a:t>Set gets randomly (or systematically) divided into:</a:t>
            </a:r>
          </a:p>
          <a:p>
            <a:pPr lvl="1"/>
            <a:r>
              <a:rPr lang="en-US" dirty="0"/>
              <a:t>Portion for </a:t>
            </a:r>
            <a:r>
              <a:rPr lang="en-US" dirty="0">
                <a:solidFill>
                  <a:srgbClr val="00B0F0"/>
                </a:solidFill>
              </a:rPr>
              <a:t>training </a:t>
            </a:r>
            <a:r>
              <a:rPr lang="en-US" dirty="0"/>
              <a:t>-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/>
              <a:t>fit the model (estimate the weights/parameters).</a:t>
            </a:r>
            <a:endParaRPr lang="en-US" dirty="0">
              <a:solidFill>
                <a:srgbClr val="00B0F0"/>
              </a:solidFill>
            </a:endParaRPr>
          </a:p>
          <a:p>
            <a:pPr lvl="1"/>
            <a:r>
              <a:rPr lang="en-US" dirty="0"/>
              <a:t>Portion for </a:t>
            </a:r>
            <a:r>
              <a:rPr lang="en-US" dirty="0">
                <a:solidFill>
                  <a:srgbClr val="00B0F0"/>
                </a:solidFill>
              </a:rPr>
              <a:t>validation </a:t>
            </a:r>
            <a:r>
              <a:rPr lang="en-US" dirty="0"/>
              <a:t>– “tune” (tweak) model parameters for performance</a:t>
            </a:r>
          </a:p>
          <a:p>
            <a:pPr lvl="1"/>
            <a:r>
              <a:rPr lang="en-US" dirty="0"/>
              <a:t>Portion for </a:t>
            </a:r>
            <a:r>
              <a:rPr lang="en-US" dirty="0">
                <a:solidFill>
                  <a:srgbClr val="00B0F0"/>
                </a:solidFill>
              </a:rPr>
              <a:t>testing </a:t>
            </a:r>
            <a:r>
              <a:rPr lang="en-US" dirty="0"/>
              <a:t>– test the model on unseen data to evaluate overall success on new (unseen) data (i.e., generalizability)</a:t>
            </a:r>
          </a:p>
          <a:p>
            <a:pPr lvl="2"/>
            <a:endParaRPr lang="en-US" sz="2800" dirty="0">
              <a:solidFill>
                <a:srgbClr val="00B0F0"/>
              </a:solidFill>
            </a:endParaRPr>
          </a:p>
          <a:p>
            <a:pPr lvl="2"/>
            <a:endParaRPr lang="en-US" sz="2400" dirty="0">
              <a:solidFill>
                <a:srgbClr val="00B0F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4D791-B60C-CEF0-CDBB-4A6034DE6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Feature Aggregation, Clustering, and Classification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27C14-0E25-6D44-419D-8401F41C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713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222E5-7FD7-8AE7-7069-55DE57799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Learning: </a:t>
            </a:r>
            <a:r>
              <a:rPr lang="en-US" dirty="0" err="1"/>
              <a:t>kNN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B99B5-334E-4E41-BC21-BCD6C6554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7273737" cy="4486275"/>
          </a:xfrm>
        </p:spPr>
        <p:txBody>
          <a:bodyPr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Edit: How does it work?</a:t>
            </a:r>
          </a:p>
          <a:p>
            <a:r>
              <a:rPr lang="en-US" dirty="0">
                <a:solidFill>
                  <a:schemeClr val="accent4"/>
                </a:solidFill>
              </a:rPr>
              <a:t>Vote-based system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Take unseen file (query) &amp; assign it the category of the majority </a:t>
            </a:r>
            <a:r>
              <a:rPr lang="en-US" i="1" dirty="0"/>
              <a:t>k</a:t>
            </a:r>
            <a:r>
              <a:rPr lang="en-US" dirty="0"/>
              <a:t> closest (neighboring) files. </a:t>
            </a:r>
            <a:r>
              <a:rPr lang="en-US" dirty="0">
                <a:solidFill>
                  <a:schemeClr val="accent4"/>
                </a:solidFill>
              </a:rPr>
              <a:t>Value of k </a:t>
            </a:r>
            <a:r>
              <a:rPr lang="en-US" dirty="0"/>
              <a:t>is a “hyperparameter”</a:t>
            </a:r>
          </a:p>
          <a:p>
            <a:r>
              <a:rPr lang="en-US" sz="2400" dirty="0"/>
              <a:t>2D plots (right) often shown for illustration, but computation </a:t>
            </a:r>
            <a:r>
              <a:rPr lang="en-US" sz="2400" dirty="0">
                <a:solidFill>
                  <a:schemeClr val="accent4"/>
                </a:solidFill>
              </a:rPr>
              <a:t>compares </a:t>
            </a:r>
            <a:r>
              <a:rPr lang="en-US" sz="2400" i="1" dirty="0">
                <a:solidFill>
                  <a:schemeClr val="accent4"/>
                </a:solidFill>
              </a:rPr>
              <a:t>entire</a:t>
            </a:r>
            <a:r>
              <a:rPr lang="en-US" sz="2400" dirty="0">
                <a:solidFill>
                  <a:schemeClr val="accent4"/>
                </a:solidFill>
              </a:rPr>
              <a:t> feature vector</a:t>
            </a:r>
            <a:r>
              <a:rPr lang="en-US" sz="2400" dirty="0"/>
              <a:t> (not one at a time) against each feature vector in training set.</a:t>
            </a:r>
          </a:p>
          <a:p>
            <a:r>
              <a:rPr lang="en-US" sz="2400" dirty="0">
                <a:solidFill>
                  <a:schemeClr val="accent4"/>
                </a:solidFill>
              </a:rPr>
              <a:t>Distance</a:t>
            </a:r>
            <a:r>
              <a:rPr lang="en-US" sz="2400" dirty="0"/>
              <a:t> (literally closer/ farther in feature space) </a:t>
            </a:r>
            <a:r>
              <a:rPr lang="en-US" sz="2400" dirty="0">
                <a:solidFill>
                  <a:schemeClr val="accent4"/>
                </a:solidFill>
              </a:rPr>
              <a:t>measure</a:t>
            </a:r>
            <a:r>
              <a:rPr lang="en-US" sz="2400" dirty="0"/>
              <a:t> is a “hyperparameter”</a:t>
            </a:r>
          </a:p>
          <a:p>
            <a:endParaRPr lang="en-US" sz="2400" dirty="0"/>
          </a:p>
          <a:p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BC4FFD-440E-A57B-7A97-BC013C158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Feature Aggregation, Clustering, and Classification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4F0DB0-6728-9300-CE83-C11892FB3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7" name="Picture 6" descr="A diagram of music speech query&#10;&#10;AI-generated content may be incorrect.">
            <a:extLst>
              <a:ext uri="{FF2B5EF4-FFF2-40B4-BE49-F238E27FC236}">
                <a16:creationId xmlns:a16="http://schemas.microsoft.com/office/drawing/2014/main" id="{6E059C49-9931-BC67-14FB-C0A21B9A0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937" y="2286000"/>
            <a:ext cx="4080063" cy="307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275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7210C-38B3-DC30-8014-A7A37516C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Instrument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D4396-077D-90D1-3518-74D42EB05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5625"/>
            <a:ext cx="10896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Goal: train a baseline classifier for instrument identification</a:t>
            </a:r>
          </a:p>
          <a:p>
            <a:pPr marL="0" indent="0">
              <a:buNone/>
            </a:pPr>
            <a:r>
              <a:rPr lang="en-US" dirty="0"/>
              <a:t>Data: micro </a:t>
            </a:r>
            <a:r>
              <a:rPr lang="en-US" dirty="0" err="1"/>
              <a:t>medleydb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Edit: </a:t>
            </a:r>
          </a:p>
          <a:p>
            <a:r>
              <a:rPr lang="en-US" sz="2400" dirty="0"/>
              <a:t>use scikit learn package</a:t>
            </a:r>
          </a:p>
          <a:p>
            <a:r>
              <a:rPr lang="en-US" sz="2000" dirty="0"/>
              <a:t>Optional: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train_test_split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sz="2400" dirty="0">
                <a:latin typeface="+mn-lt"/>
                <a:cs typeface="Consolas" panose="020B0609020204030204" pitchFamily="49" charset="0"/>
              </a:rPr>
              <a:t>Returns 4 values: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/>
              <a:t>features for training.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/>
              <a:t>features for validation/testing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/>
              <a:t>labels for training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/>
              <a:t>labels for validation/testing</a:t>
            </a:r>
          </a:p>
          <a:p>
            <a:pPr lvl="1"/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5D5F13-AF73-130F-024E-7CC19339B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Feature Aggregation, Clustering, and Classification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76F02B-076D-F0DE-4A10-AA4D0F884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A517AF-373D-5B22-FA08-EF69B611A974}"/>
              </a:ext>
            </a:extLst>
          </p:cNvPr>
          <p:cNvSpPr txBox="1"/>
          <p:nvPr/>
        </p:nvSpPr>
        <p:spPr>
          <a:xfrm>
            <a:off x="5359480" y="2341582"/>
            <a:ext cx="7010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sklearn.neighbors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KNeighborsClassifier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Initialize a classifier model</a:t>
            </a:r>
          </a:p>
          <a:p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knn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KNeighborsClassifier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n_neighbors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=3)</a:t>
            </a:r>
          </a:p>
          <a:p>
            <a:endParaRPr lang="en-US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split testing data for validation/optimization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i.e., first test on non-test data!</a:t>
            </a:r>
          </a:p>
          <a:p>
            <a:endParaRPr lang="en-US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"Training" step (stores training data internally)</a:t>
            </a:r>
          </a:p>
          <a:p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knn.fit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train_features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train_labels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US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Predict on test data</a:t>
            </a:r>
          </a:p>
          <a:p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y_pred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knn.predict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test_features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77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A0F6-934A-D5B5-5995-8A1DA61D0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 across fields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F68CD78-3644-CDE1-5F0D-C2B8A8DF6D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7517205"/>
              </p:ext>
            </p:extLst>
          </p:nvPr>
        </p:nvGraphicFramePr>
        <p:xfrm>
          <a:off x="838199" y="1708688"/>
          <a:ext cx="11095495" cy="42908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5145">
                  <a:extLst>
                    <a:ext uri="{9D8B030D-6E8A-4147-A177-3AD203B41FA5}">
                      <a16:colId xmlns:a16="http://schemas.microsoft.com/office/drawing/2014/main" val="2298964136"/>
                    </a:ext>
                  </a:extLst>
                </a:gridCol>
                <a:gridCol w="4520387">
                  <a:extLst>
                    <a:ext uri="{9D8B030D-6E8A-4147-A177-3AD203B41FA5}">
                      <a16:colId xmlns:a16="http://schemas.microsoft.com/office/drawing/2014/main" val="1945661144"/>
                    </a:ext>
                  </a:extLst>
                </a:gridCol>
                <a:gridCol w="4879963">
                  <a:extLst>
                    <a:ext uri="{9D8B030D-6E8A-4147-A177-3AD203B41FA5}">
                      <a16:colId xmlns:a16="http://schemas.microsoft.com/office/drawing/2014/main" val="1397396547"/>
                    </a:ext>
                  </a:extLst>
                </a:gridCol>
              </a:tblGrid>
              <a:tr h="3339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Concept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Inference Fields (Stats/Psych/Econ)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CS fields (i.e. ML)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434805"/>
                  </a:ext>
                </a:extLst>
              </a:tr>
              <a:tr h="3339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Predictor variables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 Independent variables (IVs)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 Features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091235"/>
                  </a:ext>
                </a:extLst>
              </a:tr>
              <a:tr h="3339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Outcome variable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 Dependent variable, response variable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 Target, label, ground truth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882644"/>
                  </a:ext>
                </a:extLst>
              </a:tr>
              <a:tr h="3339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Model coefficients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 Coefficients, slopes, betas (</a:t>
                      </a:r>
                      <a:r>
                        <a:rPr lang="el-GR" sz="1600" u="none" strike="noStrike" dirty="0">
                          <a:effectLst/>
                        </a:rPr>
                        <a:t>β)</a:t>
                      </a:r>
                      <a:endParaRPr lang="el-G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 Weights, parameters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561074"/>
                  </a:ext>
                </a:extLst>
              </a:tr>
              <a:tr h="3339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Intercept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 Constant, </a:t>
                      </a:r>
                      <a:r>
                        <a:rPr lang="el-GR" sz="1600" u="none" strike="noStrike" dirty="0">
                          <a:effectLst/>
                        </a:rPr>
                        <a:t>β₀</a:t>
                      </a:r>
                      <a:endParaRPr lang="el-G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 Bias term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015167"/>
                  </a:ext>
                </a:extLst>
              </a:tr>
              <a:tr h="3339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Error term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 Residuals, noise, </a:t>
                      </a:r>
                      <a:r>
                        <a:rPr lang="el-GR" sz="1600" u="none" strike="noStrike" dirty="0">
                          <a:effectLst/>
                        </a:rPr>
                        <a:t>ε</a:t>
                      </a:r>
                      <a:endParaRPr lang="el-G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 Loss, cost, objective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084179"/>
                  </a:ext>
                </a:extLst>
              </a:tr>
              <a:tr h="333997">
                <a:tc>
                  <a:txBody>
                    <a:bodyPr/>
                    <a:lstStyle/>
                    <a:p>
                      <a:pPr algn="l" fontAlgn="b">
                        <a:lnSpc>
                          <a:spcPct val="90000"/>
                        </a:lnSpc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Model fit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90000"/>
                        </a:lnSpc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 R², adjusted R², significance tests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90000"/>
                        </a:lnSpc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 Accuracy, F1 score, AUC, cross-validation performance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640341"/>
                  </a:ext>
                </a:extLst>
              </a:tr>
              <a:tr h="61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Estimation method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 Ordinary Least Squares (OLS), Maximum Likelihood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 Optimization, gradient descent, training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18403"/>
                  </a:ext>
                </a:extLst>
              </a:tr>
              <a:tr h="3339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Generalization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 External validity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 Test set performance, overfitting/underfitting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843450"/>
                  </a:ext>
                </a:extLst>
              </a:tr>
              <a:tr h="3339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Inference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 Hypothesis testing, p-values, confidence intervals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 Feature importance, weights, learned parameters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52671"/>
                  </a:ext>
                </a:extLst>
              </a:tr>
              <a:tr h="3339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Model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 Statistical model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 Algorithm, architecture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857287"/>
                  </a:ext>
                </a:extLst>
              </a:tr>
              <a:tr h="333997">
                <a:tc>
                  <a:txBody>
                    <a:bodyPr/>
                    <a:lstStyle/>
                    <a:p>
                      <a:pPr algn="l" fontAlgn="b">
                        <a:lnSpc>
                          <a:spcPct val="90000"/>
                        </a:lnSpc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Model choices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90000"/>
                        </a:lnSpc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 Model selection, tuning parameter(s)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90000"/>
                        </a:lnSpc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hyperparameters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633226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DA11CF-37AF-5CBC-57D5-2F9CB52AB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Feature Aggregation, Clustering, and Classification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A0BECA-F95B-43CE-3D4B-5EB6BA2C9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481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168D4764-6299-904E-9BC2-C5621F08687C}" vid="{21A8D2CE-1DF1-A74E-B9D2-43AE56886C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7933</TotalTime>
  <Words>1944</Words>
  <Application>Microsoft Macintosh PowerPoint</Application>
  <PresentationFormat>Widescreen</PresentationFormat>
  <Paragraphs>281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Aptos Display</vt:lpstr>
      <vt:lpstr>Aptos Narrow</vt:lpstr>
      <vt:lpstr>Arial</vt:lpstr>
      <vt:lpstr>Century Gothic</vt:lpstr>
      <vt:lpstr>Consolas</vt:lpstr>
      <vt:lpstr>Wingdings</vt:lpstr>
      <vt:lpstr>Office Theme</vt:lpstr>
      <vt:lpstr>  Computational Music Analysis:         Audio</vt:lpstr>
      <vt:lpstr>Feature Extraction for Multiple Features</vt:lpstr>
      <vt:lpstr>Pipeline</vt:lpstr>
      <vt:lpstr>Feature Aggregation</vt:lpstr>
      <vt:lpstr>Feature Normalization</vt:lpstr>
      <vt:lpstr>Feature Normalization</vt:lpstr>
      <vt:lpstr>Feature Normalization</vt:lpstr>
      <vt:lpstr>Feature Correlation</vt:lpstr>
      <vt:lpstr>Feature Correlation</vt:lpstr>
      <vt:lpstr>Feature Correlation</vt:lpstr>
      <vt:lpstr>Clustering</vt:lpstr>
      <vt:lpstr>Feature Visualization</vt:lpstr>
      <vt:lpstr>Feature Visualization</vt:lpstr>
      <vt:lpstr>Pause for Activity </vt:lpstr>
      <vt:lpstr>Clustering</vt:lpstr>
      <vt:lpstr>Basic Machine Learning: Overview</vt:lpstr>
      <vt:lpstr>Basic Machine Learning: Overview</vt:lpstr>
      <vt:lpstr>Supervised vs Unsupervised “Learning”</vt:lpstr>
      <vt:lpstr>Supervised vs Unsupervised “Learning”</vt:lpstr>
      <vt:lpstr>Supervised Learning</vt:lpstr>
      <vt:lpstr>Supervised Learning: kNN</vt:lpstr>
      <vt:lpstr>Basic Instrument Classifier</vt:lpstr>
      <vt:lpstr>Terminology across fields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Arthur, Claire</dc:creator>
  <cp:lastModifiedBy>Arthur, Claire</cp:lastModifiedBy>
  <cp:revision>1</cp:revision>
  <dcterms:created xsi:type="dcterms:W3CDTF">2025-09-19T15:47:58Z</dcterms:created>
  <dcterms:modified xsi:type="dcterms:W3CDTF">2025-09-25T04:01:12Z</dcterms:modified>
</cp:coreProperties>
</file>