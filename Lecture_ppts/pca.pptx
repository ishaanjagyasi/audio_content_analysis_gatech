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257" r:id="rId4"/>
    <p:sldId id="259" r:id="rId5"/>
    <p:sldId id="260" r:id="rId6"/>
    <p:sldId id="265" r:id="rId7"/>
    <p:sldId id="266" r:id="rId8"/>
    <p:sldId id="267" r:id="rId9"/>
    <p:sldId id="268" r:id="rId10"/>
    <p:sldId id="262" r:id="rId11"/>
    <p:sldId id="261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9507F7-EE68-6C41-9B5C-561B64F048D9}" v="48" dt="2025-09-30T04:26:50.1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4"/>
  </p:normalViewPr>
  <p:slideViewPr>
    <p:cSldViewPr snapToGrid="0">
      <p:cViewPr varScale="1">
        <p:scale>
          <a:sx n="102" d="100"/>
          <a:sy n="102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30T03:00:03.67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65,'81'0,"-8"0,-29 0,3 0,4 0,0 0,-1 0,-2 0,-4 0,1 0,-3 0,-1 0,-1 0,-3 0,-1 0,-6 0,-1 0,-2 0,1 0,1 0,0 0,1 0,0 0,0 0,3 0,6 0,3 0,4 0,1 0,-1 0,1 0,2 0,-1 0,-2 0,-2 0,-3 0,1 0,2 0,0 0,4 0,2-5,-1-1,6 0,3 1,6 5,9 0,2-3,0 0,-4 0,-8-2,-6 2,-6 0,-3 1,-5 2,-4 0,-1 0,1 0,4 0,4 0,1 0,1 0,1-2,2 0,4-1,-1-2,-7 1,-10 2,-10-1,-8 3,-5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209AB-CE13-044F-8E06-B2C9AA580BB2}" type="datetimeFigureOut">
              <a:rPr lang="en-US" smtClean="0"/>
              <a:t>9/28/25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FB911-8C40-0744-863F-098B7E0F5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93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CD73-A936-3525-D168-7736C3BC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10D98-56AC-2479-AACB-7073FDDA2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DF3B7-3A64-41E1-8594-FFD2907E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B12-1383-AD42-92AD-77DF7C3AFF50}" type="datetime1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61BBD-4401-485F-190D-A98E3BF6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AE45C-1BD0-2BD9-078C-EF7ABB5A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3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spectrum of equalizer&#10;&#10;Description automatically generated">
            <a:extLst>
              <a:ext uri="{FF2B5EF4-FFF2-40B4-BE49-F238E27FC236}">
                <a16:creationId xmlns:a16="http://schemas.microsoft.com/office/drawing/2014/main" id="{7737A7BC-A701-C931-78B0-710547DEA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t="4385" b="48947"/>
          <a:stretch/>
        </p:blipFill>
        <p:spPr>
          <a:xfrm>
            <a:off x="0" y="0"/>
            <a:ext cx="12192000" cy="164623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81A9918-6A8E-071E-1832-2B1BE0CB5515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00F202-A2B5-1F52-B239-EFF9F448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DDB86-D379-F460-FE0C-0E7815A50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6A0D3-3893-74C2-9FC4-AE58A8A1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76963"/>
            <a:ext cx="7010400" cy="68103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algn="l"/>
            <a:endParaRPr lang="en-US" dirty="0"/>
          </a:p>
          <a:p>
            <a:pPr algn="l"/>
            <a:r>
              <a:rPr lang="en-US" dirty="0"/>
              <a:t>Principal Components Analysis</a:t>
            </a:r>
          </a:p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4B2DC-3883-01BA-4B44-3C940F91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479" y="6279119"/>
            <a:ext cx="1020921" cy="442356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6A096487-9F84-9248-ABAD-35D09817155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black and white logo&#10;&#10;Description automatically generated">
            <a:extLst>
              <a:ext uri="{FF2B5EF4-FFF2-40B4-BE49-F238E27FC236}">
                <a16:creationId xmlns:a16="http://schemas.microsoft.com/office/drawing/2014/main" id="{1AEFDCCA-5818-25F6-C79D-B13258DB2C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784" y="6106002"/>
            <a:ext cx="2588895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284B-1505-059C-4E86-07470FF3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6643A-91BA-C205-AB5C-9D56A8998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716C-8BE7-4144-6640-E2469CFC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02F25-D426-C543-9B23-205D2299CECD}" type="datetime1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9F8DF-AAFD-A424-EC7B-281EAAD21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5A4B5-89A5-8CBC-3476-A4C57613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E8BB3-28A3-A7FC-B2CE-79FEAC78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0496-02E4-0845-BAD0-DDB3A1F9E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CC4EF-4ED9-A2CB-A367-3B5205894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E1ABE-7B07-90DD-30B9-616BE312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9AE0-DD93-284C-9C9F-51936DBCE396}" type="datetime1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7496C-916B-4D94-1656-B7239D33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00B8C-5FBF-978F-5CD6-D9988E25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8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8422-2E90-E698-F3A2-53287F84F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45A94-F9A9-EC9C-AB5C-DF1B14C94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06938-0A3E-50E1-DF08-A745EFF24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81DAD-9171-E93D-5F7D-F34851FCE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DC279B-A01E-F93C-71E9-0A42CC2D3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1DA52-7302-B5F8-3F44-11A8BC0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3AFD-D178-EE41-80F7-DC6EDDFDB254}" type="datetime1">
              <a:rPr lang="en-US" smtClean="0"/>
              <a:t>9/28/25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6ECA9-46C1-1831-B789-BF1F9741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8F16D8-0C07-732E-C0A9-3F3C37B15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0184-B174-6828-E23E-B03B4CEF6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9154B-F6A4-86EC-7FCE-E0618A17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60B4-C6F2-2746-AEAE-93CD670CBEEA}" type="datetime1">
              <a:rPr lang="en-US" smtClean="0"/>
              <a:t>9/28/25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8C3F6-1749-E4B2-64DE-84B3B35D7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A66B3-4ECA-C278-30AB-571D57D7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4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97711-2F89-5898-C20A-5FF8FCF6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F044-B807-1649-8A83-2DAF1C345290}" type="datetime1">
              <a:rPr lang="en-US" smtClean="0"/>
              <a:t>9/28/25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8DF91B-B0ED-8C83-B58E-8ACAFDEE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2AB8B-FD07-CC0B-6221-CA08F063A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6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52C1-78E6-E979-1D0C-2D9F6F1F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EC336-6F0C-056C-9588-21DBE72BE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CB36E-E619-E817-6BAC-AA1BB8AAF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451BE-61C8-6F6D-0F0F-00CFBF6A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10E8-FEC3-224C-BEC8-D2B494C4B665}" type="datetime1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33603-AE57-7A85-2C95-9D4DD502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C3055-F56A-4230-8427-F22E2620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0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AF2F2-8C7A-54DB-E738-440EE6029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8082D-C588-0A24-3B48-DBE339C95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A2C9B-7E14-CAAB-B99C-E907D6CD5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F2796-E8DA-A43E-85D0-49478141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F3156-90CC-C346-A118-874197777E80}" type="datetime1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66EA5-3707-C2FC-828E-19CAC30C3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F18BA-543F-0585-BD77-A6D1CB71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59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B4AAA-DDEE-931C-D5BD-BF2617106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19534-BF98-74C0-9009-7C9F7591F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085AF-DD00-8B1E-835A-B675164F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26CA-4F64-3446-A1E2-D20833F95A9C}" type="datetime1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58AC-AA8D-30FE-7162-B5B21D881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E5B78-4F8D-4D67-991F-37FD16E9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9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9D641-EE3D-8A52-801C-7D5B60B1B3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962E2-E03E-856E-8782-FEA095CBB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B5918-BEC0-4F6D-EE90-89DE996C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FEDB-3B76-0A4D-848C-0B586EEDAA33}" type="datetime1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BB72E-005F-53D0-B94E-0A947CC5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F72FB-9AEC-5A4F-6157-85584CB1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16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F7DE5-201F-F2C6-0C14-75F496734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CDAD3-AD4F-06B8-9148-92661282A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66133-D25A-B5EC-7530-BDA51BEBD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63B22-8BEB-9B48-8AD9-ED6DDFA1D91D}" type="datetime1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C4EE8-903A-E548-4A2D-F025F61F4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045F9-9087-2E0E-C9EC-58AA46F1D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7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gakZw6K1QQ?start=461&amp;feature=oembed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lorful spectrum of equalizer&#10;&#10;Description automatically generated">
            <a:extLst>
              <a:ext uri="{FF2B5EF4-FFF2-40B4-BE49-F238E27FC236}">
                <a16:creationId xmlns:a16="http://schemas.microsoft.com/office/drawing/2014/main" id="{18654B00-653E-11D2-07C9-93786F65F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05912"/>
            <a:ext cx="12192000" cy="28209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C16661-6C75-1D2A-5269-D4A880F41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090399" cy="1993113"/>
          </a:xfrm>
        </p:spPr>
        <p:txBody>
          <a:bodyPr/>
          <a:lstStyle/>
          <a:p>
            <a:pPr algn="l"/>
            <a:r>
              <a:rPr lang="en-US" dirty="0">
                <a:latin typeface="Century Gothic" panose="020B0502020202020204" pitchFamily="34" charset="0"/>
              </a:rPr>
              <a:t>  Computational Music Analysis:      </a:t>
            </a:r>
            <a:br>
              <a:rPr lang="en-US" dirty="0">
                <a:latin typeface="Century Gothic" panose="020B0502020202020204" pitchFamily="34" charset="0"/>
              </a:rPr>
            </a:br>
            <a:r>
              <a:rPr lang="en-US" dirty="0">
                <a:latin typeface="Century Gothic" panose="020B0502020202020204" pitchFamily="34" charset="0"/>
              </a:rPr>
              <a:t>  Audio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2C9D1-C445-DADC-1023-1FDAD6607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4209" y="1351971"/>
            <a:ext cx="9144000" cy="5395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entury Gothic" panose="020B0502020202020204" pitchFamily="34" charset="0"/>
              </a:rPr>
              <a:t>A.K.A. “Audio Content Analysis”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D9156-A9F0-C927-E33D-E700556DFC22}"/>
              </a:ext>
            </a:extLst>
          </p:cNvPr>
          <p:cNvSpPr txBox="1"/>
          <p:nvPr/>
        </p:nvSpPr>
        <p:spPr>
          <a:xfrm>
            <a:off x="326720" y="5742252"/>
            <a:ext cx="81419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Century Gothic" panose="020B0502020202020204" pitchFamily="34" charset="0"/>
              </a:rPr>
              <a:t>Claire Arthur</a:t>
            </a:r>
          </a:p>
          <a:p>
            <a:r>
              <a:rPr lang="en-US" sz="2800" dirty="0">
                <a:solidFill>
                  <a:srgbClr val="002060"/>
                </a:solidFill>
                <a:latin typeface="Century Gothic" panose="020B0502020202020204" pitchFamily="34" charset="0"/>
              </a:rPr>
              <a:t>Noel </a:t>
            </a:r>
            <a:r>
              <a:rPr lang="en-US" sz="28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Albën</a:t>
            </a:r>
            <a:endParaRPr lang="en-US" sz="2800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 descr="A logo on a black background&#10;&#10;Description automatically generated">
            <a:extLst>
              <a:ext uri="{FF2B5EF4-FFF2-40B4-BE49-F238E27FC236}">
                <a16:creationId xmlns:a16="http://schemas.microsoft.com/office/drawing/2014/main" id="{C08F9358-A231-F7BB-9BEB-4ECB615E5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176" y="5742252"/>
            <a:ext cx="3168824" cy="10073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4F8731-5FB0-751B-5AB2-6FF696F33B69}"/>
              </a:ext>
            </a:extLst>
          </p:cNvPr>
          <p:cNvSpPr txBox="1"/>
          <p:nvPr/>
        </p:nvSpPr>
        <p:spPr>
          <a:xfrm>
            <a:off x="377521" y="2222278"/>
            <a:ext cx="571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4.2  Principal Components Analysis</a:t>
            </a:r>
          </a:p>
        </p:txBody>
      </p:sp>
    </p:spTree>
    <p:extLst>
      <p:ext uri="{BB962C8B-B14F-4D97-AF65-F5344CB8AC3E}">
        <p14:creationId xmlns:p14="http://schemas.microsoft.com/office/powerpoint/2010/main" val="122948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5CE23-823A-DC0F-47FC-1532BBB40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PCA?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5D824-47DB-3A1D-EA5F-3B72FFC98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9321"/>
            <a:ext cx="10515600" cy="37594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Principal Components Analysis (PCA) </a:t>
            </a:r>
            <a:r>
              <a:rPr lang="en-US" dirty="0"/>
              <a:t>is a “dimensionality reduction” tool (i.e. collapses features)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finds patterns/relationships in your data by identifying which ‘directions’ (combinations of features) produce the greatest </a:t>
            </a:r>
            <a:r>
              <a:rPr lang="en-US" dirty="0">
                <a:solidFill>
                  <a:schemeClr val="accent4"/>
                </a:solidFill>
              </a:rPr>
              <a:t>variation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PCA can “de noise” and simplify your data, especially if original features were somewhat redundant.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25AFB-45C0-AF0D-620D-7E29E7B1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  <a:p>
            <a:pPr algn="l"/>
            <a:r>
              <a:rPr lang="en-US"/>
              <a:t>Principal Components Analysis</a:t>
            </a:r>
          </a:p>
          <a:p>
            <a:pPr algn="l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E389-E222-88F0-8022-37932354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29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58BA4-5254-6A4D-D484-FFCD35D1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0BE87B-0373-C75A-0E73-EC45A34628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Preserves variance, not necessarily meaningful structure</a:t>
                </a:r>
              </a:p>
              <a:p>
                <a:r>
                  <a:rPr lang="en-US" dirty="0"/>
                  <a:t>Variance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 perceptual salience</a:t>
                </a:r>
              </a:p>
              <a:p>
                <a:r>
                  <a:rPr lang="en-US" dirty="0"/>
                  <a:t>Once data is “collapsed” into a smaller number of variables (“principal components” or PCs) it is harder to interpret their meaning:</a:t>
                </a:r>
              </a:p>
              <a:p>
                <a:r>
                  <a:rPr lang="en-US" dirty="0"/>
                  <a:t>Each PC is a linear combination of original features</a:t>
                </a:r>
              </a:p>
              <a:p>
                <a:pPr lvl="1"/>
                <a:r>
                  <a:rPr lang="en-US" dirty="0"/>
                  <a:t>It </a:t>
                </a:r>
                <a:r>
                  <a:rPr lang="en-US" i="1" dirty="0"/>
                  <a:t>is </a:t>
                </a:r>
                <a:r>
                  <a:rPr lang="en-US" dirty="0"/>
                  <a:t>possible to inspect these combinations to glean </a:t>
                </a:r>
                <a:r>
                  <a:rPr lang="en-US" dirty="0" err="1"/>
                  <a:t>meanin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0BE87B-0373-C75A-0E73-EC45A3462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55B3F-06BE-F84B-5FA9-19D35B25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B103F-FD11-D619-8210-2F8299FD0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Principal Components Analysis</a:t>
            </a:r>
          </a:p>
        </p:txBody>
      </p:sp>
    </p:spTree>
    <p:extLst>
      <p:ext uri="{BB962C8B-B14F-4D97-AF65-F5344CB8AC3E}">
        <p14:creationId xmlns:p14="http://schemas.microsoft.com/office/powerpoint/2010/main" val="744684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16416-EE53-580C-E2DE-73AEC7A1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do PCA?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B5FE5-247D-51E8-8C36-B0BC869C8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 to pipeline…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96CB2-35BB-FDB4-E725-37C864BD8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  <a:p>
            <a:pPr algn="l"/>
            <a:r>
              <a:rPr lang="en-US"/>
              <a:t>Principal Components Analysis</a:t>
            </a:r>
          </a:p>
          <a:p>
            <a:pPr algn="l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71A7B-02C8-C8D8-700C-2367A1650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160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F55A2-242F-3560-3517-BF37E05F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E79593-0DFE-0B9B-9372-132F211A2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Feature Aggregation, Clustering, and Classification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D6365-6FD7-9E80-ED01-757F4201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9444210-EE8C-B3D2-6B2E-F07D5E5A5620}"/>
              </a:ext>
            </a:extLst>
          </p:cNvPr>
          <p:cNvSpPr/>
          <p:nvPr/>
        </p:nvSpPr>
        <p:spPr>
          <a:xfrm>
            <a:off x="1680028" y="1690688"/>
            <a:ext cx="1879948" cy="839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Audio input &amp; Preprocessing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D1A1FFA-C68F-3DDA-B304-4CB8F43B86DE}"/>
              </a:ext>
            </a:extLst>
          </p:cNvPr>
          <p:cNvSpPr/>
          <p:nvPr/>
        </p:nvSpPr>
        <p:spPr>
          <a:xfrm>
            <a:off x="5185228" y="1690688"/>
            <a:ext cx="1879948" cy="839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 Calculation &amp; Aggregation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FE9A53B-95C5-25C9-FC66-382DBF8A6D4A}"/>
              </a:ext>
            </a:extLst>
          </p:cNvPr>
          <p:cNvSpPr/>
          <p:nvPr/>
        </p:nvSpPr>
        <p:spPr>
          <a:xfrm>
            <a:off x="8690428" y="1690688"/>
            <a:ext cx="1879948" cy="839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Visualization / Analysis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7F4CC667-1DFC-8A0B-F2C2-CE19FE8AF96D}"/>
              </a:ext>
            </a:extLst>
          </p:cNvPr>
          <p:cNvSpPr/>
          <p:nvPr/>
        </p:nvSpPr>
        <p:spPr>
          <a:xfrm>
            <a:off x="3973335" y="1979112"/>
            <a:ext cx="826718" cy="2505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FDCEA673-B162-4E0E-332D-D9FF1A27F64F}"/>
              </a:ext>
            </a:extLst>
          </p:cNvPr>
          <p:cNvSpPr/>
          <p:nvPr/>
        </p:nvSpPr>
        <p:spPr>
          <a:xfrm>
            <a:off x="7464443" y="1979112"/>
            <a:ext cx="826718" cy="2505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AB7EF9D-A880-C20B-19C7-945E606F734A}"/>
              </a:ext>
            </a:extLst>
          </p:cNvPr>
          <p:cNvSpPr/>
          <p:nvPr/>
        </p:nvSpPr>
        <p:spPr>
          <a:xfrm>
            <a:off x="1349827" y="2612574"/>
            <a:ext cx="2512860" cy="3564389"/>
          </a:xfrm>
          <a:prstGeom prst="roundRect">
            <a:avLst/>
          </a:prstGeom>
          <a:solidFill>
            <a:srgbClr val="117E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Audio File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Stereo to Mono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Normalize amplitude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Resample to consistent SR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[ Silence / Noise trimming ]</a:t>
            </a:r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B95E07C5-623A-1FD8-BA5C-6D0D8918146F}"/>
              </a:ext>
            </a:extLst>
          </p:cNvPr>
          <p:cNvSpPr/>
          <p:nvPr/>
        </p:nvSpPr>
        <p:spPr>
          <a:xfrm>
            <a:off x="2463799" y="3186323"/>
            <a:ext cx="313673" cy="26067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34CCBF7-3EF7-860C-68E4-FF3C4048CD4D}"/>
              </a:ext>
            </a:extLst>
          </p:cNvPr>
          <p:cNvSpPr/>
          <p:nvPr/>
        </p:nvSpPr>
        <p:spPr>
          <a:xfrm>
            <a:off x="4674791" y="2612574"/>
            <a:ext cx="3093929" cy="3564389"/>
          </a:xfrm>
          <a:prstGeom prst="roundRect">
            <a:avLst/>
          </a:prstGeom>
          <a:solidFill>
            <a:srgbClr val="117E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Audio array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Audio blocking / STFT [windowing / FFT size]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Features: 1   2    3 …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Per-feature normalization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Aggregate (over time)</a:t>
            </a:r>
          </a:p>
          <a:p>
            <a:pPr algn="ctr"/>
            <a:r>
              <a:rPr lang="en-US" dirty="0"/>
              <a:t> </a:t>
            </a:r>
          </a:p>
          <a:p>
            <a:pPr algn="ctr"/>
            <a:r>
              <a:rPr lang="en-US" dirty="0"/>
              <a:t>Normalize each feature dimension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5BE616F-5C07-B594-02D1-7A79CD1C4583}"/>
              </a:ext>
            </a:extLst>
          </p:cNvPr>
          <p:cNvCxnSpPr>
            <a:cxnSpLocks/>
          </p:cNvCxnSpPr>
          <p:nvPr/>
        </p:nvCxnSpPr>
        <p:spPr>
          <a:xfrm>
            <a:off x="6268893" y="3716094"/>
            <a:ext cx="0" cy="271406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73127F4-B1A8-3F05-177D-832AB23EB754}"/>
              </a:ext>
            </a:extLst>
          </p:cNvPr>
          <p:cNvCxnSpPr>
            <a:cxnSpLocks/>
          </p:cNvCxnSpPr>
          <p:nvPr/>
        </p:nvCxnSpPr>
        <p:spPr>
          <a:xfrm>
            <a:off x="6268893" y="3716094"/>
            <a:ext cx="252024" cy="257927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own Arrow 32">
            <a:extLst>
              <a:ext uri="{FF2B5EF4-FFF2-40B4-BE49-F238E27FC236}">
                <a16:creationId xmlns:a16="http://schemas.microsoft.com/office/drawing/2014/main" id="{F1EAE90D-D2F8-4C3B-5F59-FE03D4E87953}"/>
              </a:ext>
            </a:extLst>
          </p:cNvPr>
          <p:cNvSpPr/>
          <p:nvPr/>
        </p:nvSpPr>
        <p:spPr>
          <a:xfrm>
            <a:off x="2456541" y="3716094"/>
            <a:ext cx="313673" cy="26067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own Arrow 33">
            <a:extLst>
              <a:ext uri="{FF2B5EF4-FFF2-40B4-BE49-F238E27FC236}">
                <a16:creationId xmlns:a16="http://schemas.microsoft.com/office/drawing/2014/main" id="{38FC8BCE-4D2F-83D3-6FDB-CACA4D28977F}"/>
              </a:ext>
            </a:extLst>
          </p:cNvPr>
          <p:cNvSpPr/>
          <p:nvPr/>
        </p:nvSpPr>
        <p:spPr>
          <a:xfrm>
            <a:off x="2449286" y="4274891"/>
            <a:ext cx="313673" cy="26067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>
            <a:extLst>
              <a:ext uri="{FF2B5EF4-FFF2-40B4-BE49-F238E27FC236}">
                <a16:creationId xmlns:a16="http://schemas.microsoft.com/office/drawing/2014/main" id="{3AED627D-EA6B-5B36-85F8-9E3DC6D7EE5A}"/>
              </a:ext>
            </a:extLst>
          </p:cNvPr>
          <p:cNvSpPr/>
          <p:nvPr/>
        </p:nvSpPr>
        <p:spPr>
          <a:xfrm>
            <a:off x="2442028" y="5109461"/>
            <a:ext cx="313673" cy="26067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CD3D47AB-BB3B-074A-AF2E-841BA5185CE0}"/>
              </a:ext>
            </a:extLst>
          </p:cNvPr>
          <p:cNvSpPr/>
          <p:nvPr/>
        </p:nvSpPr>
        <p:spPr>
          <a:xfrm>
            <a:off x="6034315" y="5377973"/>
            <a:ext cx="313673" cy="26067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>
            <a:extLst>
              <a:ext uri="{FF2B5EF4-FFF2-40B4-BE49-F238E27FC236}">
                <a16:creationId xmlns:a16="http://schemas.microsoft.com/office/drawing/2014/main" id="{5EF83275-F7A8-5F85-7F9E-B52631BC635D}"/>
              </a:ext>
            </a:extLst>
          </p:cNvPr>
          <p:cNvSpPr/>
          <p:nvPr/>
        </p:nvSpPr>
        <p:spPr>
          <a:xfrm>
            <a:off x="6041573" y="4819176"/>
            <a:ext cx="313673" cy="26067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Down Arrow 37">
            <a:extLst>
              <a:ext uri="{FF2B5EF4-FFF2-40B4-BE49-F238E27FC236}">
                <a16:creationId xmlns:a16="http://schemas.microsoft.com/office/drawing/2014/main" id="{8E75BFDE-F4E1-FB08-8DD5-023E8AA7B0E6}"/>
              </a:ext>
            </a:extLst>
          </p:cNvPr>
          <p:cNvSpPr/>
          <p:nvPr/>
        </p:nvSpPr>
        <p:spPr>
          <a:xfrm>
            <a:off x="6048833" y="4274890"/>
            <a:ext cx="313673" cy="26067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Down Arrow 38">
            <a:extLst>
              <a:ext uri="{FF2B5EF4-FFF2-40B4-BE49-F238E27FC236}">
                <a16:creationId xmlns:a16="http://schemas.microsoft.com/office/drawing/2014/main" id="{0EFB37A0-F825-7482-8B41-27710E24B10C}"/>
              </a:ext>
            </a:extLst>
          </p:cNvPr>
          <p:cNvSpPr/>
          <p:nvPr/>
        </p:nvSpPr>
        <p:spPr>
          <a:xfrm>
            <a:off x="6027065" y="2903292"/>
            <a:ext cx="313673" cy="26067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17CD2F8-BE4D-83BB-18BF-131ECB4774BA}"/>
              </a:ext>
            </a:extLst>
          </p:cNvPr>
          <p:cNvCxnSpPr>
            <a:cxnSpLocks/>
          </p:cNvCxnSpPr>
          <p:nvPr/>
        </p:nvCxnSpPr>
        <p:spPr>
          <a:xfrm>
            <a:off x="6268892" y="3698703"/>
            <a:ext cx="596705" cy="235122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369581E9-7CD5-E89F-EB80-4D1FC4E55283}"/>
              </a:ext>
            </a:extLst>
          </p:cNvPr>
          <p:cNvSpPr/>
          <p:nvPr/>
        </p:nvSpPr>
        <p:spPr>
          <a:xfrm>
            <a:off x="8496250" y="2612573"/>
            <a:ext cx="2293307" cy="3564389"/>
          </a:xfrm>
          <a:prstGeom prst="roundRect">
            <a:avLst/>
          </a:prstGeom>
          <a:solidFill>
            <a:srgbClr val="117E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Relation/</a:t>
            </a:r>
          </a:p>
          <a:p>
            <a:pPr algn="ctr"/>
            <a:r>
              <a:rPr lang="en-US" dirty="0"/>
              <a:t>independence between features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[ Clustering/ dimensionality reduction ]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Classification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2061D-BDF3-598E-84F7-F898CBE48C1A}"/>
              </a:ext>
            </a:extLst>
          </p:cNvPr>
          <p:cNvSpPr/>
          <p:nvPr/>
        </p:nvSpPr>
        <p:spPr>
          <a:xfrm>
            <a:off x="8532237" y="4032992"/>
            <a:ext cx="2257320" cy="1206806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19CFF6-64B3-48E1-EC8A-596987535692}"/>
              </a:ext>
            </a:extLst>
          </p:cNvPr>
          <p:cNvSpPr txBox="1"/>
          <p:nvPr/>
        </p:nvSpPr>
        <p:spPr>
          <a:xfrm>
            <a:off x="4818694" y="4949513"/>
            <a:ext cx="413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Aptos Mono" panose="020F0502020204030204" pitchFamily="34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CEC812-CCFD-0563-55FE-98594AB6BC9E}"/>
              </a:ext>
            </a:extLst>
          </p:cNvPr>
          <p:cNvSpPr txBox="1"/>
          <p:nvPr/>
        </p:nvSpPr>
        <p:spPr>
          <a:xfrm>
            <a:off x="7227842" y="4959599"/>
            <a:ext cx="413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Aptos Mono" panose="020F0502020204030204" pitchFamily="34" charset="0"/>
                <a:cs typeface="Consolas" panose="020B0609020204030204" pitchFamily="49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306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3A25A-CF9B-5F80-4794-BB182D599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8B8F2-B249-0673-3EA3-B608F475F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Related to correlation but not the same thing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Correlation is a normalized version of covariance: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(Dividing by product of standard deviations scales from -1 to 1)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46535B-78BA-8AED-8502-EC9214FE6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  <a:p>
            <a:pPr algn="l"/>
            <a:r>
              <a:rPr lang="en-US"/>
              <a:t>Principal Components Analysis</a:t>
            </a:r>
          </a:p>
          <a:p>
            <a:pPr algn="l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C4854-FC52-EE44-0911-E6EEBD96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64799B7E-6FD6-FBDD-C382-A5F7AE60C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2286000"/>
            <a:ext cx="4762500" cy="1143000"/>
          </a:xfrm>
          <a:prstGeom prst="rect">
            <a:avLst/>
          </a:prstGeom>
        </p:spPr>
      </p:pic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C4460B6-FF3A-DBD5-AE94-0743F982B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009" y="3943351"/>
            <a:ext cx="3632200" cy="990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3108629-8D0B-92A5-ACCC-036F88492449}"/>
                  </a:ext>
                </a:extLst>
              </p14:cNvPr>
              <p14:cNvContentPartPr/>
              <p14:nvPr/>
            </p14:nvContentPartPr>
            <p14:xfrm>
              <a:off x="6277675" y="4261507"/>
              <a:ext cx="1150920" cy="23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3108629-8D0B-92A5-ACCC-036F884924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88035" y="4081507"/>
                <a:ext cx="1330560" cy="38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676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A6603-90AA-58AE-2BF4-D6ED26C2D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Covariance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B7332-9C9C-ADF4-645E-6B6663FC5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8541"/>
            <a:ext cx="10515600" cy="4351338"/>
          </a:xfrm>
        </p:spPr>
        <p:txBody>
          <a:bodyPr/>
          <a:lstStyle/>
          <a:p>
            <a:r>
              <a:rPr lang="en-US" dirty="0"/>
              <a:t>A covariance matrix tells us about the relation between our variables</a:t>
            </a:r>
          </a:p>
          <a:p>
            <a:r>
              <a:rPr lang="en-US" dirty="0"/>
              <a:t>For three aggregated features (e.g., MFCC1, Flux, ZCR) over </a:t>
            </a:r>
            <a:r>
              <a:rPr lang="en-US" i="1" dirty="0"/>
              <a:t>N</a:t>
            </a:r>
            <a:r>
              <a:rPr lang="en-US" dirty="0"/>
              <a:t> files, our covariance matrix outputs a table showing: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Diagonal entries = variance within feature</a:t>
            </a:r>
          </a:p>
          <a:p>
            <a:r>
              <a:rPr lang="en-US" dirty="0"/>
              <a:t>Off-diagonal = covariance between feature pairs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714C5-9181-7E3D-A5AB-814E2E988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  <a:p>
            <a:pPr algn="l"/>
            <a:r>
              <a:rPr lang="en-US"/>
              <a:t>Principal Components Analysis</a:t>
            </a:r>
          </a:p>
          <a:p>
            <a:pPr algn="l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5EDFB-2135-3F68-8242-497B7F49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7E41F1A-6AC9-E35F-F62C-DB7BA905D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729" y="3533070"/>
            <a:ext cx="9544542" cy="156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254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D7E8-019E-47F7-B5AA-39C9FAF61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video explanation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483DE1-3488-303E-CCE3-60388B5A7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  <a:p>
            <a:pPr algn="l"/>
            <a:r>
              <a:rPr lang="en-US"/>
              <a:t>Principal Components Analysis</a:t>
            </a:r>
          </a:p>
          <a:p>
            <a:pPr algn="l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70843-B48B-D0BA-A84B-960CF3BF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2" name="Online Media 11" descr="StatQuest: Principal Component Analysis (PCA), Step-by-Step">
            <a:extLst>
              <a:ext uri="{FF2B5EF4-FFF2-40B4-BE49-F238E27FC236}">
                <a16:creationId xmlns:a16="http://schemas.microsoft.com/office/drawing/2014/main" id="{9B95B97D-3982-6C1D-10F8-C058FFA4F6F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rcRect/>
          <a:stretch>
            <a:fillRect/>
          </a:stretch>
        </p:blipFill>
        <p:spPr>
          <a:xfrm>
            <a:off x="2246313" y="1662787"/>
            <a:ext cx="770096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2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9557F-1DD5-FCCA-8BBD-99A4B675B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A584C-0875-B052-58EC-BAF77218C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Given full vector of normalized features, </a:t>
            </a:r>
            <a:r>
              <a:rPr lang="en-US" dirty="0">
                <a:solidFill>
                  <a:schemeClr val="accent4"/>
                </a:solidFill>
              </a:rPr>
              <a:t>find axis that maximizes variance </a:t>
            </a:r>
            <a:r>
              <a:rPr lang="en-US" dirty="0"/>
              <a:t>between data points (line that allows data points to be the most “spread out”).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Averaged sum of squared distances from data points to mean = eigenvalue for that PC.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Slope (direction) of vector can be converted to a coordinate (e.g., 2x, 1y) and “amounts” of each variable are scaled such that the eigenvector has unit length = 1. (These “amounts” </a:t>
            </a:r>
            <a:r>
              <a:rPr lang="en-US" i="1" dirty="0"/>
              <a:t>are</a:t>
            </a:r>
            <a:r>
              <a:rPr lang="en-US" dirty="0"/>
              <a:t> the coefficients/weights/factor loadings and make up the eigenvector.)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Continue process for additional PCs such that:</a:t>
            </a:r>
          </a:p>
          <a:p>
            <a:pPr lvl="1"/>
            <a:r>
              <a:rPr lang="en-US" dirty="0"/>
              <a:t>The next PC is chosen to maximize remaining variance (with constraint that must be orthogonal to the previous PCs and pass through origin)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BC823-B45A-E557-FE19-8F91401C5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  <a:p>
            <a:pPr algn="l"/>
            <a:r>
              <a:rPr lang="en-US"/>
              <a:t>Principal Components Analysis</a:t>
            </a:r>
          </a:p>
          <a:p>
            <a:pPr algn="l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ED06DA-6846-4C41-BE77-CEA4CED37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903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91225-9BC3-C4EC-C794-21B546913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3A5C6-CB63-6998-81CA-F7E5EE093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5417"/>
            <a:ext cx="1051560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Input: All normalized (z-scored) features you want to reduce to N dimensions (rows = files, columns = features).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[Optional sanity check: compute covariance matrix. (Reveals how features co-vary)]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eigenvectors &amp; eigenvalues:</a:t>
            </a:r>
          </a:p>
          <a:p>
            <a:pPr lvl="1"/>
            <a:r>
              <a:rPr lang="en-US" dirty="0"/>
              <a:t>Eigenvectors: directions of maximum variance</a:t>
            </a:r>
          </a:p>
          <a:p>
            <a:pPr lvl="1"/>
            <a:r>
              <a:rPr lang="en-US" dirty="0"/>
              <a:t>Eigenvalues: amount of variance explained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Rank eigenvectors by descending eigenvalues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top </a:t>
            </a:r>
            <a:r>
              <a:rPr lang="en-US" i="1" dirty="0"/>
              <a:t>k</a:t>
            </a:r>
            <a:r>
              <a:rPr lang="en-US" dirty="0"/>
              <a:t> eigenvectors: defines the reduced feature space (with usually </a:t>
            </a:r>
            <a:r>
              <a:rPr lang="en-US" i="1" dirty="0"/>
              <a:t>some </a:t>
            </a:r>
            <a:r>
              <a:rPr lang="en-US" dirty="0"/>
              <a:t>loss of overall variance explained).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0DAFD-E424-D67D-E748-D0564DCCD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  <a:p>
            <a:pPr algn="l"/>
            <a:r>
              <a:rPr lang="en-US"/>
              <a:t>Principal Components Analysis</a:t>
            </a:r>
          </a:p>
          <a:p>
            <a:pPr algn="l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F2FA3F-CBAA-683C-932F-2441FF1F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714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A6403-E44C-0C9B-BCCD-3769C756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B0D4E-99D8-833D-2373-2ECE331B7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2788"/>
            <a:ext cx="10648167" cy="466725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4"/>
                </a:solidFill>
              </a:rPr>
              <a:t>Eigenvector </a:t>
            </a:r>
            <a:r>
              <a:rPr lang="en-US" dirty="0"/>
              <a:t>– a direction (vector of unit length) in feature space (defines a PC axis)</a:t>
            </a:r>
          </a:p>
          <a:p>
            <a:r>
              <a:rPr lang="en-US" dirty="0">
                <a:solidFill>
                  <a:schemeClr val="accent4"/>
                </a:solidFill>
              </a:rPr>
              <a:t>Eigenvalues</a:t>
            </a:r>
            <a:r>
              <a:rPr lang="en-US" dirty="0"/>
              <a:t> – a measure of avg data spread along its eigenvectors (</a:t>
            </a:r>
            <a:r>
              <a:rPr lang="en-US" dirty="0" err="1"/>
              <a:t>s.s.</a:t>
            </a:r>
            <a:r>
              <a:rPr lang="en-US" dirty="0"/>
              <a:t> distances: larger = more variance explained.) </a:t>
            </a:r>
          </a:p>
          <a:p>
            <a:r>
              <a:rPr lang="en-US" sz="2100" dirty="0"/>
              <a:t>[Singular values – </a:t>
            </a:r>
            <a:r>
              <a:rPr lang="en-US" sz="2100" dirty="0" err="1"/>
              <a:t>sq.root</a:t>
            </a:r>
            <a:r>
              <a:rPr lang="en-US" sz="2100" dirty="0"/>
              <a:t> of eigenvalues (representation of eigenvalue / variance explained)]</a:t>
            </a:r>
          </a:p>
          <a:p>
            <a:r>
              <a:rPr lang="en-US" sz="2100" dirty="0"/>
              <a:t>[Singular value decomposition (SVD) – method for computing the PCA basis (components)]</a:t>
            </a:r>
          </a:p>
          <a:p>
            <a:r>
              <a:rPr lang="en-US" dirty="0">
                <a:solidFill>
                  <a:schemeClr val="accent4"/>
                </a:solidFill>
              </a:rPr>
              <a:t>Principal Component</a:t>
            </a:r>
            <a:r>
              <a:rPr lang="en-US" dirty="0"/>
              <a:t> – axis formed as linear combination of the original features, </a:t>
            </a:r>
            <a:r>
              <a:rPr lang="en-US" i="1" dirty="0"/>
              <a:t>ordered by variance explained </a:t>
            </a:r>
            <a:r>
              <a:rPr lang="en-US" dirty="0"/>
              <a:t>(PC1 = most variance)</a:t>
            </a:r>
          </a:p>
          <a:p>
            <a:r>
              <a:rPr lang="en-US" dirty="0">
                <a:solidFill>
                  <a:schemeClr val="accent4"/>
                </a:solidFill>
              </a:rPr>
              <a:t>Loadings</a:t>
            </a:r>
            <a:r>
              <a:rPr lang="en-US" dirty="0"/>
              <a:t> – the amount of each variable that is weighting a given component (i.e., </a:t>
            </a:r>
            <a:r>
              <a:rPr lang="en-US" i="1" dirty="0">
                <a:solidFill>
                  <a:schemeClr val="accent4"/>
                </a:solidFill>
              </a:rPr>
              <a:t>coefficients/weights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/>
              <a:t>in your linear combination of features that define each principal component)</a:t>
            </a:r>
          </a:p>
          <a:p>
            <a:r>
              <a:rPr lang="en-US" dirty="0">
                <a:solidFill>
                  <a:schemeClr val="accent4"/>
                </a:solidFill>
              </a:rPr>
              <a:t>Scores</a:t>
            </a:r>
            <a:r>
              <a:rPr lang="en-US" dirty="0"/>
              <a:t> – the coordinates of each observation (file) when projected into the final PC space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476B9-AEFB-C313-5213-C79F112BE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  <a:p>
            <a:pPr algn="l"/>
            <a:r>
              <a:rPr lang="en-US" dirty="0"/>
              <a:t>Principal Components Analysis</a:t>
            </a:r>
          </a:p>
          <a:p>
            <a:pPr algn="l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5DCB81-7031-62DD-7D40-8F7BBAEFF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5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3E44B-3F8A-2603-9E45-2FC7EAB06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Playalong</a:t>
            </a:r>
            <a:r>
              <a:rPr lang="en-US" dirty="0"/>
              <a:t>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C3862-4DB0-21A4-0C20-8EA06BD30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36058" cy="4351338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Copy and paste the code snippet from Canvas representing aggregated &amp; normalized features for 6 songs into your IDE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Plot the raw features in 3 dimensions using </a:t>
            </a:r>
            <a:r>
              <a:rPr lang="en-US" dirty="0" err="1"/>
              <a:t>seaborn’s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scatterplot() </a:t>
            </a:r>
            <a:r>
              <a:rPr lang="en-US" dirty="0"/>
              <a:t>function:</a:t>
            </a:r>
          </a:p>
          <a:p>
            <a:pPr lvl="1"/>
            <a:r>
              <a:rPr lang="en-US" dirty="0"/>
              <a:t>First </a:t>
            </a:r>
            <a:r>
              <a:rPr lang="en-US" dirty="0" err="1"/>
              <a:t>arg</a:t>
            </a:r>
            <a:r>
              <a:rPr lang="en-US" dirty="0"/>
              <a:t> is the data (full </a:t>
            </a:r>
            <a:r>
              <a:rPr lang="en-US" dirty="0" err="1"/>
              <a:t>pd.DataFrame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Pass one feature (column) as ‘x’, one as ‘y’, and one to the ‘size’ or ‘hue’ variable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Normalize (Z-score) &amp; re-plot features (z-score the matrix; convert to </a:t>
            </a:r>
            <a:r>
              <a:rPr lang="en-US" dirty="0" err="1"/>
              <a:t>DataFrame</a:t>
            </a:r>
            <a:r>
              <a:rPr lang="en-US" dirty="0"/>
              <a:t> again).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Compute (and save) covariance matrix using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np.cov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(data)</a:t>
            </a:r>
          </a:p>
          <a:p>
            <a:pPr lvl="1"/>
            <a:r>
              <a:rPr lang="en-US" dirty="0"/>
              <a:t>Include </a:t>
            </a:r>
            <a:r>
              <a:rPr lang="en-US" dirty="0" err="1"/>
              <a:t>arg</a:t>
            </a:r>
            <a:r>
              <a:rPr lang="en-US" dirty="0"/>
              <a:t> ‘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rowvar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=False’ (</a:t>
            </a:r>
            <a:r>
              <a:rPr lang="en-US" dirty="0"/>
              <a:t>rows are observations, columns are variables)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Pass covariance matrix to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np.linalg.eig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/>
              <a:t>&amp; sort </a:t>
            </a:r>
            <a:endParaRPr lang="en-US" dirty="0"/>
          </a:p>
          <a:p>
            <a:pPr lvl="1"/>
            <a:r>
              <a:rPr lang="en-US" dirty="0"/>
              <a:t>Returns tuple: eigenvalues, eigenvectors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‘explained variance ratio’ by dividing each eigenvalue by total sum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 data to PC space (i.e., get scores) by computing the dot product of the matrix of z-scored data with the eigenvectors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Plot PC1 vs PC2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52C366-69DD-78D2-6425-3D9971F6B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  <a:p>
            <a:pPr algn="l"/>
            <a:r>
              <a:rPr lang="en-US"/>
              <a:t>Principal Components Analysis</a:t>
            </a:r>
          </a:p>
          <a:p>
            <a:pPr algn="l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60262-CC05-759A-7E03-A8690D84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660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168D4764-6299-904E-9BC2-C5621F08687C}" vid="{21A8D2CE-1DF1-A74E-B9D2-43AE56886C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2314</TotalTime>
  <Words>925</Words>
  <Application>Microsoft Macintosh PowerPoint</Application>
  <PresentationFormat>Widescreen</PresentationFormat>
  <Paragraphs>138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Aptos Mono</vt:lpstr>
      <vt:lpstr>Arial</vt:lpstr>
      <vt:lpstr>Cambria Math</vt:lpstr>
      <vt:lpstr>Century Gothic</vt:lpstr>
      <vt:lpstr>Consolas</vt:lpstr>
      <vt:lpstr>Office Theme</vt:lpstr>
      <vt:lpstr>  Computational Music Analysis:         Audio</vt:lpstr>
      <vt:lpstr>What is PCA?</vt:lpstr>
      <vt:lpstr>Conceptual Loss</vt:lpstr>
      <vt:lpstr>When to do PCA?</vt:lpstr>
      <vt:lpstr>Pipeline</vt:lpstr>
      <vt:lpstr>Covariance</vt:lpstr>
      <vt:lpstr>Covariance Matrix</vt:lpstr>
      <vt:lpstr>PCA video explanation</vt:lpstr>
      <vt:lpstr>PCA Summary</vt:lpstr>
      <vt:lpstr>PCA steps</vt:lpstr>
      <vt:lpstr>Terminology</vt:lpstr>
      <vt:lpstr>Playalong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Arthur, Claire</dc:creator>
  <cp:lastModifiedBy>Arthur, Claire</cp:lastModifiedBy>
  <cp:revision>1</cp:revision>
  <dcterms:created xsi:type="dcterms:W3CDTF">2025-09-28T22:26:37Z</dcterms:created>
  <dcterms:modified xsi:type="dcterms:W3CDTF">2025-09-30T13:00:59Z</dcterms:modified>
</cp:coreProperties>
</file>